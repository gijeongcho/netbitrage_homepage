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63" r:id="rId2"/>
    <p:sldId id="261" r:id="rId3"/>
    <p:sldId id="262" r:id="rId4"/>
    <p:sldId id="256" r:id="rId5"/>
    <p:sldId id="257" r:id="rId6"/>
    <p:sldId id="258" r:id="rId7"/>
    <p:sldId id="259" r:id="rId8"/>
    <p:sldId id="260" r:id="rId9"/>
  </p:sldIdLst>
  <p:sldSz cx="17610138" cy="9906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640">
          <p15:clr>
            <a:srgbClr val="A4A3A4"/>
          </p15:clr>
        </p15:guide>
        <p15:guide id="2" pos="5864" userDrawn="1">
          <p15:clr>
            <a:srgbClr val="A4A3A4"/>
          </p15:clr>
        </p15:guide>
        <p15:guide id="3" pos="10536">
          <p15:clr>
            <a:srgbClr val="A4A3A4"/>
          </p15:clr>
        </p15:guide>
        <p15:guide id="4" pos="625" userDrawn="1">
          <p15:clr>
            <a:srgbClr val="A4A3A4"/>
          </p15:clr>
        </p15:guide>
        <p15:guide id="5" pos="512">
          <p15:clr>
            <a:srgbClr val="A4A3A4"/>
          </p15:clr>
        </p15:guide>
        <p15:guide id="6" orient="horz" pos="603">
          <p15:clr>
            <a:srgbClr val="A4A3A4"/>
          </p15:clr>
        </p15:guide>
        <p15:guide id="7" orient="horz" pos="5660">
          <p15:clr>
            <a:srgbClr val="A4A3A4"/>
          </p15:clr>
        </p15:guide>
        <p15:guide id="8" pos="543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94" autoAdjust="0"/>
  </p:normalViewPr>
  <p:slideViewPr>
    <p:cSldViewPr snapToGrid="0">
      <p:cViewPr varScale="1">
        <p:scale>
          <a:sx n="74" d="100"/>
          <a:sy n="74" d="100"/>
        </p:scale>
        <p:origin x="696" y="84"/>
      </p:cViewPr>
      <p:guideLst>
        <p:guide orient="horz" pos="4640"/>
        <p:guide pos="5864"/>
        <p:guide pos="10536"/>
        <p:guide pos="625"/>
        <p:guide pos="512"/>
        <p:guide orient="horz" pos="603"/>
        <p:guide orient="horz" pos="5660"/>
        <p:guide pos="54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687388" y="1143000"/>
            <a:ext cx="54832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ko-KR" sz="1200" b="0" i="0" u="none" strike="noStrike" cap="none">
                <a:solidFill>
                  <a:schemeClr val="dk1"/>
                </a:solidFill>
                <a:latin typeface="Malgun Gothic"/>
                <a:ea typeface="Malgun Gothic"/>
                <a:cs typeface="Malgun Gothic"/>
                <a:sym typeface="Malgun Gothic"/>
              </a:rPr>
              <a:t>‹#›</a:t>
            </a:fld>
            <a:endParaRPr sz="12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588725C2-0B21-185D-3732-9565BA0023F5}"/>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42AC0483-8FE5-DCB7-DE3C-A851755A8AD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a:extLst>
              <a:ext uri="{FF2B5EF4-FFF2-40B4-BE49-F238E27FC236}">
                <a16:creationId xmlns:a16="http://schemas.microsoft.com/office/drawing/2014/main" id="{42AF1D52-5191-5A4D-ED87-A535FC8B0C61}"/>
              </a:ext>
            </a:extLst>
          </p:cNvPr>
          <p:cNvSpPr>
            <a:spLocks noGrp="1" noRot="1" noChangeAspect="1"/>
          </p:cNvSpPr>
          <p:nvPr>
            <p:ph type="sldImg" idx="2"/>
          </p:nvPr>
        </p:nvSpPr>
        <p:spPr>
          <a:xfrm>
            <a:off x="687388" y="1143000"/>
            <a:ext cx="54832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6863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ko-KR" altLang="ko-KR" b="0" dirty="0"/>
              <a:t>HITL 드롭은 </a:t>
            </a:r>
            <a:r>
              <a:rPr lang="ko-KR" altLang="ko-KR" dirty="0" err="1"/>
              <a:t>Human</a:t>
            </a:r>
            <a:r>
              <a:rPr lang="ko-KR" altLang="ko-KR" dirty="0"/>
              <a:t>-</a:t>
            </a:r>
            <a:r>
              <a:rPr lang="ko-KR" altLang="ko-KR" dirty="0" err="1"/>
              <a:t>In</a:t>
            </a:r>
            <a:r>
              <a:rPr lang="ko-KR" altLang="ko-KR" dirty="0"/>
              <a:t>-The-</a:t>
            </a:r>
            <a:r>
              <a:rPr lang="ko-KR" altLang="ko-KR" dirty="0" err="1"/>
              <a:t>Loop</a:t>
            </a:r>
            <a:r>
              <a:rPr lang="ko-KR" altLang="ko-KR" dirty="0"/>
              <a:t> </a:t>
            </a:r>
            <a:endParaRPr dirty="0"/>
          </a:p>
        </p:txBody>
      </p:sp>
      <p:sp>
        <p:nvSpPr>
          <p:cNvPr id="86" name="Google Shape;86;p1:notes"/>
          <p:cNvSpPr>
            <a:spLocks noGrp="1" noRot="1" noChangeAspect="1"/>
          </p:cNvSpPr>
          <p:nvPr>
            <p:ph type="sldImg" idx="2"/>
          </p:nvPr>
        </p:nvSpPr>
        <p:spPr>
          <a:xfrm>
            <a:off x="687388" y="1143000"/>
            <a:ext cx="54832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4499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7388" y="1143000"/>
            <a:ext cx="54832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7306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7388" y="1143000"/>
            <a:ext cx="54832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7388" y="1143000"/>
            <a:ext cx="54832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687388" y="1143000"/>
            <a:ext cx="54832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4:notes"/>
          <p:cNvSpPr>
            <a:spLocks noGrp="1" noRot="1" noChangeAspect="1"/>
          </p:cNvSpPr>
          <p:nvPr>
            <p:ph type="sldImg" idx="2"/>
          </p:nvPr>
        </p:nvSpPr>
        <p:spPr>
          <a:xfrm>
            <a:off x="687388" y="1143000"/>
            <a:ext cx="54832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p:cNvSpPr>
            <a:spLocks noGrp="1" noRot="1" noChangeAspect="1"/>
          </p:cNvSpPr>
          <p:nvPr>
            <p:ph type="sldImg" idx="2"/>
          </p:nvPr>
        </p:nvSpPr>
        <p:spPr>
          <a:xfrm>
            <a:off x="687388" y="1143000"/>
            <a:ext cx="54832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2201267" y="1621191"/>
            <a:ext cx="13207604" cy="344875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8666"/>
              <a:buFont typeface="Calibri"/>
              <a:buNone/>
              <a:defRPr sz="8666"/>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2201267" y="5202944"/>
            <a:ext cx="13207604" cy="239165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444"/>
              </a:spcBef>
              <a:spcAft>
                <a:spcPts val="0"/>
              </a:spcAft>
              <a:buClr>
                <a:schemeClr val="dk1"/>
              </a:buClr>
              <a:buSzPts val="3467"/>
              <a:buNone/>
              <a:defRPr sz="3466"/>
            </a:lvl1pPr>
            <a:lvl2pPr lvl="1" algn="ctr">
              <a:lnSpc>
                <a:spcPct val="90000"/>
              </a:lnSpc>
              <a:spcBef>
                <a:spcPts val="722"/>
              </a:spcBef>
              <a:spcAft>
                <a:spcPts val="0"/>
              </a:spcAft>
              <a:buClr>
                <a:schemeClr val="dk1"/>
              </a:buClr>
              <a:buSzPts val="2889"/>
              <a:buNone/>
              <a:defRPr sz="2889"/>
            </a:lvl2pPr>
            <a:lvl3pPr lvl="2" algn="ctr">
              <a:lnSpc>
                <a:spcPct val="90000"/>
              </a:lnSpc>
              <a:spcBef>
                <a:spcPts val="722"/>
              </a:spcBef>
              <a:spcAft>
                <a:spcPts val="0"/>
              </a:spcAft>
              <a:buClr>
                <a:schemeClr val="dk1"/>
              </a:buClr>
              <a:buSzPts val="2600"/>
              <a:buNone/>
              <a:defRPr sz="2600"/>
            </a:lvl3pPr>
            <a:lvl4pPr lvl="3" algn="ctr">
              <a:lnSpc>
                <a:spcPct val="90000"/>
              </a:lnSpc>
              <a:spcBef>
                <a:spcPts val="722"/>
              </a:spcBef>
              <a:spcAft>
                <a:spcPts val="0"/>
              </a:spcAft>
              <a:buClr>
                <a:schemeClr val="dk1"/>
              </a:buClr>
              <a:buSzPts val="2311"/>
              <a:buNone/>
              <a:defRPr sz="2311"/>
            </a:lvl4pPr>
            <a:lvl5pPr lvl="4" algn="ctr">
              <a:lnSpc>
                <a:spcPct val="90000"/>
              </a:lnSpc>
              <a:spcBef>
                <a:spcPts val="722"/>
              </a:spcBef>
              <a:spcAft>
                <a:spcPts val="0"/>
              </a:spcAft>
              <a:buClr>
                <a:schemeClr val="dk1"/>
              </a:buClr>
              <a:buSzPts val="2311"/>
              <a:buNone/>
              <a:defRPr sz="2311"/>
            </a:lvl5pPr>
            <a:lvl6pPr lvl="5" algn="ctr">
              <a:lnSpc>
                <a:spcPct val="90000"/>
              </a:lnSpc>
              <a:spcBef>
                <a:spcPts val="722"/>
              </a:spcBef>
              <a:spcAft>
                <a:spcPts val="0"/>
              </a:spcAft>
              <a:buClr>
                <a:schemeClr val="dk1"/>
              </a:buClr>
              <a:buSzPts val="2311"/>
              <a:buNone/>
              <a:defRPr sz="2311"/>
            </a:lvl6pPr>
            <a:lvl7pPr lvl="6" algn="ctr">
              <a:lnSpc>
                <a:spcPct val="90000"/>
              </a:lnSpc>
              <a:spcBef>
                <a:spcPts val="722"/>
              </a:spcBef>
              <a:spcAft>
                <a:spcPts val="0"/>
              </a:spcAft>
              <a:buClr>
                <a:schemeClr val="dk1"/>
              </a:buClr>
              <a:buSzPts val="2311"/>
              <a:buNone/>
              <a:defRPr sz="2311"/>
            </a:lvl7pPr>
            <a:lvl8pPr lvl="7" algn="ctr">
              <a:lnSpc>
                <a:spcPct val="90000"/>
              </a:lnSpc>
              <a:spcBef>
                <a:spcPts val="722"/>
              </a:spcBef>
              <a:spcAft>
                <a:spcPts val="0"/>
              </a:spcAft>
              <a:buClr>
                <a:schemeClr val="dk1"/>
              </a:buClr>
              <a:buSzPts val="2311"/>
              <a:buNone/>
              <a:defRPr sz="2311"/>
            </a:lvl8pPr>
            <a:lvl9pPr lvl="8" algn="ctr">
              <a:lnSpc>
                <a:spcPct val="90000"/>
              </a:lnSpc>
              <a:spcBef>
                <a:spcPts val="722"/>
              </a:spcBef>
              <a:spcAft>
                <a:spcPts val="0"/>
              </a:spcAft>
              <a:buClr>
                <a:schemeClr val="dk1"/>
              </a:buClr>
              <a:buSzPts val="2311"/>
              <a:buNone/>
              <a:defRPr sz="2311"/>
            </a:lvl9pPr>
          </a:lstStyle>
          <a:p>
            <a:endParaRPr/>
          </a:p>
        </p:txBody>
      </p:sp>
      <p:sp>
        <p:nvSpPr>
          <p:cNvPr id="18" name="Google Shape;18;p2"/>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1210697" y="527404"/>
            <a:ext cx="15188744"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1210697" y="2637014"/>
            <a:ext cx="15188744" cy="62852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44"/>
              </a:spcBef>
              <a:spcAft>
                <a:spcPts val="0"/>
              </a:spcAft>
              <a:buClr>
                <a:schemeClr val="dk1"/>
              </a:buClr>
              <a:buSzPts val="1800"/>
              <a:buChar char="•"/>
              <a:defRPr/>
            </a:lvl1pPr>
            <a:lvl2pPr marL="914400" lvl="1" indent="-342900" algn="l">
              <a:lnSpc>
                <a:spcPct val="90000"/>
              </a:lnSpc>
              <a:spcBef>
                <a:spcPts val="722"/>
              </a:spcBef>
              <a:spcAft>
                <a:spcPts val="0"/>
              </a:spcAft>
              <a:buClr>
                <a:schemeClr val="dk1"/>
              </a:buClr>
              <a:buSzPts val="1800"/>
              <a:buChar char="•"/>
              <a:defRPr/>
            </a:lvl2pPr>
            <a:lvl3pPr marL="1371600" lvl="2" indent="-342900" algn="l">
              <a:lnSpc>
                <a:spcPct val="90000"/>
              </a:lnSpc>
              <a:spcBef>
                <a:spcPts val="722"/>
              </a:spcBef>
              <a:spcAft>
                <a:spcPts val="0"/>
              </a:spcAft>
              <a:buClr>
                <a:schemeClr val="dk1"/>
              </a:buClr>
              <a:buSzPts val="1800"/>
              <a:buChar char="•"/>
              <a:defRPr/>
            </a:lvl3pPr>
            <a:lvl4pPr marL="1828800" lvl="3" indent="-342900" algn="l">
              <a:lnSpc>
                <a:spcPct val="90000"/>
              </a:lnSpc>
              <a:spcBef>
                <a:spcPts val="722"/>
              </a:spcBef>
              <a:spcAft>
                <a:spcPts val="0"/>
              </a:spcAft>
              <a:buClr>
                <a:schemeClr val="dk1"/>
              </a:buClr>
              <a:buSzPts val="1800"/>
              <a:buChar char="•"/>
              <a:defRPr/>
            </a:lvl4pPr>
            <a:lvl5pPr marL="2286000" lvl="4" indent="-342900" algn="l">
              <a:lnSpc>
                <a:spcPct val="90000"/>
              </a:lnSpc>
              <a:spcBef>
                <a:spcPts val="722"/>
              </a:spcBef>
              <a:spcAft>
                <a:spcPts val="0"/>
              </a:spcAft>
              <a:buClr>
                <a:schemeClr val="dk1"/>
              </a:buClr>
              <a:buSzPts val="1800"/>
              <a:buChar char="•"/>
              <a:defRPr/>
            </a:lvl5pPr>
            <a:lvl6pPr marL="2743200" lvl="5" indent="-342900" algn="l">
              <a:lnSpc>
                <a:spcPct val="90000"/>
              </a:lnSpc>
              <a:spcBef>
                <a:spcPts val="722"/>
              </a:spcBef>
              <a:spcAft>
                <a:spcPts val="0"/>
              </a:spcAft>
              <a:buClr>
                <a:schemeClr val="dk1"/>
              </a:buClr>
              <a:buSzPts val="1800"/>
              <a:buChar char="•"/>
              <a:defRPr/>
            </a:lvl6pPr>
            <a:lvl7pPr marL="3200400" lvl="6" indent="-342900" algn="l">
              <a:lnSpc>
                <a:spcPct val="90000"/>
              </a:lnSpc>
              <a:spcBef>
                <a:spcPts val="722"/>
              </a:spcBef>
              <a:spcAft>
                <a:spcPts val="0"/>
              </a:spcAft>
              <a:buClr>
                <a:schemeClr val="dk1"/>
              </a:buClr>
              <a:buSzPts val="1800"/>
              <a:buChar char="•"/>
              <a:defRPr/>
            </a:lvl7pPr>
            <a:lvl8pPr marL="3657600" lvl="7" indent="-342900" algn="l">
              <a:lnSpc>
                <a:spcPct val="90000"/>
              </a:lnSpc>
              <a:spcBef>
                <a:spcPts val="722"/>
              </a:spcBef>
              <a:spcAft>
                <a:spcPts val="0"/>
              </a:spcAft>
              <a:buClr>
                <a:schemeClr val="dk1"/>
              </a:buClr>
              <a:buSzPts val="1800"/>
              <a:buChar char="•"/>
              <a:defRPr/>
            </a:lvl8pPr>
            <a:lvl9pPr marL="4114800" lvl="8" indent="-342900" algn="l">
              <a:lnSpc>
                <a:spcPct val="90000"/>
              </a:lnSpc>
              <a:spcBef>
                <a:spcPts val="722"/>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1201525" y="2469622"/>
            <a:ext cx="15188744" cy="412062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8666"/>
              <a:buFont typeface="Calibri"/>
              <a:buNone/>
              <a:defRPr sz="8666"/>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1201525" y="6629225"/>
            <a:ext cx="15188744" cy="216693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44"/>
              </a:spcBef>
              <a:spcAft>
                <a:spcPts val="0"/>
              </a:spcAft>
              <a:buClr>
                <a:srgbClr val="888888"/>
              </a:buClr>
              <a:buSzPts val="3467"/>
              <a:buNone/>
              <a:defRPr sz="3466">
                <a:solidFill>
                  <a:srgbClr val="888888"/>
                </a:solidFill>
              </a:defRPr>
            </a:lvl1pPr>
            <a:lvl2pPr marL="914400" lvl="1" indent="-228600" algn="l">
              <a:lnSpc>
                <a:spcPct val="90000"/>
              </a:lnSpc>
              <a:spcBef>
                <a:spcPts val="722"/>
              </a:spcBef>
              <a:spcAft>
                <a:spcPts val="0"/>
              </a:spcAft>
              <a:buClr>
                <a:srgbClr val="888888"/>
              </a:buClr>
              <a:buSzPts val="2889"/>
              <a:buNone/>
              <a:defRPr sz="2889">
                <a:solidFill>
                  <a:srgbClr val="888888"/>
                </a:solidFill>
              </a:defRPr>
            </a:lvl2pPr>
            <a:lvl3pPr marL="1371600" lvl="2" indent="-228600" algn="l">
              <a:lnSpc>
                <a:spcPct val="90000"/>
              </a:lnSpc>
              <a:spcBef>
                <a:spcPts val="722"/>
              </a:spcBef>
              <a:spcAft>
                <a:spcPts val="0"/>
              </a:spcAft>
              <a:buClr>
                <a:srgbClr val="888888"/>
              </a:buClr>
              <a:buSzPts val="2600"/>
              <a:buNone/>
              <a:defRPr sz="2600">
                <a:solidFill>
                  <a:srgbClr val="888888"/>
                </a:solidFill>
              </a:defRPr>
            </a:lvl3pPr>
            <a:lvl4pPr marL="1828800" lvl="3" indent="-228600" algn="l">
              <a:lnSpc>
                <a:spcPct val="90000"/>
              </a:lnSpc>
              <a:spcBef>
                <a:spcPts val="722"/>
              </a:spcBef>
              <a:spcAft>
                <a:spcPts val="0"/>
              </a:spcAft>
              <a:buClr>
                <a:srgbClr val="888888"/>
              </a:buClr>
              <a:buSzPts val="2311"/>
              <a:buNone/>
              <a:defRPr sz="2311">
                <a:solidFill>
                  <a:srgbClr val="888888"/>
                </a:solidFill>
              </a:defRPr>
            </a:lvl4pPr>
            <a:lvl5pPr marL="2286000" lvl="4" indent="-228600" algn="l">
              <a:lnSpc>
                <a:spcPct val="90000"/>
              </a:lnSpc>
              <a:spcBef>
                <a:spcPts val="722"/>
              </a:spcBef>
              <a:spcAft>
                <a:spcPts val="0"/>
              </a:spcAft>
              <a:buClr>
                <a:srgbClr val="888888"/>
              </a:buClr>
              <a:buSzPts val="2311"/>
              <a:buNone/>
              <a:defRPr sz="2311">
                <a:solidFill>
                  <a:srgbClr val="888888"/>
                </a:solidFill>
              </a:defRPr>
            </a:lvl5pPr>
            <a:lvl6pPr marL="2743200" lvl="5" indent="-228600" algn="l">
              <a:lnSpc>
                <a:spcPct val="90000"/>
              </a:lnSpc>
              <a:spcBef>
                <a:spcPts val="722"/>
              </a:spcBef>
              <a:spcAft>
                <a:spcPts val="0"/>
              </a:spcAft>
              <a:buClr>
                <a:srgbClr val="888888"/>
              </a:buClr>
              <a:buSzPts val="2311"/>
              <a:buNone/>
              <a:defRPr sz="2311">
                <a:solidFill>
                  <a:srgbClr val="888888"/>
                </a:solidFill>
              </a:defRPr>
            </a:lvl6pPr>
            <a:lvl7pPr marL="3200400" lvl="6" indent="-228600" algn="l">
              <a:lnSpc>
                <a:spcPct val="90000"/>
              </a:lnSpc>
              <a:spcBef>
                <a:spcPts val="722"/>
              </a:spcBef>
              <a:spcAft>
                <a:spcPts val="0"/>
              </a:spcAft>
              <a:buClr>
                <a:srgbClr val="888888"/>
              </a:buClr>
              <a:buSzPts val="2311"/>
              <a:buNone/>
              <a:defRPr sz="2311">
                <a:solidFill>
                  <a:srgbClr val="888888"/>
                </a:solidFill>
              </a:defRPr>
            </a:lvl7pPr>
            <a:lvl8pPr marL="3657600" lvl="7" indent="-228600" algn="l">
              <a:lnSpc>
                <a:spcPct val="90000"/>
              </a:lnSpc>
              <a:spcBef>
                <a:spcPts val="722"/>
              </a:spcBef>
              <a:spcAft>
                <a:spcPts val="0"/>
              </a:spcAft>
              <a:buClr>
                <a:srgbClr val="888888"/>
              </a:buClr>
              <a:buSzPts val="2311"/>
              <a:buNone/>
              <a:defRPr sz="2311">
                <a:solidFill>
                  <a:srgbClr val="888888"/>
                </a:solidFill>
              </a:defRPr>
            </a:lvl8pPr>
            <a:lvl9pPr marL="4114800" lvl="8" indent="-228600" algn="l">
              <a:lnSpc>
                <a:spcPct val="90000"/>
              </a:lnSpc>
              <a:spcBef>
                <a:spcPts val="722"/>
              </a:spcBef>
              <a:spcAft>
                <a:spcPts val="0"/>
              </a:spcAft>
              <a:buClr>
                <a:srgbClr val="888888"/>
              </a:buClr>
              <a:buSzPts val="2311"/>
              <a:buNone/>
              <a:defRPr sz="2311">
                <a:solidFill>
                  <a:srgbClr val="888888"/>
                </a:solidFill>
              </a:defRPr>
            </a:lvl9pPr>
          </a:lstStyle>
          <a:p>
            <a:endParaRPr/>
          </a:p>
        </p:txBody>
      </p:sp>
      <p:sp>
        <p:nvSpPr>
          <p:cNvPr id="30" name="Google Shape;30;p4"/>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1210697" y="527404"/>
            <a:ext cx="15188744"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1210697" y="2637014"/>
            <a:ext cx="7484309" cy="62852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44"/>
              </a:spcBef>
              <a:spcAft>
                <a:spcPts val="0"/>
              </a:spcAft>
              <a:buClr>
                <a:schemeClr val="dk1"/>
              </a:buClr>
              <a:buSzPts val="1800"/>
              <a:buChar char="•"/>
              <a:defRPr/>
            </a:lvl1pPr>
            <a:lvl2pPr marL="914400" lvl="1" indent="-342900" algn="l">
              <a:lnSpc>
                <a:spcPct val="90000"/>
              </a:lnSpc>
              <a:spcBef>
                <a:spcPts val="722"/>
              </a:spcBef>
              <a:spcAft>
                <a:spcPts val="0"/>
              </a:spcAft>
              <a:buClr>
                <a:schemeClr val="dk1"/>
              </a:buClr>
              <a:buSzPts val="1800"/>
              <a:buChar char="•"/>
              <a:defRPr/>
            </a:lvl2pPr>
            <a:lvl3pPr marL="1371600" lvl="2" indent="-342900" algn="l">
              <a:lnSpc>
                <a:spcPct val="90000"/>
              </a:lnSpc>
              <a:spcBef>
                <a:spcPts val="722"/>
              </a:spcBef>
              <a:spcAft>
                <a:spcPts val="0"/>
              </a:spcAft>
              <a:buClr>
                <a:schemeClr val="dk1"/>
              </a:buClr>
              <a:buSzPts val="1800"/>
              <a:buChar char="•"/>
              <a:defRPr/>
            </a:lvl3pPr>
            <a:lvl4pPr marL="1828800" lvl="3" indent="-342900" algn="l">
              <a:lnSpc>
                <a:spcPct val="90000"/>
              </a:lnSpc>
              <a:spcBef>
                <a:spcPts val="722"/>
              </a:spcBef>
              <a:spcAft>
                <a:spcPts val="0"/>
              </a:spcAft>
              <a:buClr>
                <a:schemeClr val="dk1"/>
              </a:buClr>
              <a:buSzPts val="1800"/>
              <a:buChar char="•"/>
              <a:defRPr/>
            </a:lvl4pPr>
            <a:lvl5pPr marL="2286000" lvl="4" indent="-342900" algn="l">
              <a:lnSpc>
                <a:spcPct val="90000"/>
              </a:lnSpc>
              <a:spcBef>
                <a:spcPts val="722"/>
              </a:spcBef>
              <a:spcAft>
                <a:spcPts val="0"/>
              </a:spcAft>
              <a:buClr>
                <a:schemeClr val="dk1"/>
              </a:buClr>
              <a:buSzPts val="1800"/>
              <a:buChar char="•"/>
              <a:defRPr/>
            </a:lvl5pPr>
            <a:lvl6pPr marL="2743200" lvl="5" indent="-342900" algn="l">
              <a:lnSpc>
                <a:spcPct val="90000"/>
              </a:lnSpc>
              <a:spcBef>
                <a:spcPts val="722"/>
              </a:spcBef>
              <a:spcAft>
                <a:spcPts val="0"/>
              </a:spcAft>
              <a:buClr>
                <a:schemeClr val="dk1"/>
              </a:buClr>
              <a:buSzPts val="1800"/>
              <a:buChar char="•"/>
              <a:defRPr/>
            </a:lvl6pPr>
            <a:lvl7pPr marL="3200400" lvl="6" indent="-342900" algn="l">
              <a:lnSpc>
                <a:spcPct val="90000"/>
              </a:lnSpc>
              <a:spcBef>
                <a:spcPts val="722"/>
              </a:spcBef>
              <a:spcAft>
                <a:spcPts val="0"/>
              </a:spcAft>
              <a:buClr>
                <a:schemeClr val="dk1"/>
              </a:buClr>
              <a:buSzPts val="1800"/>
              <a:buChar char="•"/>
              <a:defRPr/>
            </a:lvl7pPr>
            <a:lvl8pPr marL="3657600" lvl="7" indent="-342900" algn="l">
              <a:lnSpc>
                <a:spcPct val="90000"/>
              </a:lnSpc>
              <a:spcBef>
                <a:spcPts val="722"/>
              </a:spcBef>
              <a:spcAft>
                <a:spcPts val="0"/>
              </a:spcAft>
              <a:buClr>
                <a:schemeClr val="dk1"/>
              </a:buClr>
              <a:buSzPts val="1800"/>
              <a:buChar char="•"/>
              <a:defRPr/>
            </a:lvl8pPr>
            <a:lvl9pPr marL="4114800" lvl="8" indent="-342900" algn="l">
              <a:lnSpc>
                <a:spcPct val="90000"/>
              </a:lnSpc>
              <a:spcBef>
                <a:spcPts val="722"/>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8915132" y="2637014"/>
            <a:ext cx="7484309" cy="62852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44"/>
              </a:spcBef>
              <a:spcAft>
                <a:spcPts val="0"/>
              </a:spcAft>
              <a:buClr>
                <a:schemeClr val="dk1"/>
              </a:buClr>
              <a:buSzPts val="1800"/>
              <a:buChar char="•"/>
              <a:defRPr/>
            </a:lvl1pPr>
            <a:lvl2pPr marL="914400" lvl="1" indent="-342900" algn="l">
              <a:lnSpc>
                <a:spcPct val="90000"/>
              </a:lnSpc>
              <a:spcBef>
                <a:spcPts val="722"/>
              </a:spcBef>
              <a:spcAft>
                <a:spcPts val="0"/>
              </a:spcAft>
              <a:buClr>
                <a:schemeClr val="dk1"/>
              </a:buClr>
              <a:buSzPts val="1800"/>
              <a:buChar char="•"/>
              <a:defRPr/>
            </a:lvl2pPr>
            <a:lvl3pPr marL="1371600" lvl="2" indent="-342900" algn="l">
              <a:lnSpc>
                <a:spcPct val="90000"/>
              </a:lnSpc>
              <a:spcBef>
                <a:spcPts val="722"/>
              </a:spcBef>
              <a:spcAft>
                <a:spcPts val="0"/>
              </a:spcAft>
              <a:buClr>
                <a:schemeClr val="dk1"/>
              </a:buClr>
              <a:buSzPts val="1800"/>
              <a:buChar char="•"/>
              <a:defRPr/>
            </a:lvl3pPr>
            <a:lvl4pPr marL="1828800" lvl="3" indent="-342900" algn="l">
              <a:lnSpc>
                <a:spcPct val="90000"/>
              </a:lnSpc>
              <a:spcBef>
                <a:spcPts val="722"/>
              </a:spcBef>
              <a:spcAft>
                <a:spcPts val="0"/>
              </a:spcAft>
              <a:buClr>
                <a:schemeClr val="dk1"/>
              </a:buClr>
              <a:buSzPts val="1800"/>
              <a:buChar char="•"/>
              <a:defRPr/>
            </a:lvl4pPr>
            <a:lvl5pPr marL="2286000" lvl="4" indent="-342900" algn="l">
              <a:lnSpc>
                <a:spcPct val="90000"/>
              </a:lnSpc>
              <a:spcBef>
                <a:spcPts val="722"/>
              </a:spcBef>
              <a:spcAft>
                <a:spcPts val="0"/>
              </a:spcAft>
              <a:buClr>
                <a:schemeClr val="dk1"/>
              </a:buClr>
              <a:buSzPts val="1800"/>
              <a:buChar char="•"/>
              <a:defRPr/>
            </a:lvl5pPr>
            <a:lvl6pPr marL="2743200" lvl="5" indent="-342900" algn="l">
              <a:lnSpc>
                <a:spcPct val="90000"/>
              </a:lnSpc>
              <a:spcBef>
                <a:spcPts val="722"/>
              </a:spcBef>
              <a:spcAft>
                <a:spcPts val="0"/>
              </a:spcAft>
              <a:buClr>
                <a:schemeClr val="dk1"/>
              </a:buClr>
              <a:buSzPts val="1800"/>
              <a:buChar char="•"/>
              <a:defRPr/>
            </a:lvl6pPr>
            <a:lvl7pPr marL="3200400" lvl="6" indent="-342900" algn="l">
              <a:lnSpc>
                <a:spcPct val="90000"/>
              </a:lnSpc>
              <a:spcBef>
                <a:spcPts val="722"/>
              </a:spcBef>
              <a:spcAft>
                <a:spcPts val="0"/>
              </a:spcAft>
              <a:buClr>
                <a:schemeClr val="dk1"/>
              </a:buClr>
              <a:buSzPts val="1800"/>
              <a:buChar char="•"/>
              <a:defRPr/>
            </a:lvl7pPr>
            <a:lvl8pPr marL="3657600" lvl="7" indent="-342900" algn="l">
              <a:lnSpc>
                <a:spcPct val="90000"/>
              </a:lnSpc>
              <a:spcBef>
                <a:spcPts val="722"/>
              </a:spcBef>
              <a:spcAft>
                <a:spcPts val="0"/>
              </a:spcAft>
              <a:buClr>
                <a:schemeClr val="dk1"/>
              </a:buClr>
              <a:buSzPts val="1800"/>
              <a:buChar char="•"/>
              <a:defRPr/>
            </a:lvl8pPr>
            <a:lvl9pPr marL="4114800" lvl="8" indent="-342900" algn="l">
              <a:lnSpc>
                <a:spcPct val="90000"/>
              </a:lnSpc>
              <a:spcBef>
                <a:spcPts val="722"/>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1212991" y="527404"/>
            <a:ext cx="15188744"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1212991" y="2428347"/>
            <a:ext cx="7449913" cy="119009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444"/>
              </a:spcBef>
              <a:spcAft>
                <a:spcPts val="0"/>
              </a:spcAft>
              <a:buClr>
                <a:schemeClr val="dk1"/>
              </a:buClr>
              <a:buSzPts val="3467"/>
              <a:buNone/>
              <a:defRPr sz="3466" b="1"/>
            </a:lvl1pPr>
            <a:lvl2pPr marL="914400" lvl="1" indent="-228600" algn="l">
              <a:lnSpc>
                <a:spcPct val="90000"/>
              </a:lnSpc>
              <a:spcBef>
                <a:spcPts val="722"/>
              </a:spcBef>
              <a:spcAft>
                <a:spcPts val="0"/>
              </a:spcAft>
              <a:buClr>
                <a:schemeClr val="dk1"/>
              </a:buClr>
              <a:buSzPts val="2889"/>
              <a:buNone/>
              <a:defRPr sz="2889" b="1"/>
            </a:lvl2pPr>
            <a:lvl3pPr marL="1371600" lvl="2" indent="-228600" algn="l">
              <a:lnSpc>
                <a:spcPct val="90000"/>
              </a:lnSpc>
              <a:spcBef>
                <a:spcPts val="722"/>
              </a:spcBef>
              <a:spcAft>
                <a:spcPts val="0"/>
              </a:spcAft>
              <a:buClr>
                <a:schemeClr val="dk1"/>
              </a:buClr>
              <a:buSzPts val="2600"/>
              <a:buNone/>
              <a:defRPr sz="2600" b="1"/>
            </a:lvl3pPr>
            <a:lvl4pPr marL="1828800" lvl="3" indent="-228600" algn="l">
              <a:lnSpc>
                <a:spcPct val="90000"/>
              </a:lnSpc>
              <a:spcBef>
                <a:spcPts val="722"/>
              </a:spcBef>
              <a:spcAft>
                <a:spcPts val="0"/>
              </a:spcAft>
              <a:buClr>
                <a:schemeClr val="dk1"/>
              </a:buClr>
              <a:buSzPts val="2311"/>
              <a:buNone/>
              <a:defRPr sz="2311" b="1"/>
            </a:lvl4pPr>
            <a:lvl5pPr marL="2286000" lvl="4" indent="-228600" algn="l">
              <a:lnSpc>
                <a:spcPct val="90000"/>
              </a:lnSpc>
              <a:spcBef>
                <a:spcPts val="722"/>
              </a:spcBef>
              <a:spcAft>
                <a:spcPts val="0"/>
              </a:spcAft>
              <a:buClr>
                <a:schemeClr val="dk1"/>
              </a:buClr>
              <a:buSzPts val="2311"/>
              <a:buNone/>
              <a:defRPr sz="2311" b="1"/>
            </a:lvl5pPr>
            <a:lvl6pPr marL="2743200" lvl="5" indent="-228600" algn="l">
              <a:lnSpc>
                <a:spcPct val="90000"/>
              </a:lnSpc>
              <a:spcBef>
                <a:spcPts val="722"/>
              </a:spcBef>
              <a:spcAft>
                <a:spcPts val="0"/>
              </a:spcAft>
              <a:buClr>
                <a:schemeClr val="dk1"/>
              </a:buClr>
              <a:buSzPts val="2311"/>
              <a:buNone/>
              <a:defRPr sz="2311" b="1"/>
            </a:lvl6pPr>
            <a:lvl7pPr marL="3200400" lvl="6" indent="-228600" algn="l">
              <a:lnSpc>
                <a:spcPct val="90000"/>
              </a:lnSpc>
              <a:spcBef>
                <a:spcPts val="722"/>
              </a:spcBef>
              <a:spcAft>
                <a:spcPts val="0"/>
              </a:spcAft>
              <a:buClr>
                <a:schemeClr val="dk1"/>
              </a:buClr>
              <a:buSzPts val="2311"/>
              <a:buNone/>
              <a:defRPr sz="2311" b="1"/>
            </a:lvl7pPr>
            <a:lvl8pPr marL="3657600" lvl="7" indent="-228600" algn="l">
              <a:lnSpc>
                <a:spcPct val="90000"/>
              </a:lnSpc>
              <a:spcBef>
                <a:spcPts val="722"/>
              </a:spcBef>
              <a:spcAft>
                <a:spcPts val="0"/>
              </a:spcAft>
              <a:buClr>
                <a:schemeClr val="dk1"/>
              </a:buClr>
              <a:buSzPts val="2311"/>
              <a:buNone/>
              <a:defRPr sz="2311" b="1"/>
            </a:lvl8pPr>
            <a:lvl9pPr marL="4114800" lvl="8" indent="-228600" algn="l">
              <a:lnSpc>
                <a:spcPct val="90000"/>
              </a:lnSpc>
              <a:spcBef>
                <a:spcPts val="722"/>
              </a:spcBef>
              <a:spcAft>
                <a:spcPts val="0"/>
              </a:spcAft>
              <a:buClr>
                <a:schemeClr val="dk1"/>
              </a:buClr>
              <a:buSzPts val="2311"/>
              <a:buNone/>
              <a:defRPr sz="2311" b="1"/>
            </a:lvl9pPr>
          </a:lstStyle>
          <a:p>
            <a:endParaRPr/>
          </a:p>
        </p:txBody>
      </p:sp>
      <p:sp>
        <p:nvSpPr>
          <p:cNvPr id="43" name="Google Shape;43;p6"/>
          <p:cNvSpPr txBox="1">
            <a:spLocks noGrp="1"/>
          </p:cNvSpPr>
          <p:nvPr>
            <p:ph type="body" idx="2"/>
          </p:nvPr>
        </p:nvSpPr>
        <p:spPr>
          <a:xfrm>
            <a:off x="1212991" y="3618442"/>
            <a:ext cx="7449913" cy="53221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44"/>
              </a:spcBef>
              <a:spcAft>
                <a:spcPts val="0"/>
              </a:spcAft>
              <a:buClr>
                <a:schemeClr val="dk1"/>
              </a:buClr>
              <a:buSzPts val="1800"/>
              <a:buChar char="•"/>
              <a:defRPr/>
            </a:lvl1pPr>
            <a:lvl2pPr marL="914400" lvl="1" indent="-342900" algn="l">
              <a:lnSpc>
                <a:spcPct val="90000"/>
              </a:lnSpc>
              <a:spcBef>
                <a:spcPts val="722"/>
              </a:spcBef>
              <a:spcAft>
                <a:spcPts val="0"/>
              </a:spcAft>
              <a:buClr>
                <a:schemeClr val="dk1"/>
              </a:buClr>
              <a:buSzPts val="1800"/>
              <a:buChar char="•"/>
              <a:defRPr/>
            </a:lvl2pPr>
            <a:lvl3pPr marL="1371600" lvl="2" indent="-342900" algn="l">
              <a:lnSpc>
                <a:spcPct val="90000"/>
              </a:lnSpc>
              <a:spcBef>
                <a:spcPts val="722"/>
              </a:spcBef>
              <a:spcAft>
                <a:spcPts val="0"/>
              </a:spcAft>
              <a:buClr>
                <a:schemeClr val="dk1"/>
              </a:buClr>
              <a:buSzPts val="1800"/>
              <a:buChar char="•"/>
              <a:defRPr/>
            </a:lvl3pPr>
            <a:lvl4pPr marL="1828800" lvl="3" indent="-342900" algn="l">
              <a:lnSpc>
                <a:spcPct val="90000"/>
              </a:lnSpc>
              <a:spcBef>
                <a:spcPts val="722"/>
              </a:spcBef>
              <a:spcAft>
                <a:spcPts val="0"/>
              </a:spcAft>
              <a:buClr>
                <a:schemeClr val="dk1"/>
              </a:buClr>
              <a:buSzPts val="1800"/>
              <a:buChar char="•"/>
              <a:defRPr/>
            </a:lvl4pPr>
            <a:lvl5pPr marL="2286000" lvl="4" indent="-342900" algn="l">
              <a:lnSpc>
                <a:spcPct val="90000"/>
              </a:lnSpc>
              <a:spcBef>
                <a:spcPts val="722"/>
              </a:spcBef>
              <a:spcAft>
                <a:spcPts val="0"/>
              </a:spcAft>
              <a:buClr>
                <a:schemeClr val="dk1"/>
              </a:buClr>
              <a:buSzPts val="1800"/>
              <a:buChar char="•"/>
              <a:defRPr/>
            </a:lvl5pPr>
            <a:lvl6pPr marL="2743200" lvl="5" indent="-342900" algn="l">
              <a:lnSpc>
                <a:spcPct val="90000"/>
              </a:lnSpc>
              <a:spcBef>
                <a:spcPts val="722"/>
              </a:spcBef>
              <a:spcAft>
                <a:spcPts val="0"/>
              </a:spcAft>
              <a:buClr>
                <a:schemeClr val="dk1"/>
              </a:buClr>
              <a:buSzPts val="1800"/>
              <a:buChar char="•"/>
              <a:defRPr/>
            </a:lvl6pPr>
            <a:lvl7pPr marL="3200400" lvl="6" indent="-342900" algn="l">
              <a:lnSpc>
                <a:spcPct val="90000"/>
              </a:lnSpc>
              <a:spcBef>
                <a:spcPts val="722"/>
              </a:spcBef>
              <a:spcAft>
                <a:spcPts val="0"/>
              </a:spcAft>
              <a:buClr>
                <a:schemeClr val="dk1"/>
              </a:buClr>
              <a:buSzPts val="1800"/>
              <a:buChar char="•"/>
              <a:defRPr/>
            </a:lvl7pPr>
            <a:lvl8pPr marL="3657600" lvl="7" indent="-342900" algn="l">
              <a:lnSpc>
                <a:spcPct val="90000"/>
              </a:lnSpc>
              <a:spcBef>
                <a:spcPts val="722"/>
              </a:spcBef>
              <a:spcAft>
                <a:spcPts val="0"/>
              </a:spcAft>
              <a:buClr>
                <a:schemeClr val="dk1"/>
              </a:buClr>
              <a:buSzPts val="1800"/>
              <a:buChar char="•"/>
              <a:defRPr/>
            </a:lvl8pPr>
            <a:lvl9pPr marL="4114800" lvl="8" indent="-342900" algn="l">
              <a:lnSpc>
                <a:spcPct val="90000"/>
              </a:lnSpc>
              <a:spcBef>
                <a:spcPts val="722"/>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8915133" y="2428347"/>
            <a:ext cx="7486602" cy="119009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444"/>
              </a:spcBef>
              <a:spcAft>
                <a:spcPts val="0"/>
              </a:spcAft>
              <a:buClr>
                <a:schemeClr val="dk1"/>
              </a:buClr>
              <a:buSzPts val="3467"/>
              <a:buNone/>
              <a:defRPr sz="3466" b="1"/>
            </a:lvl1pPr>
            <a:lvl2pPr marL="914400" lvl="1" indent="-228600" algn="l">
              <a:lnSpc>
                <a:spcPct val="90000"/>
              </a:lnSpc>
              <a:spcBef>
                <a:spcPts val="722"/>
              </a:spcBef>
              <a:spcAft>
                <a:spcPts val="0"/>
              </a:spcAft>
              <a:buClr>
                <a:schemeClr val="dk1"/>
              </a:buClr>
              <a:buSzPts val="2889"/>
              <a:buNone/>
              <a:defRPr sz="2889" b="1"/>
            </a:lvl2pPr>
            <a:lvl3pPr marL="1371600" lvl="2" indent="-228600" algn="l">
              <a:lnSpc>
                <a:spcPct val="90000"/>
              </a:lnSpc>
              <a:spcBef>
                <a:spcPts val="722"/>
              </a:spcBef>
              <a:spcAft>
                <a:spcPts val="0"/>
              </a:spcAft>
              <a:buClr>
                <a:schemeClr val="dk1"/>
              </a:buClr>
              <a:buSzPts val="2600"/>
              <a:buNone/>
              <a:defRPr sz="2600" b="1"/>
            </a:lvl3pPr>
            <a:lvl4pPr marL="1828800" lvl="3" indent="-228600" algn="l">
              <a:lnSpc>
                <a:spcPct val="90000"/>
              </a:lnSpc>
              <a:spcBef>
                <a:spcPts val="722"/>
              </a:spcBef>
              <a:spcAft>
                <a:spcPts val="0"/>
              </a:spcAft>
              <a:buClr>
                <a:schemeClr val="dk1"/>
              </a:buClr>
              <a:buSzPts val="2311"/>
              <a:buNone/>
              <a:defRPr sz="2311" b="1"/>
            </a:lvl4pPr>
            <a:lvl5pPr marL="2286000" lvl="4" indent="-228600" algn="l">
              <a:lnSpc>
                <a:spcPct val="90000"/>
              </a:lnSpc>
              <a:spcBef>
                <a:spcPts val="722"/>
              </a:spcBef>
              <a:spcAft>
                <a:spcPts val="0"/>
              </a:spcAft>
              <a:buClr>
                <a:schemeClr val="dk1"/>
              </a:buClr>
              <a:buSzPts val="2311"/>
              <a:buNone/>
              <a:defRPr sz="2311" b="1"/>
            </a:lvl5pPr>
            <a:lvl6pPr marL="2743200" lvl="5" indent="-228600" algn="l">
              <a:lnSpc>
                <a:spcPct val="90000"/>
              </a:lnSpc>
              <a:spcBef>
                <a:spcPts val="722"/>
              </a:spcBef>
              <a:spcAft>
                <a:spcPts val="0"/>
              </a:spcAft>
              <a:buClr>
                <a:schemeClr val="dk1"/>
              </a:buClr>
              <a:buSzPts val="2311"/>
              <a:buNone/>
              <a:defRPr sz="2311" b="1"/>
            </a:lvl6pPr>
            <a:lvl7pPr marL="3200400" lvl="6" indent="-228600" algn="l">
              <a:lnSpc>
                <a:spcPct val="90000"/>
              </a:lnSpc>
              <a:spcBef>
                <a:spcPts val="722"/>
              </a:spcBef>
              <a:spcAft>
                <a:spcPts val="0"/>
              </a:spcAft>
              <a:buClr>
                <a:schemeClr val="dk1"/>
              </a:buClr>
              <a:buSzPts val="2311"/>
              <a:buNone/>
              <a:defRPr sz="2311" b="1"/>
            </a:lvl7pPr>
            <a:lvl8pPr marL="3657600" lvl="7" indent="-228600" algn="l">
              <a:lnSpc>
                <a:spcPct val="90000"/>
              </a:lnSpc>
              <a:spcBef>
                <a:spcPts val="722"/>
              </a:spcBef>
              <a:spcAft>
                <a:spcPts val="0"/>
              </a:spcAft>
              <a:buClr>
                <a:schemeClr val="dk1"/>
              </a:buClr>
              <a:buSzPts val="2311"/>
              <a:buNone/>
              <a:defRPr sz="2311" b="1"/>
            </a:lvl8pPr>
            <a:lvl9pPr marL="4114800" lvl="8" indent="-228600" algn="l">
              <a:lnSpc>
                <a:spcPct val="90000"/>
              </a:lnSpc>
              <a:spcBef>
                <a:spcPts val="722"/>
              </a:spcBef>
              <a:spcAft>
                <a:spcPts val="0"/>
              </a:spcAft>
              <a:buClr>
                <a:schemeClr val="dk1"/>
              </a:buClr>
              <a:buSzPts val="2311"/>
              <a:buNone/>
              <a:defRPr sz="2311" b="1"/>
            </a:lvl9pPr>
          </a:lstStyle>
          <a:p>
            <a:endParaRPr/>
          </a:p>
        </p:txBody>
      </p:sp>
      <p:sp>
        <p:nvSpPr>
          <p:cNvPr id="45" name="Google Shape;45;p6"/>
          <p:cNvSpPr txBox="1">
            <a:spLocks noGrp="1"/>
          </p:cNvSpPr>
          <p:nvPr>
            <p:ph type="body" idx="4"/>
          </p:nvPr>
        </p:nvSpPr>
        <p:spPr>
          <a:xfrm>
            <a:off x="8915133" y="3618442"/>
            <a:ext cx="7486602" cy="53221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44"/>
              </a:spcBef>
              <a:spcAft>
                <a:spcPts val="0"/>
              </a:spcAft>
              <a:buClr>
                <a:schemeClr val="dk1"/>
              </a:buClr>
              <a:buSzPts val="1800"/>
              <a:buChar char="•"/>
              <a:defRPr/>
            </a:lvl1pPr>
            <a:lvl2pPr marL="914400" lvl="1" indent="-342900" algn="l">
              <a:lnSpc>
                <a:spcPct val="90000"/>
              </a:lnSpc>
              <a:spcBef>
                <a:spcPts val="722"/>
              </a:spcBef>
              <a:spcAft>
                <a:spcPts val="0"/>
              </a:spcAft>
              <a:buClr>
                <a:schemeClr val="dk1"/>
              </a:buClr>
              <a:buSzPts val="1800"/>
              <a:buChar char="•"/>
              <a:defRPr/>
            </a:lvl2pPr>
            <a:lvl3pPr marL="1371600" lvl="2" indent="-342900" algn="l">
              <a:lnSpc>
                <a:spcPct val="90000"/>
              </a:lnSpc>
              <a:spcBef>
                <a:spcPts val="722"/>
              </a:spcBef>
              <a:spcAft>
                <a:spcPts val="0"/>
              </a:spcAft>
              <a:buClr>
                <a:schemeClr val="dk1"/>
              </a:buClr>
              <a:buSzPts val="1800"/>
              <a:buChar char="•"/>
              <a:defRPr/>
            </a:lvl3pPr>
            <a:lvl4pPr marL="1828800" lvl="3" indent="-342900" algn="l">
              <a:lnSpc>
                <a:spcPct val="90000"/>
              </a:lnSpc>
              <a:spcBef>
                <a:spcPts val="722"/>
              </a:spcBef>
              <a:spcAft>
                <a:spcPts val="0"/>
              </a:spcAft>
              <a:buClr>
                <a:schemeClr val="dk1"/>
              </a:buClr>
              <a:buSzPts val="1800"/>
              <a:buChar char="•"/>
              <a:defRPr/>
            </a:lvl4pPr>
            <a:lvl5pPr marL="2286000" lvl="4" indent="-342900" algn="l">
              <a:lnSpc>
                <a:spcPct val="90000"/>
              </a:lnSpc>
              <a:spcBef>
                <a:spcPts val="722"/>
              </a:spcBef>
              <a:spcAft>
                <a:spcPts val="0"/>
              </a:spcAft>
              <a:buClr>
                <a:schemeClr val="dk1"/>
              </a:buClr>
              <a:buSzPts val="1800"/>
              <a:buChar char="•"/>
              <a:defRPr/>
            </a:lvl5pPr>
            <a:lvl6pPr marL="2743200" lvl="5" indent="-342900" algn="l">
              <a:lnSpc>
                <a:spcPct val="90000"/>
              </a:lnSpc>
              <a:spcBef>
                <a:spcPts val="722"/>
              </a:spcBef>
              <a:spcAft>
                <a:spcPts val="0"/>
              </a:spcAft>
              <a:buClr>
                <a:schemeClr val="dk1"/>
              </a:buClr>
              <a:buSzPts val="1800"/>
              <a:buChar char="•"/>
              <a:defRPr/>
            </a:lvl6pPr>
            <a:lvl7pPr marL="3200400" lvl="6" indent="-342900" algn="l">
              <a:lnSpc>
                <a:spcPct val="90000"/>
              </a:lnSpc>
              <a:spcBef>
                <a:spcPts val="722"/>
              </a:spcBef>
              <a:spcAft>
                <a:spcPts val="0"/>
              </a:spcAft>
              <a:buClr>
                <a:schemeClr val="dk1"/>
              </a:buClr>
              <a:buSzPts val="1800"/>
              <a:buChar char="•"/>
              <a:defRPr/>
            </a:lvl7pPr>
            <a:lvl8pPr marL="3657600" lvl="7" indent="-342900" algn="l">
              <a:lnSpc>
                <a:spcPct val="90000"/>
              </a:lnSpc>
              <a:spcBef>
                <a:spcPts val="722"/>
              </a:spcBef>
              <a:spcAft>
                <a:spcPts val="0"/>
              </a:spcAft>
              <a:buClr>
                <a:schemeClr val="dk1"/>
              </a:buClr>
              <a:buSzPts val="1800"/>
              <a:buChar char="•"/>
              <a:defRPr/>
            </a:lvl8pPr>
            <a:lvl9pPr marL="4114800" lvl="8" indent="-342900" algn="l">
              <a:lnSpc>
                <a:spcPct val="90000"/>
              </a:lnSpc>
              <a:spcBef>
                <a:spcPts val="722"/>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1210697" y="527404"/>
            <a:ext cx="15188744"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1212992" y="660400"/>
            <a:ext cx="5679727" cy="2311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622"/>
              <a:buFont typeface="Calibri"/>
              <a:buNone/>
              <a:defRPr sz="462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7486603" y="1426281"/>
            <a:ext cx="8915132" cy="7039681"/>
          </a:xfrm>
          <a:prstGeom prst="rect">
            <a:avLst/>
          </a:prstGeom>
          <a:noFill/>
          <a:ln>
            <a:noFill/>
          </a:ln>
        </p:spPr>
        <p:txBody>
          <a:bodyPr spcFirstLastPara="1" wrap="square" lIns="91425" tIns="45700" rIns="91425" bIns="45700" anchor="t" anchorCtr="0">
            <a:normAutofit/>
          </a:bodyPr>
          <a:lstStyle>
            <a:lvl1pPr marL="457200" lvl="0" indent="-522097" algn="l">
              <a:lnSpc>
                <a:spcPct val="90000"/>
              </a:lnSpc>
              <a:spcBef>
                <a:spcPts val="1444"/>
              </a:spcBef>
              <a:spcAft>
                <a:spcPts val="0"/>
              </a:spcAft>
              <a:buClr>
                <a:schemeClr val="dk1"/>
              </a:buClr>
              <a:buSzPts val="4622"/>
              <a:buChar char="•"/>
              <a:defRPr sz="4622"/>
            </a:lvl1pPr>
            <a:lvl2pPr marL="914400" lvl="1" indent="-485394" algn="l">
              <a:lnSpc>
                <a:spcPct val="90000"/>
              </a:lnSpc>
              <a:spcBef>
                <a:spcPts val="722"/>
              </a:spcBef>
              <a:spcAft>
                <a:spcPts val="0"/>
              </a:spcAft>
              <a:buClr>
                <a:schemeClr val="dk1"/>
              </a:buClr>
              <a:buSzPts val="4044"/>
              <a:buChar char="•"/>
              <a:defRPr sz="4043"/>
            </a:lvl2pPr>
            <a:lvl3pPr marL="1371600" lvl="2" indent="-448754" algn="l">
              <a:lnSpc>
                <a:spcPct val="90000"/>
              </a:lnSpc>
              <a:spcBef>
                <a:spcPts val="722"/>
              </a:spcBef>
              <a:spcAft>
                <a:spcPts val="0"/>
              </a:spcAft>
              <a:buClr>
                <a:schemeClr val="dk1"/>
              </a:buClr>
              <a:buSzPts val="3467"/>
              <a:buChar char="•"/>
              <a:defRPr sz="3466"/>
            </a:lvl3pPr>
            <a:lvl4pPr marL="1828800" lvl="3" indent="-412051" algn="l">
              <a:lnSpc>
                <a:spcPct val="90000"/>
              </a:lnSpc>
              <a:spcBef>
                <a:spcPts val="722"/>
              </a:spcBef>
              <a:spcAft>
                <a:spcPts val="0"/>
              </a:spcAft>
              <a:buClr>
                <a:schemeClr val="dk1"/>
              </a:buClr>
              <a:buSzPts val="2889"/>
              <a:buChar char="•"/>
              <a:defRPr sz="2889"/>
            </a:lvl4pPr>
            <a:lvl5pPr marL="2286000" lvl="4" indent="-412051" algn="l">
              <a:lnSpc>
                <a:spcPct val="90000"/>
              </a:lnSpc>
              <a:spcBef>
                <a:spcPts val="722"/>
              </a:spcBef>
              <a:spcAft>
                <a:spcPts val="0"/>
              </a:spcAft>
              <a:buClr>
                <a:schemeClr val="dk1"/>
              </a:buClr>
              <a:buSzPts val="2889"/>
              <a:buChar char="•"/>
              <a:defRPr sz="2889"/>
            </a:lvl5pPr>
            <a:lvl6pPr marL="2743200" lvl="5" indent="-412051" algn="l">
              <a:lnSpc>
                <a:spcPct val="90000"/>
              </a:lnSpc>
              <a:spcBef>
                <a:spcPts val="722"/>
              </a:spcBef>
              <a:spcAft>
                <a:spcPts val="0"/>
              </a:spcAft>
              <a:buClr>
                <a:schemeClr val="dk1"/>
              </a:buClr>
              <a:buSzPts val="2889"/>
              <a:buChar char="•"/>
              <a:defRPr sz="2889"/>
            </a:lvl6pPr>
            <a:lvl7pPr marL="3200400" lvl="6" indent="-412051" algn="l">
              <a:lnSpc>
                <a:spcPct val="90000"/>
              </a:lnSpc>
              <a:spcBef>
                <a:spcPts val="722"/>
              </a:spcBef>
              <a:spcAft>
                <a:spcPts val="0"/>
              </a:spcAft>
              <a:buClr>
                <a:schemeClr val="dk1"/>
              </a:buClr>
              <a:buSzPts val="2889"/>
              <a:buChar char="•"/>
              <a:defRPr sz="2889"/>
            </a:lvl7pPr>
            <a:lvl8pPr marL="3657600" lvl="7" indent="-412051" algn="l">
              <a:lnSpc>
                <a:spcPct val="90000"/>
              </a:lnSpc>
              <a:spcBef>
                <a:spcPts val="722"/>
              </a:spcBef>
              <a:spcAft>
                <a:spcPts val="0"/>
              </a:spcAft>
              <a:buClr>
                <a:schemeClr val="dk1"/>
              </a:buClr>
              <a:buSzPts val="2889"/>
              <a:buChar char="•"/>
              <a:defRPr sz="2889"/>
            </a:lvl8pPr>
            <a:lvl9pPr marL="4114800" lvl="8" indent="-412051" algn="l">
              <a:lnSpc>
                <a:spcPct val="90000"/>
              </a:lnSpc>
              <a:spcBef>
                <a:spcPts val="722"/>
              </a:spcBef>
              <a:spcAft>
                <a:spcPts val="0"/>
              </a:spcAft>
              <a:buClr>
                <a:schemeClr val="dk1"/>
              </a:buClr>
              <a:buSzPts val="2889"/>
              <a:buChar char="•"/>
              <a:defRPr sz="2889"/>
            </a:lvl9pPr>
          </a:lstStyle>
          <a:p>
            <a:endParaRPr/>
          </a:p>
        </p:txBody>
      </p:sp>
      <p:sp>
        <p:nvSpPr>
          <p:cNvPr id="61" name="Google Shape;61;p9"/>
          <p:cNvSpPr txBox="1">
            <a:spLocks noGrp="1"/>
          </p:cNvSpPr>
          <p:nvPr>
            <p:ph type="body" idx="2"/>
          </p:nvPr>
        </p:nvSpPr>
        <p:spPr>
          <a:xfrm>
            <a:off x="1212992" y="2971800"/>
            <a:ext cx="5679727" cy="550562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44"/>
              </a:spcBef>
              <a:spcAft>
                <a:spcPts val="0"/>
              </a:spcAft>
              <a:buClr>
                <a:schemeClr val="dk1"/>
              </a:buClr>
              <a:buSzPts val="2311"/>
              <a:buNone/>
              <a:defRPr sz="2311"/>
            </a:lvl1pPr>
            <a:lvl2pPr marL="914400" lvl="1" indent="-228600" algn="l">
              <a:lnSpc>
                <a:spcPct val="90000"/>
              </a:lnSpc>
              <a:spcBef>
                <a:spcPts val="722"/>
              </a:spcBef>
              <a:spcAft>
                <a:spcPts val="0"/>
              </a:spcAft>
              <a:buClr>
                <a:schemeClr val="dk1"/>
              </a:buClr>
              <a:buSzPts val="2022"/>
              <a:buNone/>
              <a:defRPr sz="2021"/>
            </a:lvl2pPr>
            <a:lvl3pPr marL="1371600" lvl="2" indent="-228600" algn="l">
              <a:lnSpc>
                <a:spcPct val="90000"/>
              </a:lnSpc>
              <a:spcBef>
                <a:spcPts val="722"/>
              </a:spcBef>
              <a:spcAft>
                <a:spcPts val="0"/>
              </a:spcAft>
              <a:buClr>
                <a:schemeClr val="dk1"/>
              </a:buClr>
              <a:buSzPts val="1733"/>
              <a:buNone/>
              <a:defRPr sz="1733"/>
            </a:lvl3pPr>
            <a:lvl4pPr marL="1828800" lvl="3" indent="-228600" algn="l">
              <a:lnSpc>
                <a:spcPct val="90000"/>
              </a:lnSpc>
              <a:spcBef>
                <a:spcPts val="722"/>
              </a:spcBef>
              <a:spcAft>
                <a:spcPts val="0"/>
              </a:spcAft>
              <a:buClr>
                <a:schemeClr val="dk1"/>
              </a:buClr>
              <a:buSzPts val="1444"/>
              <a:buNone/>
              <a:defRPr sz="1444"/>
            </a:lvl4pPr>
            <a:lvl5pPr marL="2286000" lvl="4" indent="-228600" algn="l">
              <a:lnSpc>
                <a:spcPct val="90000"/>
              </a:lnSpc>
              <a:spcBef>
                <a:spcPts val="722"/>
              </a:spcBef>
              <a:spcAft>
                <a:spcPts val="0"/>
              </a:spcAft>
              <a:buClr>
                <a:schemeClr val="dk1"/>
              </a:buClr>
              <a:buSzPts val="1444"/>
              <a:buNone/>
              <a:defRPr sz="1444"/>
            </a:lvl5pPr>
            <a:lvl6pPr marL="2743200" lvl="5" indent="-228600" algn="l">
              <a:lnSpc>
                <a:spcPct val="90000"/>
              </a:lnSpc>
              <a:spcBef>
                <a:spcPts val="722"/>
              </a:spcBef>
              <a:spcAft>
                <a:spcPts val="0"/>
              </a:spcAft>
              <a:buClr>
                <a:schemeClr val="dk1"/>
              </a:buClr>
              <a:buSzPts val="1444"/>
              <a:buNone/>
              <a:defRPr sz="1444"/>
            </a:lvl6pPr>
            <a:lvl7pPr marL="3200400" lvl="6" indent="-228600" algn="l">
              <a:lnSpc>
                <a:spcPct val="90000"/>
              </a:lnSpc>
              <a:spcBef>
                <a:spcPts val="722"/>
              </a:spcBef>
              <a:spcAft>
                <a:spcPts val="0"/>
              </a:spcAft>
              <a:buClr>
                <a:schemeClr val="dk1"/>
              </a:buClr>
              <a:buSzPts val="1444"/>
              <a:buNone/>
              <a:defRPr sz="1444"/>
            </a:lvl7pPr>
            <a:lvl8pPr marL="3657600" lvl="7" indent="-228600" algn="l">
              <a:lnSpc>
                <a:spcPct val="90000"/>
              </a:lnSpc>
              <a:spcBef>
                <a:spcPts val="722"/>
              </a:spcBef>
              <a:spcAft>
                <a:spcPts val="0"/>
              </a:spcAft>
              <a:buClr>
                <a:schemeClr val="dk1"/>
              </a:buClr>
              <a:buSzPts val="1444"/>
              <a:buNone/>
              <a:defRPr sz="1444"/>
            </a:lvl8pPr>
            <a:lvl9pPr marL="4114800" lvl="8" indent="-228600" algn="l">
              <a:lnSpc>
                <a:spcPct val="90000"/>
              </a:lnSpc>
              <a:spcBef>
                <a:spcPts val="722"/>
              </a:spcBef>
              <a:spcAft>
                <a:spcPts val="0"/>
              </a:spcAft>
              <a:buClr>
                <a:schemeClr val="dk1"/>
              </a:buClr>
              <a:buSzPts val="1444"/>
              <a:buNone/>
              <a:defRPr sz="1444"/>
            </a:lvl9pPr>
          </a:lstStyle>
          <a:p>
            <a:endParaRPr/>
          </a:p>
        </p:txBody>
      </p:sp>
      <p:sp>
        <p:nvSpPr>
          <p:cNvPr id="62" name="Google Shape;62;p9"/>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212992" y="660400"/>
            <a:ext cx="5679727" cy="2311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622"/>
              <a:buFont typeface="Calibri"/>
              <a:buNone/>
              <a:defRPr sz="462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7486603" y="1426281"/>
            <a:ext cx="8915132" cy="7039681"/>
          </a:xfrm>
          <a:prstGeom prst="rect">
            <a:avLst/>
          </a:prstGeom>
          <a:noFill/>
          <a:ln>
            <a:noFill/>
          </a:ln>
        </p:spPr>
      </p:sp>
      <p:sp>
        <p:nvSpPr>
          <p:cNvPr id="68" name="Google Shape;68;p10"/>
          <p:cNvSpPr txBox="1">
            <a:spLocks noGrp="1"/>
          </p:cNvSpPr>
          <p:nvPr>
            <p:ph type="body" idx="1"/>
          </p:nvPr>
        </p:nvSpPr>
        <p:spPr>
          <a:xfrm>
            <a:off x="1212992" y="2971800"/>
            <a:ext cx="5679727" cy="550562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44"/>
              </a:spcBef>
              <a:spcAft>
                <a:spcPts val="0"/>
              </a:spcAft>
              <a:buClr>
                <a:schemeClr val="dk1"/>
              </a:buClr>
              <a:buSzPts val="2311"/>
              <a:buNone/>
              <a:defRPr sz="2311"/>
            </a:lvl1pPr>
            <a:lvl2pPr marL="914400" lvl="1" indent="-228600" algn="l">
              <a:lnSpc>
                <a:spcPct val="90000"/>
              </a:lnSpc>
              <a:spcBef>
                <a:spcPts val="722"/>
              </a:spcBef>
              <a:spcAft>
                <a:spcPts val="0"/>
              </a:spcAft>
              <a:buClr>
                <a:schemeClr val="dk1"/>
              </a:buClr>
              <a:buSzPts val="2022"/>
              <a:buNone/>
              <a:defRPr sz="2021"/>
            </a:lvl2pPr>
            <a:lvl3pPr marL="1371600" lvl="2" indent="-228600" algn="l">
              <a:lnSpc>
                <a:spcPct val="90000"/>
              </a:lnSpc>
              <a:spcBef>
                <a:spcPts val="722"/>
              </a:spcBef>
              <a:spcAft>
                <a:spcPts val="0"/>
              </a:spcAft>
              <a:buClr>
                <a:schemeClr val="dk1"/>
              </a:buClr>
              <a:buSzPts val="1733"/>
              <a:buNone/>
              <a:defRPr sz="1733"/>
            </a:lvl3pPr>
            <a:lvl4pPr marL="1828800" lvl="3" indent="-228600" algn="l">
              <a:lnSpc>
                <a:spcPct val="90000"/>
              </a:lnSpc>
              <a:spcBef>
                <a:spcPts val="722"/>
              </a:spcBef>
              <a:spcAft>
                <a:spcPts val="0"/>
              </a:spcAft>
              <a:buClr>
                <a:schemeClr val="dk1"/>
              </a:buClr>
              <a:buSzPts val="1444"/>
              <a:buNone/>
              <a:defRPr sz="1444"/>
            </a:lvl4pPr>
            <a:lvl5pPr marL="2286000" lvl="4" indent="-228600" algn="l">
              <a:lnSpc>
                <a:spcPct val="90000"/>
              </a:lnSpc>
              <a:spcBef>
                <a:spcPts val="722"/>
              </a:spcBef>
              <a:spcAft>
                <a:spcPts val="0"/>
              </a:spcAft>
              <a:buClr>
                <a:schemeClr val="dk1"/>
              </a:buClr>
              <a:buSzPts val="1444"/>
              <a:buNone/>
              <a:defRPr sz="1444"/>
            </a:lvl5pPr>
            <a:lvl6pPr marL="2743200" lvl="5" indent="-228600" algn="l">
              <a:lnSpc>
                <a:spcPct val="90000"/>
              </a:lnSpc>
              <a:spcBef>
                <a:spcPts val="722"/>
              </a:spcBef>
              <a:spcAft>
                <a:spcPts val="0"/>
              </a:spcAft>
              <a:buClr>
                <a:schemeClr val="dk1"/>
              </a:buClr>
              <a:buSzPts val="1444"/>
              <a:buNone/>
              <a:defRPr sz="1444"/>
            </a:lvl6pPr>
            <a:lvl7pPr marL="3200400" lvl="6" indent="-228600" algn="l">
              <a:lnSpc>
                <a:spcPct val="90000"/>
              </a:lnSpc>
              <a:spcBef>
                <a:spcPts val="722"/>
              </a:spcBef>
              <a:spcAft>
                <a:spcPts val="0"/>
              </a:spcAft>
              <a:buClr>
                <a:schemeClr val="dk1"/>
              </a:buClr>
              <a:buSzPts val="1444"/>
              <a:buNone/>
              <a:defRPr sz="1444"/>
            </a:lvl7pPr>
            <a:lvl8pPr marL="3657600" lvl="7" indent="-228600" algn="l">
              <a:lnSpc>
                <a:spcPct val="90000"/>
              </a:lnSpc>
              <a:spcBef>
                <a:spcPts val="722"/>
              </a:spcBef>
              <a:spcAft>
                <a:spcPts val="0"/>
              </a:spcAft>
              <a:buClr>
                <a:schemeClr val="dk1"/>
              </a:buClr>
              <a:buSzPts val="1444"/>
              <a:buNone/>
              <a:defRPr sz="1444"/>
            </a:lvl8pPr>
            <a:lvl9pPr marL="4114800" lvl="8" indent="-228600" algn="l">
              <a:lnSpc>
                <a:spcPct val="90000"/>
              </a:lnSpc>
              <a:spcBef>
                <a:spcPts val="722"/>
              </a:spcBef>
              <a:spcAft>
                <a:spcPts val="0"/>
              </a:spcAft>
              <a:buClr>
                <a:schemeClr val="dk1"/>
              </a:buClr>
              <a:buSzPts val="1444"/>
              <a:buNone/>
              <a:defRPr sz="1444"/>
            </a:lvl9pPr>
          </a:lstStyle>
          <a:p>
            <a:endParaRPr/>
          </a:p>
        </p:txBody>
      </p:sp>
      <p:sp>
        <p:nvSpPr>
          <p:cNvPr id="69" name="Google Shape;69;p10"/>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1210697" y="527404"/>
            <a:ext cx="15188744"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5662436" y="-1814725"/>
            <a:ext cx="6285266" cy="151887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44"/>
              </a:spcBef>
              <a:spcAft>
                <a:spcPts val="0"/>
              </a:spcAft>
              <a:buClr>
                <a:schemeClr val="dk1"/>
              </a:buClr>
              <a:buSzPts val="1800"/>
              <a:buChar char="•"/>
              <a:defRPr/>
            </a:lvl1pPr>
            <a:lvl2pPr marL="914400" lvl="1" indent="-342900" algn="l">
              <a:lnSpc>
                <a:spcPct val="90000"/>
              </a:lnSpc>
              <a:spcBef>
                <a:spcPts val="722"/>
              </a:spcBef>
              <a:spcAft>
                <a:spcPts val="0"/>
              </a:spcAft>
              <a:buClr>
                <a:schemeClr val="dk1"/>
              </a:buClr>
              <a:buSzPts val="1800"/>
              <a:buChar char="•"/>
              <a:defRPr/>
            </a:lvl2pPr>
            <a:lvl3pPr marL="1371600" lvl="2" indent="-342900" algn="l">
              <a:lnSpc>
                <a:spcPct val="90000"/>
              </a:lnSpc>
              <a:spcBef>
                <a:spcPts val="722"/>
              </a:spcBef>
              <a:spcAft>
                <a:spcPts val="0"/>
              </a:spcAft>
              <a:buClr>
                <a:schemeClr val="dk1"/>
              </a:buClr>
              <a:buSzPts val="1800"/>
              <a:buChar char="•"/>
              <a:defRPr/>
            </a:lvl3pPr>
            <a:lvl4pPr marL="1828800" lvl="3" indent="-342900" algn="l">
              <a:lnSpc>
                <a:spcPct val="90000"/>
              </a:lnSpc>
              <a:spcBef>
                <a:spcPts val="722"/>
              </a:spcBef>
              <a:spcAft>
                <a:spcPts val="0"/>
              </a:spcAft>
              <a:buClr>
                <a:schemeClr val="dk1"/>
              </a:buClr>
              <a:buSzPts val="1800"/>
              <a:buChar char="•"/>
              <a:defRPr/>
            </a:lvl4pPr>
            <a:lvl5pPr marL="2286000" lvl="4" indent="-342900" algn="l">
              <a:lnSpc>
                <a:spcPct val="90000"/>
              </a:lnSpc>
              <a:spcBef>
                <a:spcPts val="722"/>
              </a:spcBef>
              <a:spcAft>
                <a:spcPts val="0"/>
              </a:spcAft>
              <a:buClr>
                <a:schemeClr val="dk1"/>
              </a:buClr>
              <a:buSzPts val="1800"/>
              <a:buChar char="•"/>
              <a:defRPr/>
            </a:lvl5pPr>
            <a:lvl6pPr marL="2743200" lvl="5" indent="-342900" algn="l">
              <a:lnSpc>
                <a:spcPct val="90000"/>
              </a:lnSpc>
              <a:spcBef>
                <a:spcPts val="722"/>
              </a:spcBef>
              <a:spcAft>
                <a:spcPts val="0"/>
              </a:spcAft>
              <a:buClr>
                <a:schemeClr val="dk1"/>
              </a:buClr>
              <a:buSzPts val="1800"/>
              <a:buChar char="•"/>
              <a:defRPr/>
            </a:lvl6pPr>
            <a:lvl7pPr marL="3200400" lvl="6" indent="-342900" algn="l">
              <a:lnSpc>
                <a:spcPct val="90000"/>
              </a:lnSpc>
              <a:spcBef>
                <a:spcPts val="722"/>
              </a:spcBef>
              <a:spcAft>
                <a:spcPts val="0"/>
              </a:spcAft>
              <a:buClr>
                <a:schemeClr val="dk1"/>
              </a:buClr>
              <a:buSzPts val="1800"/>
              <a:buChar char="•"/>
              <a:defRPr/>
            </a:lvl7pPr>
            <a:lvl8pPr marL="3657600" lvl="7" indent="-342900" algn="l">
              <a:lnSpc>
                <a:spcPct val="90000"/>
              </a:lnSpc>
              <a:spcBef>
                <a:spcPts val="722"/>
              </a:spcBef>
              <a:spcAft>
                <a:spcPts val="0"/>
              </a:spcAft>
              <a:buClr>
                <a:schemeClr val="dk1"/>
              </a:buClr>
              <a:buSzPts val="1800"/>
              <a:buChar char="•"/>
              <a:defRPr/>
            </a:lvl8pPr>
            <a:lvl9pPr marL="4114800" lvl="8" indent="-342900" algn="l">
              <a:lnSpc>
                <a:spcPct val="90000"/>
              </a:lnSpc>
              <a:spcBef>
                <a:spcPts val="722"/>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0303410" y="2826249"/>
            <a:ext cx="8394877" cy="379718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2598974" y="-860874"/>
            <a:ext cx="8394877" cy="111714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44"/>
              </a:spcBef>
              <a:spcAft>
                <a:spcPts val="0"/>
              </a:spcAft>
              <a:buClr>
                <a:schemeClr val="dk1"/>
              </a:buClr>
              <a:buSzPts val="1800"/>
              <a:buChar char="•"/>
              <a:defRPr/>
            </a:lvl1pPr>
            <a:lvl2pPr marL="914400" lvl="1" indent="-342900" algn="l">
              <a:lnSpc>
                <a:spcPct val="90000"/>
              </a:lnSpc>
              <a:spcBef>
                <a:spcPts val="722"/>
              </a:spcBef>
              <a:spcAft>
                <a:spcPts val="0"/>
              </a:spcAft>
              <a:buClr>
                <a:schemeClr val="dk1"/>
              </a:buClr>
              <a:buSzPts val="1800"/>
              <a:buChar char="•"/>
              <a:defRPr/>
            </a:lvl2pPr>
            <a:lvl3pPr marL="1371600" lvl="2" indent="-342900" algn="l">
              <a:lnSpc>
                <a:spcPct val="90000"/>
              </a:lnSpc>
              <a:spcBef>
                <a:spcPts val="722"/>
              </a:spcBef>
              <a:spcAft>
                <a:spcPts val="0"/>
              </a:spcAft>
              <a:buClr>
                <a:schemeClr val="dk1"/>
              </a:buClr>
              <a:buSzPts val="1800"/>
              <a:buChar char="•"/>
              <a:defRPr/>
            </a:lvl3pPr>
            <a:lvl4pPr marL="1828800" lvl="3" indent="-342900" algn="l">
              <a:lnSpc>
                <a:spcPct val="90000"/>
              </a:lnSpc>
              <a:spcBef>
                <a:spcPts val="722"/>
              </a:spcBef>
              <a:spcAft>
                <a:spcPts val="0"/>
              </a:spcAft>
              <a:buClr>
                <a:schemeClr val="dk1"/>
              </a:buClr>
              <a:buSzPts val="1800"/>
              <a:buChar char="•"/>
              <a:defRPr/>
            </a:lvl4pPr>
            <a:lvl5pPr marL="2286000" lvl="4" indent="-342900" algn="l">
              <a:lnSpc>
                <a:spcPct val="90000"/>
              </a:lnSpc>
              <a:spcBef>
                <a:spcPts val="722"/>
              </a:spcBef>
              <a:spcAft>
                <a:spcPts val="0"/>
              </a:spcAft>
              <a:buClr>
                <a:schemeClr val="dk1"/>
              </a:buClr>
              <a:buSzPts val="1800"/>
              <a:buChar char="•"/>
              <a:defRPr/>
            </a:lvl5pPr>
            <a:lvl6pPr marL="2743200" lvl="5" indent="-342900" algn="l">
              <a:lnSpc>
                <a:spcPct val="90000"/>
              </a:lnSpc>
              <a:spcBef>
                <a:spcPts val="722"/>
              </a:spcBef>
              <a:spcAft>
                <a:spcPts val="0"/>
              </a:spcAft>
              <a:buClr>
                <a:schemeClr val="dk1"/>
              </a:buClr>
              <a:buSzPts val="1800"/>
              <a:buChar char="•"/>
              <a:defRPr/>
            </a:lvl6pPr>
            <a:lvl7pPr marL="3200400" lvl="6" indent="-342900" algn="l">
              <a:lnSpc>
                <a:spcPct val="90000"/>
              </a:lnSpc>
              <a:spcBef>
                <a:spcPts val="722"/>
              </a:spcBef>
              <a:spcAft>
                <a:spcPts val="0"/>
              </a:spcAft>
              <a:buClr>
                <a:schemeClr val="dk1"/>
              </a:buClr>
              <a:buSzPts val="1800"/>
              <a:buChar char="•"/>
              <a:defRPr/>
            </a:lvl7pPr>
            <a:lvl8pPr marL="3657600" lvl="7" indent="-342900" algn="l">
              <a:lnSpc>
                <a:spcPct val="90000"/>
              </a:lnSpc>
              <a:spcBef>
                <a:spcPts val="722"/>
              </a:spcBef>
              <a:spcAft>
                <a:spcPts val="0"/>
              </a:spcAft>
              <a:buClr>
                <a:schemeClr val="dk1"/>
              </a:buClr>
              <a:buSzPts val="1800"/>
              <a:buChar char="•"/>
              <a:defRPr/>
            </a:lvl8pPr>
            <a:lvl9pPr marL="4114800" lvl="8" indent="-342900" algn="l">
              <a:lnSpc>
                <a:spcPct val="90000"/>
              </a:lnSpc>
              <a:spcBef>
                <a:spcPts val="722"/>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210697" y="527404"/>
            <a:ext cx="15188744" cy="1914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6355"/>
              <a:buFont typeface="Calibri"/>
              <a:buNone/>
              <a:defRPr sz="6355"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210697" y="2637014"/>
            <a:ext cx="15188744" cy="6285266"/>
          </a:xfrm>
          <a:prstGeom prst="rect">
            <a:avLst/>
          </a:prstGeom>
          <a:noFill/>
          <a:ln>
            <a:noFill/>
          </a:ln>
        </p:spPr>
        <p:txBody>
          <a:bodyPr spcFirstLastPara="1" wrap="square" lIns="91425" tIns="45700" rIns="91425" bIns="45700" anchor="t" anchorCtr="0">
            <a:normAutofit/>
          </a:bodyPr>
          <a:lstStyle>
            <a:lvl1pPr marL="457200" marR="0" lvl="0" indent="-485394" algn="l" rtl="0">
              <a:lnSpc>
                <a:spcPct val="90000"/>
              </a:lnSpc>
              <a:spcBef>
                <a:spcPts val="1444"/>
              </a:spcBef>
              <a:spcAft>
                <a:spcPts val="0"/>
              </a:spcAft>
              <a:buClr>
                <a:schemeClr val="dk1"/>
              </a:buClr>
              <a:buSzPts val="4044"/>
              <a:buFont typeface="Arial"/>
              <a:buChar char="•"/>
              <a:defRPr sz="4043" b="0" i="0" u="none" strike="noStrike" cap="none">
                <a:solidFill>
                  <a:schemeClr val="dk1"/>
                </a:solidFill>
                <a:latin typeface="Calibri"/>
                <a:ea typeface="Calibri"/>
                <a:cs typeface="Calibri"/>
                <a:sym typeface="Calibri"/>
              </a:defRPr>
            </a:lvl1pPr>
            <a:lvl2pPr marL="914400" marR="0" lvl="1" indent="-448754" algn="l" rtl="0">
              <a:lnSpc>
                <a:spcPct val="90000"/>
              </a:lnSpc>
              <a:spcBef>
                <a:spcPts val="722"/>
              </a:spcBef>
              <a:spcAft>
                <a:spcPts val="0"/>
              </a:spcAft>
              <a:buClr>
                <a:schemeClr val="dk1"/>
              </a:buClr>
              <a:buSzPts val="3467"/>
              <a:buFont typeface="Arial"/>
              <a:buChar char="•"/>
              <a:defRPr sz="3466" b="0" i="0" u="none" strike="noStrike" cap="none">
                <a:solidFill>
                  <a:schemeClr val="dk1"/>
                </a:solidFill>
                <a:latin typeface="Calibri"/>
                <a:ea typeface="Calibri"/>
                <a:cs typeface="Calibri"/>
                <a:sym typeface="Calibri"/>
              </a:defRPr>
            </a:lvl2pPr>
            <a:lvl3pPr marL="1371600" marR="0" lvl="2" indent="-412051" algn="l" rtl="0">
              <a:lnSpc>
                <a:spcPct val="90000"/>
              </a:lnSpc>
              <a:spcBef>
                <a:spcPts val="722"/>
              </a:spcBef>
              <a:spcAft>
                <a:spcPts val="0"/>
              </a:spcAft>
              <a:buClr>
                <a:schemeClr val="dk1"/>
              </a:buClr>
              <a:buSzPts val="2889"/>
              <a:buFont typeface="Arial"/>
              <a:buChar char="•"/>
              <a:defRPr sz="2889" b="0" i="0" u="none" strike="noStrike" cap="none">
                <a:solidFill>
                  <a:schemeClr val="dk1"/>
                </a:solidFill>
                <a:latin typeface="Calibri"/>
                <a:ea typeface="Calibri"/>
                <a:cs typeface="Calibri"/>
                <a:sym typeface="Calibri"/>
              </a:defRPr>
            </a:lvl3pPr>
            <a:lvl4pPr marL="1828800" marR="0" lvl="3" indent="-393700" algn="l" rtl="0">
              <a:lnSpc>
                <a:spcPct val="90000"/>
              </a:lnSpc>
              <a:spcBef>
                <a:spcPts val="722"/>
              </a:spcBef>
              <a:spcAft>
                <a:spcPts val="0"/>
              </a:spcAft>
              <a:buClr>
                <a:schemeClr val="dk1"/>
              </a:buClr>
              <a:buSzPts val="2600"/>
              <a:buFont typeface="Arial"/>
              <a:buChar char="•"/>
              <a:defRPr sz="2600" b="0" i="0" u="none" strike="noStrike" cap="none">
                <a:solidFill>
                  <a:schemeClr val="dk1"/>
                </a:solidFill>
                <a:latin typeface="Calibri"/>
                <a:ea typeface="Calibri"/>
                <a:cs typeface="Calibri"/>
                <a:sym typeface="Calibri"/>
              </a:defRPr>
            </a:lvl4pPr>
            <a:lvl5pPr marL="2286000" marR="0" lvl="4" indent="-393700" algn="l" rtl="0">
              <a:lnSpc>
                <a:spcPct val="90000"/>
              </a:lnSpc>
              <a:spcBef>
                <a:spcPts val="722"/>
              </a:spcBef>
              <a:spcAft>
                <a:spcPts val="0"/>
              </a:spcAft>
              <a:buClr>
                <a:schemeClr val="dk1"/>
              </a:buClr>
              <a:buSzPts val="2600"/>
              <a:buFont typeface="Arial"/>
              <a:buChar char="•"/>
              <a:defRPr sz="2600" b="0" i="0" u="none" strike="noStrike" cap="none">
                <a:solidFill>
                  <a:schemeClr val="dk1"/>
                </a:solidFill>
                <a:latin typeface="Calibri"/>
                <a:ea typeface="Calibri"/>
                <a:cs typeface="Calibri"/>
                <a:sym typeface="Calibri"/>
              </a:defRPr>
            </a:lvl5pPr>
            <a:lvl6pPr marL="2743200" marR="0" lvl="5" indent="-393700" algn="l" rtl="0">
              <a:lnSpc>
                <a:spcPct val="90000"/>
              </a:lnSpc>
              <a:spcBef>
                <a:spcPts val="722"/>
              </a:spcBef>
              <a:spcAft>
                <a:spcPts val="0"/>
              </a:spcAft>
              <a:buClr>
                <a:schemeClr val="dk1"/>
              </a:buClr>
              <a:buSzPts val="2600"/>
              <a:buFont typeface="Arial"/>
              <a:buChar char="•"/>
              <a:defRPr sz="2600" b="0" i="0" u="none" strike="noStrike" cap="none">
                <a:solidFill>
                  <a:schemeClr val="dk1"/>
                </a:solidFill>
                <a:latin typeface="Calibri"/>
                <a:ea typeface="Calibri"/>
                <a:cs typeface="Calibri"/>
                <a:sym typeface="Calibri"/>
              </a:defRPr>
            </a:lvl6pPr>
            <a:lvl7pPr marL="3200400" marR="0" lvl="6" indent="-393700" algn="l" rtl="0">
              <a:lnSpc>
                <a:spcPct val="90000"/>
              </a:lnSpc>
              <a:spcBef>
                <a:spcPts val="722"/>
              </a:spcBef>
              <a:spcAft>
                <a:spcPts val="0"/>
              </a:spcAft>
              <a:buClr>
                <a:schemeClr val="dk1"/>
              </a:buClr>
              <a:buSzPts val="2600"/>
              <a:buFont typeface="Arial"/>
              <a:buChar char="•"/>
              <a:defRPr sz="2600" b="0" i="0" u="none" strike="noStrike" cap="none">
                <a:solidFill>
                  <a:schemeClr val="dk1"/>
                </a:solidFill>
                <a:latin typeface="Calibri"/>
                <a:ea typeface="Calibri"/>
                <a:cs typeface="Calibri"/>
                <a:sym typeface="Calibri"/>
              </a:defRPr>
            </a:lvl7pPr>
            <a:lvl8pPr marL="3657600" marR="0" lvl="7" indent="-393700" algn="l" rtl="0">
              <a:lnSpc>
                <a:spcPct val="90000"/>
              </a:lnSpc>
              <a:spcBef>
                <a:spcPts val="722"/>
              </a:spcBef>
              <a:spcAft>
                <a:spcPts val="0"/>
              </a:spcAft>
              <a:buClr>
                <a:schemeClr val="dk1"/>
              </a:buClr>
              <a:buSzPts val="2600"/>
              <a:buFont typeface="Arial"/>
              <a:buChar char="•"/>
              <a:defRPr sz="2600" b="0" i="0" u="none" strike="noStrike" cap="none">
                <a:solidFill>
                  <a:schemeClr val="dk1"/>
                </a:solidFill>
                <a:latin typeface="Calibri"/>
                <a:ea typeface="Calibri"/>
                <a:cs typeface="Calibri"/>
                <a:sym typeface="Calibri"/>
              </a:defRPr>
            </a:lvl8pPr>
            <a:lvl9pPr marL="4114800" marR="0" lvl="8" indent="-393700" algn="l" rtl="0">
              <a:lnSpc>
                <a:spcPct val="90000"/>
              </a:lnSpc>
              <a:spcBef>
                <a:spcPts val="722"/>
              </a:spcBef>
              <a:spcAft>
                <a:spcPts val="0"/>
              </a:spcAft>
              <a:buClr>
                <a:schemeClr val="dk1"/>
              </a:buClr>
              <a:buSzPts val="2600"/>
              <a:buFont typeface="Arial"/>
              <a:buChar char="•"/>
              <a:defRPr sz="26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1210697" y="9181395"/>
            <a:ext cx="3962281" cy="52740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733"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5833358" y="9181395"/>
            <a:ext cx="5943422" cy="52740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733"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12437160" y="9181395"/>
            <a:ext cx="3962281" cy="52740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733" b="0" i="0" u="none" strike="noStrike" cap="none">
                <a:solidFill>
                  <a:srgbClr val="888888"/>
                </a:solidFill>
                <a:latin typeface="Calibri"/>
                <a:ea typeface="Calibri"/>
                <a:cs typeface="Calibri"/>
                <a:sym typeface="Calibri"/>
              </a:defRPr>
            </a:lvl1pPr>
            <a:lvl2pPr marL="0" marR="0" lvl="1" indent="0" algn="r" rtl="0">
              <a:spcBef>
                <a:spcPts val="0"/>
              </a:spcBef>
              <a:buNone/>
              <a:defRPr sz="1733" b="0" i="0" u="none" strike="noStrike" cap="none">
                <a:solidFill>
                  <a:srgbClr val="888888"/>
                </a:solidFill>
                <a:latin typeface="Calibri"/>
                <a:ea typeface="Calibri"/>
                <a:cs typeface="Calibri"/>
                <a:sym typeface="Calibri"/>
              </a:defRPr>
            </a:lvl2pPr>
            <a:lvl3pPr marL="0" marR="0" lvl="2" indent="0" algn="r" rtl="0">
              <a:spcBef>
                <a:spcPts val="0"/>
              </a:spcBef>
              <a:buNone/>
              <a:defRPr sz="1733" b="0" i="0" u="none" strike="noStrike" cap="none">
                <a:solidFill>
                  <a:srgbClr val="888888"/>
                </a:solidFill>
                <a:latin typeface="Calibri"/>
                <a:ea typeface="Calibri"/>
                <a:cs typeface="Calibri"/>
                <a:sym typeface="Calibri"/>
              </a:defRPr>
            </a:lvl3pPr>
            <a:lvl4pPr marL="0" marR="0" lvl="3" indent="0" algn="r" rtl="0">
              <a:spcBef>
                <a:spcPts val="0"/>
              </a:spcBef>
              <a:buNone/>
              <a:defRPr sz="1733" b="0" i="0" u="none" strike="noStrike" cap="none">
                <a:solidFill>
                  <a:srgbClr val="888888"/>
                </a:solidFill>
                <a:latin typeface="Calibri"/>
                <a:ea typeface="Calibri"/>
                <a:cs typeface="Calibri"/>
                <a:sym typeface="Calibri"/>
              </a:defRPr>
            </a:lvl4pPr>
            <a:lvl5pPr marL="0" marR="0" lvl="4" indent="0" algn="r" rtl="0">
              <a:spcBef>
                <a:spcPts val="0"/>
              </a:spcBef>
              <a:buNone/>
              <a:defRPr sz="1733" b="0" i="0" u="none" strike="noStrike" cap="none">
                <a:solidFill>
                  <a:srgbClr val="888888"/>
                </a:solidFill>
                <a:latin typeface="Calibri"/>
                <a:ea typeface="Calibri"/>
                <a:cs typeface="Calibri"/>
                <a:sym typeface="Calibri"/>
              </a:defRPr>
            </a:lvl5pPr>
            <a:lvl6pPr marL="0" marR="0" lvl="5" indent="0" algn="r" rtl="0">
              <a:spcBef>
                <a:spcPts val="0"/>
              </a:spcBef>
              <a:buNone/>
              <a:defRPr sz="1733" b="0" i="0" u="none" strike="noStrike" cap="none">
                <a:solidFill>
                  <a:srgbClr val="888888"/>
                </a:solidFill>
                <a:latin typeface="Calibri"/>
                <a:ea typeface="Calibri"/>
                <a:cs typeface="Calibri"/>
                <a:sym typeface="Calibri"/>
              </a:defRPr>
            </a:lvl6pPr>
            <a:lvl7pPr marL="0" marR="0" lvl="6" indent="0" algn="r" rtl="0">
              <a:spcBef>
                <a:spcPts val="0"/>
              </a:spcBef>
              <a:buNone/>
              <a:defRPr sz="1733" b="0" i="0" u="none" strike="noStrike" cap="none">
                <a:solidFill>
                  <a:srgbClr val="888888"/>
                </a:solidFill>
                <a:latin typeface="Calibri"/>
                <a:ea typeface="Calibri"/>
                <a:cs typeface="Calibri"/>
                <a:sym typeface="Calibri"/>
              </a:defRPr>
            </a:lvl7pPr>
            <a:lvl8pPr marL="0" marR="0" lvl="7" indent="0" algn="r" rtl="0">
              <a:spcBef>
                <a:spcPts val="0"/>
              </a:spcBef>
              <a:buNone/>
              <a:defRPr sz="1733" b="0" i="0" u="none" strike="noStrike" cap="none">
                <a:solidFill>
                  <a:srgbClr val="888888"/>
                </a:solidFill>
                <a:latin typeface="Calibri"/>
                <a:ea typeface="Calibri"/>
                <a:cs typeface="Calibri"/>
                <a:sym typeface="Calibri"/>
              </a:defRPr>
            </a:lvl8pPr>
            <a:lvl9pPr marL="0" marR="0" lvl="8" indent="0" algn="r" rtl="0">
              <a:spcBef>
                <a:spcPts val="0"/>
              </a:spcBef>
              <a:buNone/>
              <a:defRPr sz="1733"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ko-K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www.edutem.net/news/detail/11" TargetMode="External"/><Relationship Id="rId7"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C08DD6E2-399E-46B7-7A84-8DFD3F13DC66}"/>
            </a:ext>
          </a:extLst>
        </p:cNvPr>
        <p:cNvGrpSpPr/>
        <p:nvPr/>
      </p:nvGrpSpPr>
      <p:grpSpPr>
        <a:xfrm>
          <a:off x="0" y="0"/>
          <a:ext cx="0" cy="0"/>
          <a:chOff x="0" y="0"/>
          <a:chExt cx="0" cy="0"/>
        </a:xfrm>
      </p:grpSpPr>
      <p:sp>
        <p:nvSpPr>
          <p:cNvPr id="89" name="Google Shape;89;p13">
            <a:extLst>
              <a:ext uri="{FF2B5EF4-FFF2-40B4-BE49-F238E27FC236}">
                <a16:creationId xmlns:a16="http://schemas.microsoft.com/office/drawing/2014/main" id="{63BB292A-19C6-C8D8-02F9-AD45E2592269}"/>
              </a:ext>
            </a:extLst>
          </p:cNvPr>
          <p:cNvSpPr txBox="1"/>
          <p:nvPr/>
        </p:nvSpPr>
        <p:spPr>
          <a:xfrm>
            <a:off x="487363" y="261676"/>
            <a:ext cx="16238537" cy="518283"/>
          </a:xfrm>
          <a:prstGeom prst="rect">
            <a:avLst/>
          </a:prstGeom>
          <a:solidFill>
            <a:srgbClr val="0F395B"/>
          </a:solidFill>
          <a:ln w="9525" cap="flat" cmpd="sng">
            <a:solidFill>
              <a:srgbClr val="103B5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400" b="1">
              <a:solidFill>
                <a:schemeClr val="lt1"/>
              </a:solidFill>
              <a:latin typeface="Calibri"/>
              <a:ea typeface="Calibri"/>
              <a:cs typeface="Calibri"/>
              <a:sym typeface="Calibri"/>
            </a:endParaRPr>
          </a:p>
        </p:txBody>
      </p:sp>
      <p:sp>
        <p:nvSpPr>
          <p:cNvPr id="90" name="Google Shape;90;p13">
            <a:extLst>
              <a:ext uri="{FF2B5EF4-FFF2-40B4-BE49-F238E27FC236}">
                <a16:creationId xmlns:a16="http://schemas.microsoft.com/office/drawing/2014/main" id="{60CC737A-B1DC-4707-A844-4D89F8F5C7CC}"/>
              </a:ext>
            </a:extLst>
          </p:cNvPr>
          <p:cNvSpPr/>
          <p:nvPr/>
        </p:nvSpPr>
        <p:spPr>
          <a:xfrm>
            <a:off x="869112" y="1083602"/>
            <a:ext cx="7384190" cy="395925"/>
          </a:xfrm>
          <a:prstGeom prst="roundRect">
            <a:avLst>
              <a:gd name="adj" fmla="val 7143"/>
            </a:avLst>
          </a:prstGeom>
          <a:solidFill>
            <a:srgbClr val="D0CECE">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grpSp>
        <p:nvGrpSpPr>
          <p:cNvPr id="91" name="Google Shape;91;p13">
            <a:extLst>
              <a:ext uri="{FF2B5EF4-FFF2-40B4-BE49-F238E27FC236}">
                <a16:creationId xmlns:a16="http://schemas.microsoft.com/office/drawing/2014/main" id="{E0D1991E-E4F5-7DE8-4F6D-99BDF3248D47}"/>
              </a:ext>
            </a:extLst>
          </p:cNvPr>
          <p:cNvGrpSpPr/>
          <p:nvPr/>
        </p:nvGrpSpPr>
        <p:grpSpPr>
          <a:xfrm>
            <a:off x="0" y="0"/>
            <a:ext cx="17610138" cy="9906004"/>
            <a:chOff x="-10796913" y="237463"/>
            <a:chExt cx="11867221" cy="6572030"/>
          </a:xfrm>
        </p:grpSpPr>
        <p:sp>
          <p:nvSpPr>
            <p:cNvPr id="92" name="Google Shape;92;p13">
              <a:extLst>
                <a:ext uri="{FF2B5EF4-FFF2-40B4-BE49-F238E27FC236}">
                  <a16:creationId xmlns:a16="http://schemas.microsoft.com/office/drawing/2014/main" id="{82962DE2-EF72-DA4C-2B96-8D1A54E60A12}"/>
                </a:ext>
              </a:extLst>
            </p:cNvPr>
            <p:cNvSpPr/>
            <p:nvPr/>
          </p:nvSpPr>
          <p:spPr>
            <a:xfrm rot="10800000" flipH="1">
              <a:off x="-10796913" y="237463"/>
              <a:ext cx="11087179" cy="1300855"/>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3" name="Google Shape;93;p13">
              <a:extLst>
                <a:ext uri="{FF2B5EF4-FFF2-40B4-BE49-F238E27FC236}">
                  <a16:creationId xmlns:a16="http://schemas.microsoft.com/office/drawing/2014/main" id="{907D4998-48B1-AABF-E3D7-680E0495D9A0}"/>
                </a:ext>
              </a:extLst>
            </p:cNvPr>
            <p:cNvSpPr/>
            <p:nvPr/>
          </p:nvSpPr>
          <p:spPr>
            <a:xfrm rot="10800000" flipH="1">
              <a:off x="-10796797" y="237464"/>
              <a:ext cx="5336657" cy="22192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Malgun Gothic"/>
                <a:ea typeface="Malgun Gothic"/>
                <a:cs typeface="Malgun Gothic"/>
                <a:sym typeface="Malgun Gothic"/>
              </a:endParaRPr>
            </a:p>
          </p:txBody>
        </p:sp>
        <p:sp>
          <p:nvSpPr>
            <p:cNvPr id="94" name="Google Shape;94;p13">
              <a:extLst>
                <a:ext uri="{FF2B5EF4-FFF2-40B4-BE49-F238E27FC236}">
                  <a16:creationId xmlns:a16="http://schemas.microsoft.com/office/drawing/2014/main" id="{5D4B30FB-F19E-3FC1-0D65-9E8A1D0E366A}"/>
                </a:ext>
              </a:extLst>
            </p:cNvPr>
            <p:cNvSpPr/>
            <p:nvPr/>
          </p:nvSpPr>
          <p:spPr>
            <a:xfrm flipH="1">
              <a:off x="-10796795" y="5771379"/>
              <a:ext cx="11867103" cy="10381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5" name="Google Shape;95;p13">
              <a:extLst>
                <a:ext uri="{FF2B5EF4-FFF2-40B4-BE49-F238E27FC236}">
                  <a16:creationId xmlns:a16="http://schemas.microsoft.com/office/drawing/2014/main" id="{DDB1F866-3CEA-4ECA-E2BD-A5A680C043A2}"/>
                </a:ext>
              </a:extLst>
            </p:cNvPr>
            <p:cNvSpPr/>
            <p:nvPr/>
          </p:nvSpPr>
          <p:spPr>
            <a:xfrm flipH="1">
              <a:off x="-2539137" y="4856978"/>
              <a:ext cx="3609444" cy="19525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grpSp>
      <p:sp>
        <p:nvSpPr>
          <p:cNvPr id="96" name="Google Shape;96;p13">
            <a:extLst>
              <a:ext uri="{FF2B5EF4-FFF2-40B4-BE49-F238E27FC236}">
                <a16:creationId xmlns:a16="http://schemas.microsoft.com/office/drawing/2014/main" id="{B914706A-0508-CB95-CCF9-099D8279D635}"/>
              </a:ext>
            </a:extLst>
          </p:cNvPr>
          <p:cNvSpPr/>
          <p:nvPr/>
        </p:nvSpPr>
        <p:spPr>
          <a:xfrm>
            <a:off x="982853" y="1151647"/>
            <a:ext cx="6404551" cy="283487"/>
          </a:xfrm>
          <a:prstGeom prst="roundRect">
            <a:avLst>
              <a:gd name="adj" fmla="val 6011"/>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1100" dirty="0">
                <a:solidFill>
                  <a:schemeClr val="lt1"/>
                </a:solidFill>
                <a:latin typeface="Calibri"/>
                <a:ea typeface="Calibri"/>
                <a:cs typeface="Calibri"/>
                <a:sym typeface="Calibri"/>
              </a:rPr>
              <a:t>💡 </a:t>
            </a:r>
            <a:r>
              <a:rPr lang="ko-KR" sz="1100" b="1" dirty="0">
                <a:solidFill>
                  <a:schemeClr val="dk1"/>
                </a:solidFill>
                <a:latin typeface="Calibri"/>
                <a:ea typeface="Calibri"/>
                <a:cs typeface="Calibri"/>
                <a:sym typeface="Calibri"/>
              </a:rPr>
              <a:t>프로젝트 요약 : </a:t>
            </a:r>
            <a:r>
              <a:rPr lang="ko-KR" altLang="en-US" sz="1100" b="1" dirty="0">
                <a:solidFill>
                  <a:schemeClr val="dk1"/>
                </a:solidFill>
                <a:latin typeface="Calibri"/>
                <a:ea typeface="Calibri"/>
                <a:cs typeface="Calibri"/>
                <a:sym typeface="Calibri"/>
              </a:rPr>
              <a:t>군  실시간 객체 인식 및 </a:t>
            </a:r>
            <a:r>
              <a:rPr lang="ko-KR" altLang="en-US" sz="1100" b="1" dirty="0" err="1">
                <a:solidFill>
                  <a:schemeClr val="dk1"/>
                </a:solidFill>
                <a:latin typeface="Calibri"/>
                <a:ea typeface="Calibri"/>
                <a:cs typeface="Calibri"/>
                <a:sym typeface="Calibri"/>
              </a:rPr>
              <a:t>트래킹</a:t>
            </a:r>
            <a:r>
              <a:rPr lang="ko-KR" altLang="en-US" sz="1100" b="1" dirty="0">
                <a:solidFill>
                  <a:schemeClr val="dk1"/>
                </a:solidFill>
                <a:latin typeface="Calibri"/>
                <a:ea typeface="Calibri"/>
                <a:cs typeface="Calibri"/>
                <a:sym typeface="Calibri"/>
              </a:rPr>
              <a:t> </a:t>
            </a:r>
            <a:endParaRPr sz="1100" dirty="0">
              <a:solidFill>
                <a:schemeClr val="dk1"/>
              </a:solidFill>
              <a:latin typeface="Calibri"/>
              <a:ea typeface="Calibri"/>
              <a:cs typeface="Calibri"/>
              <a:sym typeface="Calibri"/>
            </a:endParaRPr>
          </a:p>
        </p:txBody>
      </p:sp>
      <p:sp>
        <p:nvSpPr>
          <p:cNvPr id="97" name="Google Shape;97;p13">
            <a:extLst>
              <a:ext uri="{FF2B5EF4-FFF2-40B4-BE49-F238E27FC236}">
                <a16:creationId xmlns:a16="http://schemas.microsoft.com/office/drawing/2014/main" id="{DB47C2AB-4ADD-9934-10BD-05104FBE6927}"/>
              </a:ext>
            </a:extLst>
          </p:cNvPr>
          <p:cNvSpPr txBox="1"/>
          <p:nvPr/>
        </p:nvSpPr>
        <p:spPr>
          <a:xfrm>
            <a:off x="812800" y="7366000"/>
            <a:ext cx="7815399" cy="218151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dirty="0">
                <a:solidFill>
                  <a:schemeClr val="dk1"/>
                </a:solidFill>
                <a:latin typeface="Calibri"/>
                <a:ea typeface="Calibri"/>
                <a:cs typeface="Calibri"/>
                <a:sym typeface="Calibri"/>
              </a:rPr>
              <a:t>프로젝트 설명</a:t>
            </a:r>
            <a:endParaRPr lang="ko-KR" altLang="en-US" sz="1051" b="1" dirty="0">
              <a:solidFill>
                <a:schemeClr val="dk1"/>
              </a:solidFill>
              <a:latin typeface="Calibri"/>
              <a:ea typeface="Calibri"/>
              <a:cs typeface="Calibri"/>
              <a:sym typeface="Calibri"/>
            </a:endParaRPr>
          </a:p>
          <a:p>
            <a:pPr lvl="0" algn="just">
              <a:lnSpc>
                <a:spcPct val="150000"/>
              </a:lnSpc>
            </a:pPr>
            <a:r>
              <a:rPr lang="ko-KR" altLang="en-US" sz="1000" dirty="0">
                <a:solidFill>
                  <a:schemeClr val="dk1"/>
                </a:solidFill>
                <a:latin typeface="Calibri"/>
                <a:ea typeface="Calibri"/>
                <a:cs typeface="Calibri"/>
                <a:sym typeface="Calibri"/>
              </a:rPr>
              <a:t>본 프로젝트는 저고도</a:t>
            </a:r>
            <a:r>
              <a:rPr lang="en-US" altLang="ko-KR" sz="1000" dirty="0">
                <a:solidFill>
                  <a:schemeClr val="dk1"/>
                </a:solidFill>
                <a:latin typeface="Calibri"/>
                <a:ea typeface="Calibri"/>
                <a:cs typeface="Calibri"/>
                <a:sym typeface="Calibri"/>
              </a:rPr>
              <a:t>·</a:t>
            </a:r>
            <a:r>
              <a:rPr lang="ko-KR" altLang="en-US" sz="1000" dirty="0">
                <a:solidFill>
                  <a:schemeClr val="dk1"/>
                </a:solidFill>
                <a:latin typeface="Calibri"/>
                <a:ea typeface="Calibri"/>
                <a:cs typeface="Calibri"/>
                <a:sym typeface="Calibri"/>
              </a:rPr>
              <a:t>원거리에서 촬영되는 소형 표적</a:t>
            </a:r>
            <a:r>
              <a:rPr lang="en-US" altLang="ko-KR" sz="1000" dirty="0">
                <a:solidFill>
                  <a:schemeClr val="dk1"/>
                </a:solidFill>
                <a:latin typeface="Calibri"/>
                <a:ea typeface="Calibri"/>
                <a:cs typeface="Calibri"/>
                <a:sym typeface="Calibri"/>
              </a:rPr>
              <a:t>(</a:t>
            </a:r>
            <a:r>
              <a:rPr lang="ko-KR" altLang="en-US" sz="1000" dirty="0" err="1">
                <a:solidFill>
                  <a:schemeClr val="dk1"/>
                </a:solidFill>
                <a:latin typeface="Calibri"/>
                <a:ea typeface="Calibri"/>
                <a:cs typeface="Calibri"/>
                <a:sym typeface="Calibri"/>
              </a:rPr>
              <a:t>전차류</a:t>
            </a:r>
            <a:r>
              <a:rPr lang="ko-KR" altLang="en-US" sz="1000" dirty="0">
                <a:solidFill>
                  <a:schemeClr val="dk1"/>
                </a:solidFill>
                <a:latin typeface="Calibri"/>
                <a:ea typeface="Calibri"/>
                <a:cs typeface="Calibri"/>
                <a:sym typeface="Calibri"/>
              </a:rPr>
              <a:t> 등</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영상을 </a:t>
            </a:r>
            <a:r>
              <a:rPr lang="ko-KR" altLang="en-US" sz="1000" dirty="0" err="1">
                <a:solidFill>
                  <a:schemeClr val="dk1"/>
                </a:solidFill>
                <a:latin typeface="Calibri"/>
                <a:ea typeface="Calibri"/>
                <a:cs typeface="Calibri"/>
                <a:sym typeface="Calibri"/>
              </a:rPr>
              <a:t>엣지</a:t>
            </a:r>
            <a:r>
              <a:rPr lang="ko-KR" altLang="en-US" sz="1000" dirty="0">
                <a:solidFill>
                  <a:schemeClr val="dk1"/>
                </a:solidFill>
                <a:latin typeface="Calibri"/>
                <a:ea typeface="Calibri"/>
                <a:cs typeface="Calibri"/>
                <a:sym typeface="Calibri"/>
              </a:rPr>
              <a:t> 환경에서 실시간으로 추적하기 위해 시작되었습니다</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표적이 작고 멀어 외형 </a:t>
            </a:r>
            <a:r>
              <a:rPr lang="ko-KR" altLang="en-US" sz="1000" dirty="0" err="1">
                <a:solidFill>
                  <a:schemeClr val="dk1"/>
                </a:solidFill>
                <a:latin typeface="Calibri"/>
                <a:ea typeface="Calibri"/>
                <a:cs typeface="Calibri"/>
                <a:sym typeface="Calibri"/>
              </a:rPr>
              <a:t>임베딩을</a:t>
            </a:r>
            <a:r>
              <a:rPr lang="ko-KR" altLang="en-US" sz="1000" dirty="0">
                <a:solidFill>
                  <a:schemeClr val="dk1"/>
                </a:solidFill>
                <a:latin typeface="Calibri"/>
                <a:ea typeface="Calibri"/>
                <a:cs typeface="Calibri"/>
                <a:sym typeface="Calibri"/>
              </a:rPr>
              <a:t> 신뢰할 수 없는 조건에서</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기존 대신 최근 </a:t>
            </a:r>
            <a:r>
              <a:rPr lang="en-US" altLang="ko-KR" sz="1000" dirty="0">
                <a:solidFill>
                  <a:schemeClr val="dk1"/>
                </a:solidFill>
                <a:latin typeface="Calibri"/>
                <a:ea typeface="Calibri"/>
                <a:cs typeface="Calibri"/>
                <a:sym typeface="Calibri"/>
              </a:rPr>
              <a:t>N</a:t>
            </a:r>
            <a:r>
              <a:rPr lang="ko-KR" altLang="en-US" sz="1000" dirty="0">
                <a:solidFill>
                  <a:schemeClr val="dk1"/>
                </a:solidFill>
                <a:latin typeface="Calibri"/>
                <a:ea typeface="Calibri"/>
                <a:cs typeface="Calibri"/>
                <a:sym typeface="Calibri"/>
              </a:rPr>
              <a:t>개 위치에 최소자승 직선을 적합한 회귀 속도를 칼만 상태에 </a:t>
            </a:r>
            <a:r>
              <a:rPr lang="ko-KR" altLang="en-US" sz="1000" dirty="0" err="1">
                <a:solidFill>
                  <a:schemeClr val="dk1"/>
                </a:solidFill>
                <a:latin typeface="Calibri"/>
                <a:ea typeface="Calibri"/>
                <a:cs typeface="Calibri"/>
                <a:sym typeface="Calibri"/>
              </a:rPr>
              <a:t>역주입하여</a:t>
            </a:r>
            <a:r>
              <a:rPr lang="en-US" altLang="ko-KR" sz="1000" dirty="0">
                <a:solidFill>
                  <a:schemeClr val="dk1"/>
                </a:solidFill>
                <a:latin typeface="Calibri"/>
                <a:ea typeface="Calibri"/>
                <a:cs typeface="Calibri"/>
                <a:sym typeface="Calibri"/>
              </a:rPr>
              <a:t>, </a:t>
            </a:r>
            <a:r>
              <a:rPr lang="ko-KR" altLang="en-US" sz="1000" dirty="0" err="1">
                <a:solidFill>
                  <a:schemeClr val="dk1"/>
                </a:solidFill>
                <a:latin typeface="Calibri"/>
                <a:ea typeface="Calibri"/>
                <a:cs typeface="Calibri"/>
                <a:sym typeface="Calibri"/>
              </a:rPr>
              <a:t>잔떨림과</a:t>
            </a:r>
            <a:r>
              <a:rPr lang="ko-KR" altLang="en-US" sz="1000" dirty="0">
                <a:solidFill>
                  <a:schemeClr val="dk1"/>
                </a:solidFill>
                <a:latin typeface="Calibri"/>
                <a:ea typeface="Calibri"/>
                <a:cs typeface="Calibri"/>
                <a:sym typeface="Calibri"/>
              </a:rPr>
              <a:t> 차폐 후 재등장 시의 속도 폭주</a:t>
            </a:r>
            <a:r>
              <a:rPr lang="en-US" altLang="ko-KR" sz="1000" dirty="0" err="1">
                <a:solidFill>
                  <a:schemeClr val="dk1"/>
                </a:solidFill>
                <a:latin typeface="Calibri"/>
                <a:ea typeface="Calibri"/>
                <a:cs typeface="Calibri"/>
                <a:sym typeface="Calibri"/>
              </a:rPr>
              <a:t>SORT·DeepSORT·ByteTrack·BoT-SORT</a:t>
            </a:r>
            <a:r>
              <a:rPr lang="ko-KR" altLang="en-US" sz="1000" dirty="0">
                <a:solidFill>
                  <a:schemeClr val="dk1"/>
                </a:solidFill>
                <a:latin typeface="Calibri"/>
                <a:ea typeface="Calibri"/>
                <a:cs typeface="Calibri"/>
                <a:sym typeface="Calibri"/>
              </a:rPr>
              <a:t>가 겪는 </a:t>
            </a:r>
            <a:r>
              <a:rPr lang="en-US" altLang="ko-KR" sz="1000" dirty="0">
                <a:solidFill>
                  <a:schemeClr val="dk1"/>
                </a:solidFill>
                <a:latin typeface="Calibri"/>
                <a:ea typeface="Calibri"/>
                <a:cs typeface="Calibri"/>
                <a:sym typeface="Calibri"/>
              </a:rPr>
              <a:t>ID </a:t>
            </a:r>
            <a:r>
              <a:rPr lang="ko-KR" altLang="en-US" sz="1000" dirty="0">
                <a:solidFill>
                  <a:schemeClr val="dk1"/>
                </a:solidFill>
                <a:latin typeface="Calibri"/>
                <a:ea typeface="Calibri"/>
                <a:cs typeface="Calibri"/>
                <a:sym typeface="Calibri"/>
              </a:rPr>
              <a:t>단절</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라벨 흔들림</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속도 폭주</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재등장 </a:t>
            </a:r>
            <a:r>
              <a:rPr lang="en-US" altLang="ko-KR" sz="1000" dirty="0">
                <a:solidFill>
                  <a:schemeClr val="dk1"/>
                </a:solidFill>
                <a:latin typeface="Calibri"/>
                <a:ea typeface="Calibri"/>
                <a:cs typeface="Calibri"/>
                <a:sym typeface="Calibri"/>
              </a:rPr>
              <a:t>ID </a:t>
            </a:r>
            <a:r>
              <a:rPr lang="ko-KR" altLang="en-US" sz="1000" dirty="0">
                <a:solidFill>
                  <a:schemeClr val="dk1"/>
                </a:solidFill>
                <a:latin typeface="Calibri"/>
                <a:ea typeface="Calibri"/>
                <a:cs typeface="Calibri"/>
                <a:sym typeface="Calibri"/>
              </a:rPr>
              <a:t>부활 실패 문제를 동시에 해결하는 것을 목표로 했습니다</a:t>
            </a:r>
            <a:r>
              <a:rPr lang="en-US" altLang="ko-KR" sz="1000" dirty="0">
                <a:solidFill>
                  <a:schemeClr val="dk1"/>
                </a:solidFill>
                <a:latin typeface="Calibri"/>
                <a:ea typeface="Calibri"/>
                <a:cs typeface="Calibri"/>
                <a:sym typeface="Calibri"/>
              </a:rPr>
              <a:t>.</a:t>
            </a:r>
            <a:r>
              <a:rPr lang="ko-KR" altLang="en-US" sz="1000" dirty="0">
                <a:solidFill>
                  <a:schemeClr val="dk1"/>
                </a:solidFill>
                <a:latin typeface="Calibri"/>
                <a:ea typeface="Calibri"/>
                <a:cs typeface="Calibri"/>
                <a:sym typeface="Calibri"/>
              </a:rPr>
              <a:t>이를 위해 외형 </a:t>
            </a:r>
            <a:r>
              <a:rPr lang="ko-KR" altLang="en-US" sz="1000" dirty="0" err="1">
                <a:solidFill>
                  <a:schemeClr val="dk1"/>
                </a:solidFill>
                <a:latin typeface="Calibri"/>
                <a:ea typeface="Calibri"/>
                <a:cs typeface="Calibri"/>
                <a:sym typeface="Calibri"/>
              </a:rPr>
              <a:t>임베딩과</a:t>
            </a:r>
            <a:r>
              <a:rPr lang="ko-KR" altLang="en-US" sz="1000" dirty="0">
                <a:solidFill>
                  <a:schemeClr val="dk1"/>
                </a:solidFill>
                <a:latin typeface="Calibri"/>
                <a:ea typeface="Calibri"/>
                <a:cs typeface="Calibri"/>
                <a:sym typeface="Calibri"/>
              </a:rPr>
              <a:t> 카메라 모션 보정을 배제한 경량 칼만 필터 추적기를 설계하고</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클래스 라벨을 추적 정체성의 </a:t>
            </a:r>
            <a:r>
              <a:rPr lang="en-US" altLang="ko-KR" sz="1000" dirty="0">
                <a:solidFill>
                  <a:schemeClr val="dk1"/>
                </a:solidFill>
                <a:latin typeface="Calibri"/>
                <a:ea typeface="Calibri"/>
                <a:cs typeface="Calibri"/>
                <a:sym typeface="Calibri"/>
              </a:rPr>
              <a:t>1</a:t>
            </a:r>
            <a:r>
              <a:rPr lang="ko-KR" altLang="en-US" sz="1000" dirty="0">
                <a:solidFill>
                  <a:schemeClr val="dk1"/>
                </a:solidFill>
                <a:latin typeface="Calibri"/>
                <a:ea typeface="Calibri"/>
                <a:cs typeface="Calibri"/>
                <a:sym typeface="Calibri"/>
              </a:rPr>
              <a:t>급 신호로 승격했습니다</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매칭 비용에 라벨 일치</a:t>
            </a:r>
            <a:r>
              <a:rPr lang="en-US" altLang="ko-KR" sz="1000" dirty="0">
                <a:solidFill>
                  <a:schemeClr val="dk1"/>
                </a:solidFill>
                <a:latin typeface="Calibri"/>
                <a:ea typeface="Calibri"/>
                <a:cs typeface="Calibri"/>
                <a:sym typeface="Calibri"/>
              </a:rPr>
              <a:t>/</a:t>
            </a:r>
            <a:r>
              <a:rPr lang="ko-KR" altLang="en-US" sz="1000" dirty="0">
                <a:solidFill>
                  <a:schemeClr val="dk1"/>
                </a:solidFill>
                <a:latin typeface="Calibri"/>
                <a:ea typeface="Calibri"/>
                <a:cs typeface="Calibri"/>
                <a:sym typeface="Calibri"/>
              </a:rPr>
              <a:t>불일치를 반영하고 다수결 후 라벨을 고정하여 </a:t>
            </a:r>
            <a:r>
              <a:rPr lang="ko-KR" altLang="en-US" sz="1000" dirty="0" err="1">
                <a:solidFill>
                  <a:schemeClr val="dk1"/>
                </a:solidFill>
                <a:latin typeface="Calibri"/>
                <a:ea typeface="Calibri"/>
                <a:cs typeface="Calibri"/>
                <a:sym typeface="Calibri"/>
              </a:rPr>
              <a:t>오탐으로</a:t>
            </a:r>
            <a:r>
              <a:rPr lang="ko-KR" altLang="en-US" sz="1000" dirty="0">
                <a:solidFill>
                  <a:schemeClr val="dk1"/>
                </a:solidFill>
                <a:latin typeface="Calibri"/>
                <a:ea typeface="Calibri"/>
                <a:cs typeface="Calibri"/>
                <a:sym typeface="Calibri"/>
              </a:rPr>
              <a:t> 인한 정체성 오염을 막았습니다</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또한 매 프레임의 순간속도 를 원천 차단했습니다</a:t>
            </a:r>
            <a:r>
              <a:rPr lang="en-US" altLang="ko-KR" sz="1000" dirty="0">
                <a:solidFill>
                  <a:schemeClr val="dk1"/>
                </a:solidFill>
                <a:latin typeface="Calibri"/>
                <a:ea typeface="Calibri"/>
                <a:cs typeface="Calibri"/>
                <a:sym typeface="Calibri"/>
              </a:rPr>
              <a:t>.</a:t>
            </a:r>
            <a:r>
              <a:rPr lang="ko-KR" altLang="en-US" sz="1000" dirty="0" err="1">
                <a:solidFill>
                  <a:schemeClr val="dk1"/>
                </a:solidFill>
                <a:latin typeface="Calibri"/>
                <a:ea typeface="Calibri"/>
                <a:cs typeface="Calibri"/>
                <a:sym typeface="Calibri"/>
              </a:rPr>
              <a:t>마할라노비스</a:t>
            </a:r>
            <a:r>
              <a:rPr lang="ko-KR" altLang="en-US" sz="1000" dirty="0">
                <a:solidFill>
                  <a:schemeClr val="dk1"/>
                </a:solidFill>
                <a:latin typeface="Calibri"/>
                <a:ea typeface="Calibri"/>
                <a:cs typeface="Calibri"/>
                <a:sym typeface="Calibri"/>
              </a:rPr>
              <a:t> → </a:t>
            </a:r>
            <a:r>
              <a:rPr lang="en-US" altLang="ko-KR" sz="1000" dirty="0" err="1">
                <a:solidFill>
                  <a:schemeClr val="dk1"/>
                </a:solidFill>
                <a:latin typeface="Calibri"/>
                <a:ea typeface="Calibri"/>
                <a:cs typeface="Calibri"/>
                <a:sym typeface="Calibri"/>
              </a:rPr>
              <a:t>IoU</a:t>
            </a:r>
            <a:r>
              <a:rPr lang="en-US" altLang="ko-KR" sz="1000" dirty="0">
                <a:solidFill>
                  <a:schemeClr val="dk1"/>
                </a:solidFill>
                <a:latin typeface="Calibri"/>
                <a:ea typeface="Calibri"/>
                <a:cs typeface="Calibri"/>
                <a:sym typeface="Calibri"/>
              </a:rPr>
              <a:t> </a:t>
            </a:r>
            <a:r>
              <a:rPr lang="ko-KR" altLang="en-US" sz="1000" dirty="0" err="1">
                <a:solidFill>
                  <a:schemeClr val="dk1"/>
                </a:solidFill>
                <a:latin typeface="Calibri"/>
                <a:ea typeface="Calibri"/>
                <a:cs typeface="Calibri"/>
                <a:sym typeface="Calibri"/>
              </a:rPr>
              <a:t>폴백</a:t>
            </a:r>
            <a:r>
              <a:rPr lang="ko-KR" altLang="en-US" sz="1000" dirty="0">
                <a:solidFill>
                  <a:schemeClr val="dk1"/>
                </a:solidFill>
                <a:latin typeface="Calibri"/>
                <a:ea typeface="Calibri"/>
                <a:cs typeface="Calibri"/>
                <a:sym typeface="Calibri"/>
              </a:rPr>
              <a:t> → 모션 </a:t>
            </a:r>
            <a:r>
              <a:rPr lang="en-US" altLang="ko-KR" sz="1000" dirty="0">
                <a:solidFill>
                  <a:schemeClr val="dk1"/>
                </a:solidFill>
                <a:latin typeface="Calibri"/>
                <a:ea typeface="Calibri"/>
                <a:cs typeface="Calibri"/>
                <a:sym typeface="Calibri"/>
              </a:rPr>
              <a:t>Re-ID</a:t>
            </a:r>
            <a:r>
              <a:rPr lang="ko-KR" altLang="en-US" sz="1000" dirty="0">
                <a:solidFill>
                  <a:schemeClr val="dk1"/>
                </a:solidFill>
                <a:latin typeface="Calibri"/>
                <a:ea typeface="Calibri"/>
                <a:cs typeface="Calibri"/>
                <a:sym typeface="Calibri"/>
              </a:rPr>
              <a:t>의 이질적 </a:t>
            </a:r>
            <a:r>
              <a:rPr lang="en-US" altLang="ko-KR" sz="1000" dirty="0">
                <a:solidFill>
                  <a:schemeClr val="dk1"/>
                </a:solidFill>
                <a:latin typeface="Calibri"/>
                <a:ea typeface="Calibri"/>
                <a:cs typeface="Calibri"/>
                <a:sym typeface="Calibri"/>
              </a:rPr>
              <a:t>3</a:t>
            </a:r>
            <a:r>
              <a:rPr lang="ko-KR" altLang="en-US" sz="1000" dirty="0">
                <a:solidFill>
                  <a:schemeClr val="dk1"/>
                </a:solidFill>
                <a:latin typeface="Calibri"/>
                <a:ea typeface="Calibri"/>
                <a:cs typeface="Calibri"/>
                <a:sym typeface="Calibri"/>
              </a:rPr>
              <a:t>단계 연결로 </a:t>
            </a:r>
            <a:r>
              <a:rPr lang="ko-KR" altLang="en-US" sz="1000" dirty="0" err="1">
                <a:solidFill>
                  <a:schemeClr val="dk1"/>
                </a:solidFill>
                <a:latin typeface="Calibri"/>
                <a:ea typeface="Calibri"/>
                <a:cs typeface="Calibri"/>
                <a:sym typeface="Calibri"/>
              </a:rPr>
              <a:t>미매칭</a:t>
            </a:r>
            <a:r>
              <a:rPr lang="ko-KR" altLang="en-US" sz="1000" dirty="0">
                <a:solidFill>
                  <a:schemeClr val="dk1"/>
                </a:solidFill>
                <a:latin typeface="Calibri"/>
                <a:ea typeface="Calibri"/>
                <a:cs typeface="Calibri"/>
                <a:sym typeface="Calibri"/>
              </a:rPr>
              <a:t> 표적을 단계적으로 회수하고</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밝기 적응 전처리로 저조도</a:t>
            </a:r>
            <a:r>
              <a:rPr lang="en-US" altLang="ko-KR" sz="1000" dirty="0">
                <a:solidFill>
                  <a:schemeClr val="dk1"/>
                </a:solidFill>
                <a:latin typeface="Calibri"/>
                <a:ea typeface="Calibri"/>
                <a:cs typeface="Calibri"/>
                <a:sym typeface="Calibri"/>
              </a:rPr>
              <a:t>·</a:t>
            </a:r>
            <a:r>
              <a:rPr lang="ko-KR" altLang="en-US" sz="1000" dirty="0">
                <a:solidFill>
                  <a:schemeClr val="dk1"/>
                </a:solidFill>
                <a:latin typeface="Calibri"/>
                <a:ea typeface="Calibri"/>
                <a:cs typeface="Calibri"/>
                <a:sym typeface="Calibri"/>
              </a:rPr>
              <a:t>안개 영상까지 대응했습니다</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모든 파라미터는 </a:t>
            </a:r>
            <a:r>
              <a:rPr lang="en-US" altLang="ko-KR" sz="1000" dirty="0" err="1">
                <a:solidFill>
                  <a:schemeClr val="dk1"/>
                </a:solidFill>
                <a:latin typeface="Calibri"/>
                <a:ea typeface="Calibri"/>
                <a:cs typeface="Calibri"/>
                <a:sym typeface="Calibri"/>
              </a:rPr>
              <a:t>FastAPI</a:t>
            </a:r>
            <a:r>
              <a:rPr lang="ko-KR" altLang="en-US" sz="1000" dirty="0">
                <a:solidFill>
                  <a:schemeClr val="dk1"/>
                </a:solidFill>
                <a:latin typeface="Calibri"/>
                <a:ea typeface="Calibri"/>
                <a:cs typeface="Calibri"/>
                <a:sym typeface="Calibri"/>
              </a:rPr>
              <a:t>로 서버 재시작 없이 실시간 </a:t>
            </a:r>
            <a:r>
              <a:rPr lang="ko-KR" altLang="en-US" sz="1000" dirty="0" err="1">
                <a:solidFill>
                  <a:schemeClr val="dk1"/>
                </a:solidFill>
                <a:latin typeface="Calibri"/>
                <a:ea typeface="Calibri"/>
                <a:cs typeface="Calibri"/>
                <a:sym typeface="Calibri"/>
              </a:rPr>
              <a:t>튜닝되어</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카메라 거리</a:t>
            </a:r>
            <a:r>
              <a:rPr lang="en-US" altLang="ko-KR" sz="1000" dirty="0">
                <a:solidFill>
                  <a:schemeClr val="dk1"/>
                </a:solidFill>
                <a:latin typeface="Calibri"/>
                <a:ea typeface="Calibri"/>
                <a:cs typeface="Calibri"/>
                <a:sym typeface="Calibri"/>
              </a:rPr>
              <a:t>·FPS·</a:t>
            </a:r>
            <a:r>
              <a:rPr lang="ko-KR" altLang="en-US" sz="1000" dirty="0">
                <a:solidFill>
                  <a:schemeClr val="dk1"/>
                </a:solidFill>
                <a:latin typeface="Calibri"/>
                <a:ea typeface="Calibri"/>
                <a:cs typeface="Calibri"/>
                <a:sym typeface="Calibri"/>
              </a:rPr>
              <a:t>해상도가 다른 다양한 운용 환경에 곧바로 적용할 수 있습니다</a:t>
            </a:r>
            <a:r>
              <a:rPr lang="en-US" altLang="ko-KR" sz="1000" dirty="0">
                <a:solidFill>
                  <a:schemeClr val="dk1"/>
                </a:solidFill>
                <a:latin typeface="Calibri"/>
                <a:ea typeface="Calibri"/>
                <a:cs typeface="Calibri"/>
                <a:sym typeface="Calibri"/>
              </a:rPr>
              <a:t>.</a:t>
            </a:r>
            <a:endParaRPr lang="ko-KR" altLang="en-US" sz="1000" dirty="0">
              <a:solidFill>
                <a:schemeClr val="dk1"/>
              </a:solidFill>
              <a:latin typeface="Calibri"/>
              <a:ea typeface="Calibri"/>
              <a:cs typeface="Calibri"/>
              <a:sym typeface="Calibri"/>
            </a:endParaRPr>
          </a:p>
        </p:txBody>
      </p:sp>
      <p:sp>
        <p:nvSpPr>
          <p:cNvPr id="98" name="Google Shape;98;p13">
            <a:extLst>
              <a:ext uri="{FF2B5EF4-FFF2-40B4-BE49-F238E27FC236}">
                <a16:creationId xmlns:a16="http://schemas.microsoft.com/office/drawing/2014/main" id="{0715088B-A8D4-F39A-D7AC-C8E4CE872FDA}"/>
              </a:ext>
            </a:extLst>
          </p:cNvPr>
          <p:cNvSpPr txBox="1"/>
          <p:nvPr/>
        </p:nvSpPr>
        <p:spPr>
          <a:xfrm>
            <a:off x="9127310" y="968150"/>
            <a:ext cx="7598590" cy="125818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ko-KR" sz="1051" b="1" dirty="0">
                <a:solidFill>
                  <a:schemeClr val="dk1"/>
                </a:solidFill>
                <a:latin typeface="Calibri"/>
                <a:ea typeface="Calibri"/>
                <a:cs typeface="Calibri"/>
                <a:sym typeface="Calibri"/>
              </a:rPr>
              <a:t>개발 관련 설명</a:t>
            </a:r>
            <a:endParaRPr dirty="0"/>
          </a:p>
          <a:p>
            <a:pPr lvl="0" algn="just">
              <a:lnSpc>
                <a:spcPct val="150000"/>
              </a:lnSpc>
            </a:pPr>
            <a:r>
              <a:rPr lang="ko-KR" altLang="ko-KR" sz="1000" dirty="0" err="1"/>
              <a:t>BoT</a:t>
            </a:r>
            <a:r>
              <a:rPr lang="ko-KR" altLang="ko-KR" sz="1000" dirty="0"/>
              <a:t>-SORT 등 기존 추적기가 쓰는 외형 </a:t>
            </a:r>
            <a:r>
              <a:rPr lang="ko-KR" altLang="ko-KR" sz="1000" dirty="0" err="1"/>
              <a:t>임베딩</a:t>
            </a:r>
            <a:r>
              <a:rPr lang="ko-KR" altLang="ko-KR" sz="1000" dirty="0"/>
              <a:t>(</a:t>
            </a:r>
            <a:r>
              <a:rPr lang="ko-KR" altLang="ko-KR" sz="1000" dirty="0" err="1"/>
              <a:t>ReID</a:t>
            </a:r>
            <a:r>
              <a:rPr lang="ko-KR" altLang="ko-KR" sz="1000" dirty="0"/>
              <a:t>)과 카메라 모션 보정(CMC)을 모두 제거한 경량 칼만 필터 기반 다중 객체 추적기를 직접 설계했습니다. 대신 </a:t>
            </a:r>
            <a:r>
              <a:rPr lang="ko-KR" altLang="ko-KR" sz="1000" dirty="0" err="1"/>
              <a:t>YOLO의</a:t>
            </a:r>
            <a:r>
              <a:rPr lang="ko-KR" altLang="ko-KR" sz="1000" dirty="0"/>
              <a:t> 클래스 라벨을 추적 정체성 신호로 승격하고, 최소자승 회귀로 재정의한 속도를 필터 상태에 되먹여 궤적을 </a:t>
            </a:r>
            <a:r>
              <a:rPr lang="ko-KR" altLang="ko-KR" sz="1000" dirty="0" err="1"/>
              <a:t>안정화하여</a:t>
            </a:r>
            <a:r>
              <a:rPr lang="ko-KR" altLang="ko-KR" sz="1000" dirty="0"/>
              <a:t>, 외형 정보가 빈약한 </a:t>
            </a:r>
            <a:r>
              <a:rPr lang="ko-KR" altLang="ko-KR" sz="1000" dirty="0" err="1"/>
              <a:t>저고도·원거리</a:t>
            </a:r>
            <a:r>
              <a:rPr lang="ko-KR" altLang="ko-KR" sz="1000" dirty="0"/>
              <a:t> 소형 표적(</a:t>
            </a:r>
            <a:r>
              <a:rPr lang="ko-KR" altLang="ko-KR" sz="1000" dirty="0" err="1"/>
              <a:t>전차류</a:t>
            </a:r>
            <a:r>
              <a:rPr lang="ko-KR" altLang="ko-KR" sz="1000" dirty="0"/>
              <a:t> 등)을 </a:t>
            </a:r>
            <a:r>
              <a:rPr lang="ko-KR" altLang="ko-KR" sz="1000" dirty="0" err="1"/>
              <a:t>엣지</a:t>
            </a:r>
            <a:r>
              <a:rPr lang="ko-KR" altLang="ko-KR" sz="1000" dirty="0"/>
              <a:t> 환경에서 실시간 추적하도록 구현하였습니다.</a:t>
            </a:r>
            <a:r>
              <a:rPr lang="en-US" altLang="ko-KR" sz="1000" dirty="0"/>
              <a:t> </a:t>
            </a:r>
            <a:r>
              <a:rPr lang="ko-KR" altLang="en-US" sz="1000" dirty="0"/>
              <a:t>이에 </a:t>
            </a:r>
            <a:r>
              <a:rPr lang="ko-KR" altLang="en-US" sz="1000" dirty="0" err="1"/>
              <a:t>트래킹</a:t>
            </a:r>
            <a:r>
              <a:rPr lang="ko-KR" altLang="en-US" sz="1000" dirty="0"/>
              <a:t> 속도는 빨라졌고 </a:t>
            </a:r>
            <a:r>
              <a:rPr lang="en-US" altLang="ko-KR" sz="1000" dirty="0"/>
              <a:t>ID</a:t>
            </a:r>
            <a:r>
              <a:rPr lang="ko-KR" altLang="en-US" sz="1000" dirty="0"/>
              <a:t>식별은 성능이 </a:t>
            </a:r>
            <a:r>
              <a:rPr lang="en-US" altLang="ko-KR" sz="1000" dirty="0"/>
              <a:t>94% (</a:t>
            </a:r>
            <a:r>
              <a:rPr lang="ko-KR" altLang="en-US" sz="1000" dirty="0"/>
              <a:t>기존 </a:t>
            </a:r>
            <a:r>
              <a:rPr lang="en-US" altLang="ko-KR" sz="1000" dirty="0"/>
              <a:t>631</a:t>
            </a:r>
            <a:r>
              <a:rPr lang="ko-KR" altLang="en-US" sz="1000" dirty="0"/>
              <a:t>개 </a:t>
            </a:r>
            <a:r>
              <a:rPr lang="en-US" altLang="ko-KR" sz="1000" dirty="0"/>
              <a:t>=&gt; 31</a:t>
            </a:r>
            <a:r>
              <a:rPr lang="ko-KR" altLang="en-US" sz="1000" dirty="0"/>
              <a:t>개</a:t>
            </a:r>
            <a:r>
              <a:rPr lang="en-US" altLang="ko-KR" sz="1000" dirty="0"/>
              <a:t>)</a:t>
            </a:r>
            <a:r>
              <a:rPr lang="ko-KR" altLang="en-US" sz="1000" dirty="0"/>
              <a:t>상승하였습니다</a:t>
            </a:r>
            <a:r>
              <a:rPr lang="en-US" altLang="ko-KR" sz="1000" dirty="0"/>
              <a:t>.</a:t>
            </a:r>
            <a:endParaRPr sz="1000" dirty="0">
              <a:solidFill>
                <a:schemeClr val="dk1"/>
              </a:solidFill>
              <a:latin typeface="Calibri"/>
              <a:ea typeface="Calibri"/>
              <a:cs typeface="Calibri"/>
              <a:sym typeface="Calibri"/>
            </a:endParaRPr>
          </a:p>
        </p:txBody>
      </p:sp>
      <p:sp>
        <p:nvSpPr>
          <p:cNvPr id="99" name="Google Shape;99;p13">
            <a:extLst>
              <a:ext uri="{FF2B5EF4-FFF2-40B4-BE49-F238E27FC236}">
                <a16:creationId xmlns:a16="http://schemas.microsoft.com/office/drawing/2014/main" id="{919C53D6-EB78-932B-AF8B-404168DC5B63}"/>
              </a:ext>
            </a:extLst>
          </p:cNvPr>
          <p:cNvSpPr txBox="1"/>
          <p:nvPr/>
        </p:nvSpPr>
        <p:spPr>
          <a:xfrm>
            <a:off x="579844" y="261675"/>
            <a:ext cx="864484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200" b="1" dirty="0" err="1">
                <a:solidFill>
                  <a:schemeClr val="lt1"/>
                </a:solidFill>
                <a:latin typeface="Calibri"/>
                <a:ea typeface="Calibri"/>
                <a:cs typeface="Calibri"/>
                <a:sym typeface="Calibri"/>
              </a:rPr>
              <a:t>프로젝트명</a:t>
            </a:r>
            <a:endParaRPr sz="1200" b="1" dirty="0">
              <a:solidFill>
                <a:schemeClr val="lt1"/>
              </a:solidFill>
              <a:latin typeface="Calibri"/>
              <a:ea typeface="Calibri"/>
              <a:cs typeface="Calibri"/>
              <a:sym typeface="Calibri"/>
            </a:endParaRPr>
          </a:p>
          <a:p>
            <a:pPr marL="285744" lvl="0" indent="-285744">
              <a:lnSpc>
                <a:spcPct val="150000"/>
              </a:lnSpc>
              <a:buClr>
                <a:schemeClr val="lt1"/>
              </a:buClr>
              <a:buSzPts val="1200"/>
              <a:buFont typeface="Noto Sans Symbols"/>
              <a:buChar char="❑"/>
            </a:pPr>
            <a:r>
              <a:rPr lang="ko-KR" altLang="en-US" sz="1200" b="1" dirty="0">
                <a:solidFill>
                  <a:schemeClr val="lt1"/>
                </a:solidFill>
                <a:latin typeface="Calibri"/>
                <a:cs typeface="Calibri"/>
                <a:sym typeface="Calibri"/>
              </a:rPr>
              <a:t>군 저고도 및 원거리 소형 표적</a:t>
            </a:r>
            <a:r>
              <a:rPr lang="en-US" altLang="ko-KR" sz="1200" b="1" dirty="0">
                <a:solidFill>
                  <a:schemeClr val="lt1"/>
                </a:solidFill>
                <a:latin typeface="Calibri"/>
                <a:cs typeface="Calibri"/>
                <a:sym typeface="Calibri"/>
              </a:rPr>
              <a:t>(</a:t>
            </a:r>
            <a:r>
              <a:rPr lang="ko-KR" altLang="en-US" sz="1200" b="1" dirty="0" err="1">
                <a:solidFill>
                  <a:schemeClr val="lt1"/>
                </a:solidFill>
                <a:latin typeface="Calibri"/>
                <a:cs typeface="Calibri"/>
                <a:sym typeface="Calibri"/>
              </a:rPr>
              <a:t>드론</a:t>
            </a:r>
            <a:r>
              <a:rPr lang="en-US" altLang="ko-KR" sz="1200" b="1" dirty="0">
                <a:solidFill>
                  <a:schemeClr val="lt1"/>
                </a:solidFill>
                <a:latin typeface="Calibri"/>
                <a:cs typeface="Calibri"/>
                <a:sym typeface="Calibri"/>
              </a:rPr>
              <a:t>,</a:t>
            </a:r>
            <a:r>
              <a:rPr lang="ko-KR" altLang="en-US" sz="1200" b="1" dirty="0">
                <a:solidFill>
                  <a:schemeClr val="lt1"/>
                </a:solidFill>
                <a:latin typeface="Calibri"/>
                <a:cs typeface="Calibri"/>
                <a:sym typeface="Calibri"/>
              </a:rPr>
              <a:t> </a:t>
            </a:r>
            <a:r>
              <a:rPr lang="ko-KR" altLang="en-US" sz="1200" b="1" dirty="0" err="1">
                <a:solidFill>
                  <a:schemeClr val="lt1"/>
                </a:solidFill>
                <a:latin typeface="Calibri"/>
                <a:cs typeface="Calibri"/>
                <a:sym typeface="Calibri"/>
              </a:rPr>
              <a:t>전차류</a:t>
            </a:r>
            <a:r>
              <a:rPr lang="en-US" altLang="ko-KR" sz="1200" b="1" dirty="0">
                <a:solidFill>
                  <a:schemeClr val="lt1"/>
                </a:solidFill>
                <a:latin typeface="Calibri"/>
                <a:cs typeface="Calibri"/>
                <a:sym typeface="Calibri"/>
              </a:rPr>
              <a:t>) </a:t>
            </a:r>
            <a:r>
              <a:rPr lang="ko-KR" altLang="en-US" sz="1200" b="1" dirty="0">
                <a:solidFill>
                  <a:schemeClr val="lt1"/>
                </a:solidFill>
                <a:latin typeface="Calibri"/>
                <a:cs typeface="Calibri"/>
                <a:sym typeface="Calibri"/>
              </a:rPr>
              <a:t>대상 실시간 다중 객체 탐지</a:t>
            </a:r>
            <a:r>
              <a:rPr lang="en-US" altLang="ko-KR" sz="1200" b="1" dirty="0">
                <a:solidFill>
                  <a:schemeClr val="lt1"/>
                </a:solidFill>
                <a:latin typeface="Calibri"/>
                <a:cs typeface="Calibri"/>
                <a:sym typeface="Calibri"/>
              </a:rPr>
              <a:t>/</a:t>
            </a:r>
            <a:r>
              <a:rPr lang="ko-KR" altLang="en-US" sz="1200" b="1" dirty="0" err="1">
                <a:solidFill>
                  <a:schemeClr val="lt1"/>
                </a:solidFill>
                <a:latin typeface="Calibri"/>
                <a:cs typeface="Calibri"/>
                <a:sym typeface="Calibri"/>
              </a:rPr>
              <a:t>트래킹</a:t>
            </a:r>
            <a:r>
              <a:rPr lang="ko-KR" altLang="en-US" sz="1200" b="1" dirty="0">
                <a:solidFill>
                  <a:schemeClr val="lt1"/>
                </a:solidFill>
                <a:latin typeface="Calibri"/>
                <a:cs typeface="Calibri"/>
                <a:sym typeface="Calibri"/>
              </a:rPr>
              <a:t> 모델 개발</a:t>
            </a:r>
            <a:endParaRPr dirty="0"/>
          </a:p>
        </p:txBody>
      </p:sp>
      <p:sp>
        <p:nvSpPr>
          <p:cNvPr id="100" name="Google Shape;100;p13">
            <a:extLst>
              <a:ext uri="{FF2B5EF4-FFF2-40B4-BE49-F238E27FC236}">
                <a16:creationId xmlns:a16="http://schemas.microsoft.com/office/drawing/2014/main" id="{9646239E-DFB4-A04F-FFBD-3EB0EFC15CF2}"/>
              </a:ext>
            </a:extLst>
          </p:cNvPr>
          <p:cNvSpPr txBox="1"/>
          <p:nvPr/>
        </p:nvSpPr>
        <p:spPr>
          <a:xfrm>
            <a:off x="9127310" y="8084924"/>
            <a:ext cx="7416800" cy="1500370"/>
          </a:xfrm>
          <a:prstGeom prst="rect">
            <a:avLst/>
          </a:prstGeom>
          <a:noFill/>
          <a:ln>
            <a:noFill/>
          </a:ln>
        </p:spPr>
        <p:txBody>
          <a:bodyPr spcFirstLastPara="1" wrap="square" lIns="91425" tIns="45700" rIns="91425" bIns="45700" anchor="t" anchorCtr="0">
            <a:spAutoFit/>
          </a:bodyPr>
          <a:lstStyle/>
          <a:p>
            <a:pPr marL="0" marR="0" lvl="0" indent="0" rtl="0">
              <a:lnSpc>
                <a:spcPct val="150000"/>
              </a:lnSpc>
              <a:spcBef>
                <a:spcPts val="0"/>
              </a:spcBef>
              <a:spcAft>
                <a:spcPts val="0"/>
              </a:spcAft>
              <a:buNone/>
            </a:pPr>
            <a:r>
              <a:rPr lang="ko-KR" sz="1100" b="1" dirty="0">
                <a:solidFill>
                  <a:schemeClr val="dk1"/>
                </a:solidFill>
                <a:latin typeface="Calibri"/>
                <a:ea typeface="Calibri"/>
                <a:cs typeface="Calibri"/>
                <a:sym typeface="Calibri"/>
              </a:rPr>
              <a:t>주요 성과</a:t>
            </a:r>
            <a:endParaRPr sz="1100" b="1" dirty="0">
              <a:solidFill>
                <a:schemeClr val="dk1"/>
              </a:solidFill>
              <a:latin typeface="Calibri"/>
              <a:ea typeface="Calibri"/>
              <a:cs typeface="Calibri"/>
              <a:sym typeface="Calibri"/>
            </a:endParaRPr>
          </a:p>
          <a:p>
            <a:pPr lvl="0">
              <a:lnSpc>
                <a:spcPct val="150000"/>
              </a:lnSpc>
            </a:pPr>
            <a:r>
              <a:rPr lang="ko-KR" altLang="en-US" sz="1000" dirty="0" err="1"/>
              <a:t>임베딩</a:t>
            </a:r>
            <a:r>
              <a:rPr lang="en-US" altLang="ko-KR" sz="1000" dirty="0"/>
              <a:t>·CMC </a:t>
            </a:r>
            <a:r>
              <a:rPr lang="ko-KR" altLang="en-US" sz="1000" dirty="0"/>
              <a:t>없이 소형</a:t>
            </a:r>
            <a:r>
              <a:rPr lang="en-US" altLang="ko-KR" sz="1000" dirty="0"/>
              <a:t>·</a:t>
            </a:r>
            <a:r>
              <a:rPr lang="ko-KR" altLang="en-US" sz="1000" dirty="0"/>
              <a:t>원거리 표적에서 </a:t>
            </a:r>
            <a:r>
              <a:rPr lang="en-US" altLang="ko-KR" sz="1000" dirty="0"/>
              <a:t>ID </a:t>
            </a:r>
            <a:r>
              <a:rPr lang="ko-KR" altLang="en-US" sz="1000" dirty="0"/>
              <a:t>지속성과 라벨 안정성을 동시에 확보한 경량 </a:t>
            </a:r>
            <a:r>
              <a:rPr lang="ko-KR" altLang="en-US" sz="1000" dirty="0" err="1"/>
              <a:t>추적기</a:t>
            </a:r>
            <a:r>
              <a:rPr lang="ko-KR" altLang="en-US" sz="1000" dirty="0"/>
              <a:t> 구현</a:t>
            </a:r>
            <a:r>
              <a:rPr lang="en-US" altLang="ko-KR" sz="1000" dirty="0"/>
              <a:t>.</a:t>
            </a:r>
          </a:p>
          <a:p>
            <a:pPr lvl="0">
              <a:lnSpc>
                <a:spcPct val="150000"/>
              </a:lnSpc>
            </a:pPr>
            <a:r>
              <a:rPr lang="en-US" altLang="ko-KR" sz="1000" dirty="0"/>
              <a:t>BoT-SORT </a:t>
            </a:r>
            <a:r>
              <a:rPr lang="ko-KR" altLang="en-US" sz="1000" dirty="0"/>
              <a:t>대비 연산 부담을 낮추면서 방향전환</a:t>
            </a:r>
            <a:r>
              <a:rPr lang="en-US" altLang="ko-KR" sz="1000" dirty="0"/>
              <a:t>·</a:t>
            </a:r>
            <a:r>
              <a:rPr lang="ko-KR" altLang="en-US" sz="1000" dirty="0"/>
              <a:t>차폐 구간의 </a:t>
            </a:r>
            <a:r>
              <a:rPr lang="en-US" altLang="ko-KR" sz="1000" dirty="0"/>
              <a:t>ID </a:t>
            </a:r>
            <a:r>
              <a:rPr lang="ko-KR" altLang="en-US" sz="1000" dirty="0"/>
              <a:t>단절 및 </a:t>
            </a:r>
            <a:r>
              <a:rPr lang="en-US" altLang="ko-KR" sz="1000" dirty="0"/>
              <a:t>velocity blow-up </a:t>
            </a:r>
            <a:r>
              <a:rPr lang="ko-KR" altLang="en-US" sz="1000" dirty="0"/>
              <a:t>문제 해결</a:t>
            </a:r>
            <a:r>
              <a:rPr lang="en-US" altLang="ko-KR" sz="1000" dirty="0"/>
              <a:t>.</a:t>
            </a:r>
          </a:p>
          <a:p>
            <a:pPr lvl="0">
              <a:lnSpc>
                <a:spcPct val="150000"/>
              </a:lnSpc>
            </a:pPr>
            <a:r>
              <a:rPr lang="ko-KR" altLang="en-US" sz="1000" dirty="0"/>
              <a:t>라벨</a:t>
            </a:r>
            <a:r>
              <a:rPr lang="en-US" altLang="ko-KR" sz="1000" dirty="0"/>
              <a:t>–</a:t>
            </a:r>
            <a:r>
              <a:rPr lang="ko-KR" altLang="en-US" sz="1000" dirty="0"/>
              <a:t>모션 결합형 추적 알고리즘에 대한 특허 출원</a:t>
            </a:r>
            <a:endParaRPr lang="en-US" altLang="ko-KR" sz="1000" dirty="0"/>
          </a:p>
          <a:p>
            <a:pPr lvl="0">
              <a:lnSpc>
                <a:spcPct val="150000"/>
              </a:lnSpc>
            </a:pPr>
            <a:r>
              <a:rPr lang="en-US" altLang="ko-KR" sz="1000" dirty="0" err="1"/>
              <a:t>FastAPI</a:t>
            </a:r>
            <a:r>
              <a:rPr lang="en-US" altLang="ko-KR" sz="1000" dirty="0"/>
              <a:t> </a:t>
            </a:r>
            <a:r>
              <a:rPr lang="ko-KR" altLang="en-US" sz="1000" dirty="0"/>
              <a:t>런타임 튜닝으로 카메라 운용 조건별 </a:t>
            </a:r>
            <a:r>
              <a:rPr lang="ko-KR" altLang="en-US" sz="1000" dirty="0" err="1"/>
              <a:t>무중단</a:t>
            </a:r>
            <a:r>
              <a:rPr lang="ko-KR" altLang="en-US" sz="1000" dirty="0"/>
              <a:t> 파라미터 조정 지원</a:t>
            </a:r>
            <a:r>
              <a:rPr lang="en-US" altLang="ko-KR" sz="1000" dirty="0"/>
              <a:t>.</a:t>
            </a:r>
            <a:br>
              <a:rPr lang="en-US" altLang="ko-KR" sz="1000" dirty="0"/>
            </a:br>
            <a:endParaRPr lang="en-US" altLang="ko-KR" sz="1000" dirty="0"/>
          </a:p>
        </p:txBody>
      </p:sp>
      <p:sp>
        <p:nvSpPr>
          <p:cNvPr id="101" name="Google Shape;101;p13">
            <a:extLst>
              <a:ext uri="{FF2B5EF4-FFF2-40B4-BE49-F238E27FC236}">
                <a16:creationId xmlns:a16="http://schemas.microsoft.com/office/drawing/2014/main" id="{1585063E-FB7A-5B64-64A4-E5179F0DD132}"/>
              </a:ext>
            </a:extLst>
          </p:cNvPr>
          <p:cNvSpPr txBox="1"/>
          <p:nvPr/>
        </p:nvSpPr>
        <p:spPr>
          <a:xfrm>
            <a:off x="9127310" y="4724955"/>
            <a:ext cx="7598590" cy="784790"/>
          </a:xfrm>
          <a:prstGeom prst="rect">
            <a:avLst/>
          </a:prstGeom>
          <a:noFill/>
          <a:ln>
            <a:noFill/>
          </a:ln>
        </p:spPr>
        <p:txBody>
          <a:bodyPr spcFirstLastPara="1" wrap="square" lIns="91425" tIns="45700" rIns="91425" bIns="45700" anchor="t" anchorCtr="0">
            <a:spAutoFit/>
          </a:bodyPr>
          <a:lstStyle/>
          <a:p>
            <a:pPr algn="just">
              <a:lnSpc>
                <a:spcPct val="150000"/>
              </a:lnSpc>
            </a:pPr>
            <a:r>
              <a:rPr lang="ko-KR" altLang="en-US" sz="1000" dirty="0">
                <a:solidFill>
                  <a:schemeClr val="dk1"/>
                </a:solidFill>
                <a:latin typeface="Calibri"/>
                <a:ea typeface="Calibri"/>
                <a:cs typeface="Calibri"/>
              </a:rPr>
              <a:t>학습 시 </a:t>
            </a:r>
            <a:r>
              <a:rPr lang="ko-KR" altLang="en-US" sz="1000" dirty="0" err="1">
                <a:solidFill>
                  <a:schemeClr val="dk1"/>
                </a:solidFill>
                <a:latin typeface="Calibri"/>
                <a:ea typeface="Calibri"/>
                <a:cs typeface="Calibri"/>
              </a:rPr>
              <a:t>전처리</a:t>
            </a:r>
            <a:r>
              <a:rPr lang="en-US" altLang="ko-KR" sz="1000" dirty="0">
                <a:solidFill>
                  <a:schemeClr val="dk1"/>
                </a:solidFill>
                <a:latin typeface="Calibri"/>
                <a:ea typeface="Calibri"/>
                <a:cs typeface="Calibri"/>
              </a:rPr>
              <a:t>(</a:t>
            </a:r>
            <a:r>
              <a:rPr lang="ko-KR" altLang="en-US" sz="1000" dirty="0">
                <a:solidFill>
                  <a:schemeClr val="dk1"/>
                </a:solidFill>
                <a:latin typeface="Calibri"/>
                <a:ea typeface="Calibri"/>
                <a:cs typeface="Calibri"/>
              </a:rPr>
              <a:t>야간</a:t>
            </a:r>
            <a:r>
              <a:rPr lang="en-US" altLang="ko-KR" sz="1000" dirty="0">
                <a:solidFill>
                  <a:schemeClr val="dk1"/>
                </a:solidFill>
                <a:latin typeface="Calibri"/>
                <a:ea typeface="Calibri"/>
                <a:cs typeface="Calibri"/>
              </a:rPr>
              <a:t>, </a:t>
            </a:r>
            <a:r>
              <a:rPr lang="ko-KR" altLang="en-US" sz="1000" dirty="0">
                <a:solidFill>
                  <a:schemeClr val="dk1"/>
                </a:solidFill>
                <a:latin typeface="Calibri"/>
                <a:ea typeface="Calibri"/>
                <a:cs typeface="Calibri"/>
              </a:rPr>
              <a:t>안개</a:t>
            </a:r>
            <a:r>
              <a:rPr lang="en-US" altLang="ko-KR" sz="1000" dirty="0">
                <a:solidFill>
                  <a:schemeClr val="dk1"/>
                </a:solidFill>
                <a:latin typeface="Calibri"/>
                <a:ea typeface="Calibri"/>
                <a:cs typeface="Calibri"/>
              </a:rPr>
              <a:t>) </a:t>
            </a:r>
            <a:r>
              <a:rPr lang="ko-KR" altLang="en-US" sz="1000" dirty="0">
                <a:solidFill>
                  <a:schemeClr val="dk1"/>
                </a:solidFill>
                <a:latin typeface="Calibri"/>
                <a:ea typeface="Calibri"/>
                <a:cs typeface="Calibri"/>
              </a:rPr>
              <a:t>후 </a:t>
            </a:r>
            <a:r>
              <a:rPr lang="en-US" altLang="ko-KR" sz="1000" dirty="0">
                <a:solidFill>
                  <a:schemeClr val="dk1"/>
                </a:solidFill>
                <a:latin typeface="Calibri"/>
                <a:ea typeface="Calibri"/>
                <a:cs typeface="Calibri"/>
              </a:rPr>
              <a:t>630*480</a:t>
            </a:r>
            <a:r>
              <a:rPr lang="ko-KR" altLang="en-US" sz="1000" dirty="0">
                <a:solidFill>
                  <a:schemeClr val="dk1"/>
                </a:solidFill>
                <a:latin typeface="Calibri"/>
                <a:ea typeface="Calibri"/>
                <a:cs typeface="Calibri"/>
              </a:rPr>
              <a:t>의 환경에서 학습했으며</a:t>
            </a:r>
            <a:r>
              <a:rPr lang="en-US" altLang="ko-KR" sz="1000" dirty="0">
                <a:solidFill>
                  <a:schemeClr val="dk1"/>
                </a:solidFill>
                <a:latin typeface="Calibri"/>
                <a:ea typeface="Calibri"/>
                <a:cs typeface="Calibri"/>
              </a:rPr>
              <a:t>, </a:t>
            </a:r>
            <a:r>
              <a:rPr lang="ko-KR" altLang="en-US" sz="1000" dirty="0">
                <a:solidFill>
                  <a:schemeClr val="dk1"/>
                </a:solidFill>
                <a:latin typeface="Calibri"/>
                <a:ea typeface="Calibri"/>
                <a:cs typeface="Calibri"/>
              </a:rPr>
              <a:t> 이것이 경쟁력이 되었습니다</a:t>
            </a:r>
            <a:r>
              <a:rPr lang="en-US" altLang="ko-KR" sz="1000" dirty="0">
                <a:solidFill>
                  <a:schemeClr val="dk1"/>
                </a:solidFill>
                <a:latin typeface="Calibri"/>
                <a:ea typeface="Calibri"/>
                <a:cs typeface="Calibri"/>
              </a:rPr>
              <a:t>. </a:t>
            </a:r>
            <a:r>
              <a:rPr lang="ko-KR" altLang="en-US" sz="1000" dirty="0">
                <a:solidFill>
                  <a:schemeClr val="dk1"/>
                </a:solidFill>
                <a:latin typeface="Calibri"/>
                <a:ea typeface="Calibri"/>
                <a:cs typeface="Calibri"/>
              </a:rPr>
              <a:t>또한</a:t>
            </a:r>
            <a:r>
              <a:rPr lang="en-US" altLang="ko-KR" sz="1000" dirty="0">
                <a:solidFill>
                  <a:schemeClr val="dk1"/>
                </a:solidFill>
                <a:latin typeface="Calibri"/>
                <a:ea typeface="Calibri"/>
                <a:cs typeface="Calibri"/>
              </a:rPr>
              <a:t>, </a:t>
            </a:r>
            <a:r>
              <a:rPr lang="ko-KR" altLang="en-US" sz="1000" dirty="0">
                <a:solidFill>
                  <a:schemeClr val="dk1"/>
                </a:solidFill>
                <a:latin typeface="Calibri"/>
                <a:ea typeface="Calibri"/>
                <a:cs typeface="Calibri"/>
              </a:rPr>
              <a:t>모든 조정 상수를 고정 수치가 아닌 변수 </a:t>
            </a:r>
            <a:r>
              <a:rPr lang="en-US" altLang="ko-KR" sz="1000" dirty="0">
                <a:solidFill>
                  <a:schemeClr val="dk1"/>
                </a:solidFill>
                <a:latin typeface="Calibri"/>
                <a:ea typeface="Calibri"/>
                <a:cs typeface="Calibri"/>
              </a:rPr>
              <a:t>+ </a:t>
            </a:r>
            <a:r>
              <a:rPr lang="ko-KR" altLang="en-US" sz="1000" dirty="0" err="1">
                <a:solidFill>
                  <a:schemeClr val="dk1"/>
                </a:solidFill>
                <a:latin typeface="Calibri"/>
                <a:ea typeface="Calibri"/>
                <a:cs typeface="Calibri"/>
              </a:rPr>
              <a:t>정의역</a:t>
            </a:r>
            <a:r>
              <a:rPr lang="en-US" altLang="ko-KR" sz="1000" dirty="0">
                <a:solidFill>
                  <a:schemeClr val="dk1"/>
                </a:solidFill>
                <a:latin typeface="Calibri"/>
                <a:ea typeface="Calibri"/>
                <a:cs typeface="Calibri"/>
              </a:rPr>
              <a:t>(</a:t>
            </a:r>
            <a:r>
              <a:rPr lang="ko-KR" altLang="en-US" sz="1000" dirty="0">
                <a:solidFill>
                  <a:schemeClr val="dk1"/>
                </a:solidFill>
                <a:latin typeface="Calibri"/>
                <a:ea typeface="Calibri"/>
                <a:cs typeface="Calibri"/>
              </a:rPr>
              <a:t>허용 범위</a:t>
            </a:r>
            <a:r>
              <a:rPr lang="en-US" altLang="ko-KR" sz="1000" dirty="0">
                <a:solidFill>
                  <a:schemeClr val="dk1"/>
                </a:solidFill>
                <a:latin typeface="Calibri"/>
                <a:ea typeface="Calibri"/>
                <a:cs typeface="Calibri"/>
              </a:rPr>
              <a:t>) </a:t>
            </a:r>
            <a:r>
              <a:rPr lang="ko-KR" altLang="en-US" sz="1000" dirty="0">
                <a:solidFill>
                  <a:schemeClr val="dk1"/>
                </a:solidFill>
                <a:latin typeface="Calibri"/>
                <a:ea typeface="Calibri"/>
                <a:cs typeface="Calibri"/>
              </a:rPr>
              <a:t>형태로 기재하여</a:t>
            </a:r>
            <a:r>
              <a:rPr lang="en-US" altLang="ko-KR" sz="1000" dirty="0">
                <a:solidFill>
                  <a:schemeClr val="dk1"/>
                </a:solidFill>
                <a:latin typeface="Calibri"/>
                <a:ea typeface="Calibri"/>
                <a:cs typeface="Calibri"/>
              </a:rPr>
              <a:t>, </a:t>
            </a:r>
            <a:r>
              <a:rPr lang="ko-KR" altLang="en-US" sz="1000" dirty="0">
                <a:solidFill>
                  <a:schemeClr val="dk1"/>
                </a:solidFill>
                <a:latin typeface="Calibri"/>
                <a:ea typeface="Calibri"/>
                <a:cs typeface="Calibri"/>
              </a:rPr>
              <a:t>카메라 거리</a:t>
            </a:r>
            <a:r>
              <a:rPr lang="en-US" altLang="ko-KR" sz="1000" dirty="0">
                <a:solidFill>
                  <a:schemeClr val="dk1"/>
                </a:solidFill>
                <a:latin typeface="Calibri"/>
                <a:ea typeface="Calibri"/>
                <a:cs typeface="Calibri"/>
              </a:rPr>
              <a:t>·FPS·</a:t>
            </a:r>
            <a:r>
              <a:rPr lang="ko-KR" altLang="en-US" sz="1000" dirty="0">
                <a:solidFill>
                  <a:schemeClr val="dk1"/>
                </a:solidFill>
                <a:latin typeface="Calibri"/>
                <a:ea typeface="Calibri"/>
                <a:cs typeface="Calibri"/>
              </a:rPr>
              <a:t>해상도 등 운용 조건에 따라 </a:t>
            </a:r>
            <a:r>
              <a:rPr lang="ko-KR" altLang="en-US" sz="1000" dirty="0" err="1">
                <a:solidFill>
                  <a:schemeClr val="dk1"/>
                </a:solidFill>
                <a:latin typeface="Calibri"/>
                <a:ea typeface="Calibri"/>
                <a:cs typeface="Calibri"/>
              </a:rPr>
              <a:t>최적값이</a:t>
            </a:r>
            <a:r>
              <a:rPr lang="ko-KR" altLang="en-US" sz="1000" dirty="0">
                <a:solidFill>
                  <a:schemeClr val="dk1"/>
                </a:solidFill>
                <a:latin typeface="Calibri"/>
                <a:ea typeface="Calibri"/>
                <a:cs typeface="Calibri"/>
              </a:rPr>
              <a:t> 달라지는 특성을 범위로 권리화해 회피설계에 대응하도록 구성하였습니다</a:t>
            </a:r>
            <a:r>
              <a:rPr lang="en-US" altLang="ko-KR" sz="1000" dirty="0">
                <a:solidFill>
                  <a:schemeClr val="dk1"/>
                </a:solidFill>
                <a:latin typeface="Calibri"/>
                <a:ea typeface="Calibri"/>
                <a:cs typeface="Calibri"/>
              </a:rPr>
              <a:t>.</a:t>
            </a:r>
            <a:endParaRPr sz="1000" dirty="0">
              <a:solidFill>
                <a:schemeClr val="dk1"/>
              </a:solidFill>
              <a:latin typeface="Calibri"/>
              <a:ea typeface="Calibri"/>
              <a:cs typeface="Calibri"/>
              <a:sym typeface="Calibri"/>
            </a:endParaRPr>
          </a:p>
        </p:txBody>
      </p:sp>
      <p:sp>
        <p:nvSpPr>
          <p:cNvPr id="102" name="Google Shape;102;p13">
            <a:extLst>
              <a:ext uri="{FF2B5EF4-FFF2-40B4-BE49-F238E27FC236}">
                <a16:creationId xmlns:a16="http://schemas.microsoft.com/office/drawing/2014/main" id="{6DD90F25-8355-17FD-0E47-EAA743B7674D}"/>
              </a:ext>
            </a:extLst>
          </p:cNvPr>
          <p:cNvSpPr txBox="1"/>
          <p:nvPr/>
        </p:nvSpPr>
        <p:spPr>
          <a:xfrm>
            <a:off x="4931577" y="1495636"/>
            <a:ext cx="3873491" cy="2181519"/>
          </a:xfrm>
          <a:prstGeom prst="rect">
            <a:avLst/>
          </a:prstGeom>
          <a:noFill/>
          <a:ln>
            <a:noFill/>
          </a:ln>
        </p:spPr>
        <p:txBody>
          <a:bodyPr spcFirstLastPara="1" wrap="square" lIns="91425" tIns="45700" rIns="91425" bIns="45700" anchor="t" anchorCtr="0">
            <a:spAutoFit/>
          </a:bodyPr>
          <a:lstStyle/>
          <a:p>
            <a:pPr marL="0" marR="0" lvl="0" indent="0" rtl="0">
              <a:lnSpc>
                <a:spcPct val="150000"/>
              </a:lnSpc>
              <a:spcBef>
                <a:spcPts val="0"/>
              </a:spcBef>
              <a:spcAft>
                <a:spcPts val="0"/>
              </a:spcAft>
              <a:buNone/>
            </a:pPr>
            <a:r>
              <a:rPr lang="ko-KR" sz="1051" b="1" dirty="0">
                <a:solidFill>
                  <a:schemeClr val="dk1"/>
                </a:solidFill>
                <a:latin typeface="Calibri"/>
                <a:ea typeface="Calibri"/>
                <a:cs typeface="Calibri"/>
                <a:sym typeface="Calibri"/>
              </a:rPr>
              <a:t>[프로젝트 세부 사항]</a:t>
            </a:r>
            <a:endParaRPr sz="1051" b="1" dirty="0">
              <a:solidFill>
                <a:schemeClr val="dk1"/>
              </a:solidFill>
              <a:latin typeface="Calibri"/>
              <a:ea typeface="Calibri"/>
              <a:cs typeface="Calibri"/>
              <a:sym typeface="Calibri"/>
            </a:endParaRPr>
          </a:p>
          <a:p>
            <a:pPr marL="0" marR="0" lvl="0" indent="0" rtl="0">
              <a:lnSpc>
                <a:spcPct val="150000"/>
              </a:lnSpc>
              <a:spcBef>
                <a:spcPts val="0"/>
              </a:spcBef>
              <a:spcAft>
                <a:spcPts val="0"/>
              </a:spcAft>
              <a:buNone/>
            </a:pPr>
            <a:r>
              <a:rPr lang="ko-KR" sz="1000" b="1" dirty="0">
                <a:solidFill>
                  <a:schemeClr val="dk1"/>
                </a:solidFill>
                <a:latin typeface="Calibri"/>
                <a:ea typeface="Calibri"/>
                <a:cs typeface="Calibri"/>
                <a:sym typeface="Calibri"/>
              </a:rPr>
              <a:t>프로젝트 기간 :</a:t>
            </a:r>
            <a:r>
              <a:rPr lang="ko-KR" sz="1000" dirty="0">
                <a:solidFill>
                  <a:schemeClr val="dk1"/>
                </a:solidFill>
                <a:latin typeface="Calibri"/>
                <a:ea typeface="Calibri"/>
                <a:cs typeface="Calibri"/>
                <a:sym typeface="Calibri"/>
              </a:rPr>
              <a:t> 202</a:t>
            </a:r>
            <a:r>
              <a:rPr lang="en-US" altLang="ko-KR" sz="1000" dirty="0">
                <a:solidFill>
                  <a:schemeClr val="dk1"/>
                </a:solidFill>
                <a:latin typeface="Calibri"/>
                <a:ea typeface="Calibri"/>
                <a:cs typeface="Calibri"/>
                <a:sym typeface="Calibri"/>
              </a:rPr>
              <a:t>6</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06</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30</a:t>
            </a:r>
            <a:r>
              <a:rPr lang="ko-KR" sz="1000" dirty="0">
                <a:solidFill>
                  <a:schemeClr val="dk1"/>
                </a:solidFill>
                <a:latin typeface="Calibri"/>
                <a:ea typeface="Calibri"/>
                <a:cs typeface="Calibri"/>
                <a:sym typeface="Calibri"/>
              </a:rPr>
              <a:t> ~ 20</a:t>
            </a:r>
            <a:r>
              <a:rPr lang="en-US" altLang="ko-KR" sz="1000" dirty="0">
                <a:solidFill>
                  <a:schemeClr val="dk1"/>
                </a:solidFill>
                <a:latin typeface="Calibri"/>
                <a:ea typeface="Calibri"/>
                <a:cs typeface="Calibri"/>
                <a:sym typeface="Calibri"/>
              </a:rPr>
              <a:t>26</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07</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14</a:t>
            </a:r>
            <a:endParaRPr dirty="0"/>
          </a:p>
          <a:p>
            <a:pPr marL="0" marR="0" lvl="0" indent="0" rtl="0">
              <a:lnSpc>
                <a:spcPct val="150000"/>
              </a:lnSpc>
              <a:spcBef>
                <a:spcPts val="0"/>
              </a:spcBef>
              <a:spcAft>
                <a:spcPts val="0"/>
              </a:spcAft>
              <a:buNone/>
            </a:pPr>
            <a:r>
              <a:rPr lang="ko-KR" sz="1000" b="1" dirty="0">
                <a:solidFill>
                  <a:schemeClr val="dk1"/>
                </a:solidFill>
                <a:latin typeface="Calibri"/>
                <a:ea typeface="Calibri"/>
                <a:cs typeface="Calibri"/>
                <a:sym typeface="Calibri"/>
              </a:rPr>
              <a:t>개발 인원 :</a:t>
            </a:r>
            <a:r>
              <a:rPr lang="ko-KR" sz="1000" dirty="0">
                <a:solidFill>
                  <a:schemeClr val="dk1"/>
                </a:solidFill>
                <a:latin typeface="Calibri"/>
                <a:ea typeface="Calibri"/>
                <a:cs typeface="Calibri"/>
                <a:sym typeface="Calibri"/>
              </a:rPr>
              <a:t> </a:t>
            </a:r>
            <a:r>
              <a:rPr lang="en-US" altLang="ko-KR" sz="1000" dirty="0">
                <a:solidFill>
                  <a:schemeClr val="dk1"/>
                </a:solidFill>
                <a:latin typeface="Calibri"/>
                <a:ea typeface="Calibri"/>
                <a:cs typeface="Calibri"/>
                <a:sym typeface="Calibri"/>
              </a:rPr>
              <a:t>2</a:t>
            </a:r>
            <a:r>
              <a:rPr lang="ko-KR" sz="1000" dirty="0">
                <a:solidFill>
                  <a:schemeClr val="dk1"/>
                </a:solidFill>
                <a:latin typeface="Calibri"/>
                <a:ea typeface="Calibri"/>
                <a:cs typeface="Calibri"/>
                <a:sym typeface="Calibri"/>
              </a:rPr>
              <a:t>명</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팀장</a:t>
            </a:r>
            <a:r>
              <a:rPr lang="en-US" altLang="ko-KR" sz="1000" dirty="0">
                <a:solidFill>
                  <a:schemeClr val="dk1"/>
                </a:solidFill>
                <a:latin typeface="Calibri"/>
                <a:ea typeface="Calibri"/>
                <a:cs typeface="Calibri"/>
                <a:sym typeface="Calibri"/>
              </a:rPr>
              <a:t>]</a:t>
            </a:r>
            <a:endParaRPr sz="1000" dirty="0">
              <a:solidFill>
                <a:schemeClr val="dk1"/>
              </a:solidFill>
              <a:latin typeface="Calibri"/>
              <a:ea typeface="Calibri"/>
              <a:cs typeface="Calibri"/>
              <a:sym typeface="Calibri"/>
            </a:endParaRPr>
          </a:p>
          <a:p>
            <a:pPr marL="0" marR="0" lvl="0" indent="0" rtl="0">
              <a:lnSpc>
                <a:spcPct val="150000"/>
              </a:lnSpc>
              <a:spcBef>
                <a:spcPts val="0"/>
              </a:spcBef>
              <a:spcAft>
                <a:spcPts val="0"/>
              </a:spcAft>
              <a:buNone/>
            </a:pPr>
            <a:r>
              <a:rPr lang="ko-KR" sz="1000" b="1" dirty="0">
                <a:solidFill>
                  <a:schemeClr val="dk1"/>
                </a:solidFill>
                <a:latin typeface="Calibri"/>
                <a:ea typeface="Calibri"/>
                <a:cs typeface="Calibri"/>
                <a:sym typeface="Calibri"/>
              </a:rPr>
              <a:t>연계/주관기업 : </a:t>
            </a:r>
            <a:r>
              <a:rPr lang="ko-KR" altLang="en-US" sz="1000" b="1" dirty="0">
                <a:solidFill>
                  <a:schemeClr val="dk1"/>
                </a:solidFill>
                <a:latin typeface="Calibri"/>
                <a:ea typeface="Calibri"/>
                <a:cs typeface="Calibri"/>
                <a:sym typeface="Calibri"/>
              </a:rPr>
              <a:t>삼성 </a:t>
            </a:r>
            <a:r>
              <a:rPr lang="en-US" altLang="ko-KR" sz="1000" b="1" dirty="0">
                <a:solidFill>
                  <a:schemeClr val="dk1"/>
                </a:solidFill>
                <a:latin typeface="Calibri"/>
                <a:ea typeface="Calibri"/>
                <a:cs typeface="Calibri"/>
                <a:sym typeface="Calibri"/>
              </a:rPr>
              <a:t>SDS, </a:t>
            </a:r>
            <a:r>
              <a:rPr lang="ko-KR" altLang="en-US" sz="1000" b="1" dirty="0">
                <a:solidFill>
                  <a:schemeClr val="dk1"/>
                </a:solidFill>
                <a:latin typeface="Calibri"/>
                <a:ea typeface="Calibri"/>
                <a:cs typeface="Calibri"/>
                <a:sym typeface="Calibri"/>
              </a:rPr>
              <a:t>국방부</a:t>
            </a:r>
            <a:endParaRPr sz="1000" dirty="0">
              <a:solidFill>
                <a:schemeClr val="dk1"/>
              </a:solidFill>
              <a:latin typeface="Calibri"/>
              <a:ea typeface="Calibri"/>
              <a:cs typeface="Calibri"/>
              <a:sym typeface="Calibri"/>
            </a:endParaRPr>
          </a:p>
          <a:p>
            <a:pPr lvl="0">
              <a:lnSpc>
                <a:spcPct val="150000"/>
              </a:lnSpc>
            </a:pPr>
            <a:r>
              <a:rPr lang="ko-KR" sz="1000" b="1" dirty="0">
                <a:solidFill>
                  <a:schemeClr val="dk1"/>
                </a:solidFill>
                <a:latin typeface="Calibri"/>
                <a:ea typeface="Calibri"/>
                <a:cs typeface="Calibri"/>
                <a:sym typeface="Calibri"/>
              </a:rPr>
              <a:t>담당 업무 :</a:t>
            </a:r>
            <a:r>
              <a:rPr lang="ko-KR" altLang="en-US" sz="1000" dirty="0">
                <a:solidFill>
                  <a:schemeClr val="dk1"/>
                </a:solidFill>
                <a:latin typeface="Calibri"/>
                <a:ea typeface="Calibri"/>
                <a:cs typeface="Calibri"/>
                <a:sym typeface="Calibri"/>
              </a:rPr>
              <a:t>객체 탐지</a:t>
            </a:r>
            <a:r>
              <a:rPr lang="en-US" altLang="ko-KR" sz="1000" dirty="0">
                <a:solidFill>
                  <a:schemeClr val="dk1"/>
                </a:solidFill>
                <a:latin typeface="Calibri"/>
                <a:ea typeface="Calibri"/>
                <a:cs typeface="Calibri"/>
                <a:sym typeface="Calibri"/>
              </a:rPr>
              <a:t>·</a:t>
            </a:r>
            <a:r>
              <a:rPr lang="ko-KR" altLang="en-US" sz="1000" dirty="0">
                <a:solidFill>
                  <a:schemeClr val="dk1"/>
                </a:solidFill>
                <a:latin typeface="Calibri"/>
                <a:ea typeface="Calibri"/>
                <a:cs typeface="Calibri"/>
                <a:sym typeface="Calibri"/>
              </a:rPr>
              <a:t>추적 파이프라인 개발</a:t>
            </a:r>
            <a:r>
              <a:rPr lang="en-US" altLang="ko-KR" sz="1000" dirty="0">
                <a:solidFill>
                  <a:schemeClr val="dk1"/>
                </a:solidFill>
                <a:latin typeface="Calibri"/>
                <a:ea typeface="Calibri"/>
                <a:cs typeface="Calibri"/>
                <a:sym typeface="Calibri"/>
              </a:rPr>
              <a:t>,</a:t>
            </a:r>
            <a:r>
              <a:rPr lang="ko-KR" altLang="en-US" sz="1000" dirty="0">
                <a:solidFill>
                  <a:schemeClr val="dk1"/>
                </a:solidFill>
                <a:latin typeface="Calibri"/>
                <a:ea typeface="Calibri"/>
                <a:cs typeface="Calibri"/>
                <a:sym typeface="Calibri"/>
              </a:rPr>
              <a:t> </a:t>
            </a:r>
            <a:endParaRPr lang="en-US" altLang="ko-KR" sz="1000" dirty="0">
              <a:solidFill>
                <a:schemeClr val="dk1"/>
              </a:solidFill>
              <a:latin typeface="Calibri"/>
              <a:ea typeface="Calibri"/>
              <a:cs typeface="Calibri"/>
              <a:sym typeface="Calibri"/>
            </a:endParaRPr>
          </a:p>
          <a:p>
            <a:pPr lvl="0">
              <a:lnSpc>
                <a:spcPct val="150000"/>
              </a:lnSpc>
            </a:pP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자체 추적 알고리즘</a:t>
            </a:r>
            <a:r>
              <a:rPr lang="en-US" altLang="ko-KR" sz="1000" dirty="0">
                <a:solidFill>
                  <a:schemeClr val="dk1"/>
                </a:solidFill>
                <a:latin typeface="Calibri"/>
                <a:ea typeface="Calibri"/>
                <a:cs typeface="Calibri"/>
                <a:sym typeface="Calibri"/>
              </a:rPr>
              <a:t>(</a:t>
            </a:r>
            <a:r>
              <a:rPr lang="en-US" altLang="ko-KR" sz="1000" dirty="0" err="1">
                <a:solidFill>
                  <a:schemeClr val="dk1"/>
                </a:solidFill>
                <a:latin typeface="Calibri"/>
                <a:ea typeface="Calibri"/>
                <a:cs typeface="Calibri"/>
                <a:sym typeface="Calibri"/>
              </a:rPr>
              <a:t>MultiObjectTracker</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설계</a:t>
            </a:r>
            <a:endParaRPr lang="en-US" altLang="ko-KR" sz="1000" dirty="0">
              <a:solidFill>
                <a:schemeClr val="dk1"/>
              </a:solidFill>
              <a:latin typeface="Calibri"/>
              <a:ea typeface="Calibri"/>
              <a:cs typeface="Calibri"/>
              <a:sym typeface="Calibri"/>
            </a:endParaRPr>
          </a:p>
          <a:p>
            <a:pPr lvl="0">
              <a:lnSpc>
                <a:spcPct val="150000"/>
              </a:lnSpc>
            </a:pPr>
            <a:r>
              <a:rPr lang="ko-KR" sz="1000" b="1" dirty="0">
                <a:solidFill>
                  <a:schemeClr val="dk1"/>
                </a:solidFill>
                <a:latin typeface="Calibri"/>
                <a:ea typeface="Calibri"/>
                <a:cs typeface="Calibri"/>
                <a:sym typeface="Calibri"/>
              </a:rPr>
              <a:t>기술 스택 :</a:t>
            </a:r>
            <a:r>
              <a:rPr lang="en-US" altLang="ko-KR" sz="1000" b="1" dirty="0">
                <a:solidFill>
                  <a:schemeClr val="dk1"/>
                </a:solidFill>
                <a:latin typeface="Calibri"/>
                <a:ea typeface="Calibri"/>
                <a:cs typeface="Calibri"/>
                <a:sym typeface="Calibri"/>
              </a:rPr>
              <a:t> </a:t>
            </a:r>
            <a:r>
              <a:rPr lang="en-US" altLang="ko-KR" sz="1000" dirty="0">
                <a:solidFill>
                  <a:schemeClr val="dk1"/>
                </a:solidFill>
                <a:latin typeface="Calibri"/>
                <a:ea typeface="Calibri"/>
                <a:cs typeface="Calibri"/>
                <a:sym typeface="Calibri"/>
              </a:rPr>
              <a:t>yolo, Git, html, </a:t>
            </a:r>
            <a:r>
              <a:rPr lang="en-US" altLang="ko-KR" sz="1000" dirty="0" err="1">
                <a:solidFill>
                  <a:schemeClr val="dk1"/>
                </a:solidFill>
                <a:latin typeface="Calibri"/>
                <a:ea typeface="Calibri"/>
                <a:cs typeface="Calibri"/>
                <a:sym typeface="Calibri"/>
              </a:rPr>
              <a:t>css</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fastapi</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uv</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tenserRT</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PyTorch</a:t>
            </a:r>
            <a:endParaRPr lang="en-US" altLang="ko-KR" sz="1000" dirty="0">
              <a:solidFill>
                <a:schemeClr val="dk1"/>
              </a:solidFill>
              <a:latin typeface="Calibri"/>
              <a:ea typeface="Calibri"/>
              <a:cs typeface="Calibri"/>
              <a:sym typeface="Calibri"/>
            </a:endParaRPr>
          </a:p>
          <a:p>
            <a:pPr marL="0" marR="0" lvl="0" indent="0" rtl="0">
              <a:lnSpc>
                <a:spcPct val="150000"/>
              </a:lnSpc>
              <a:spcBef>
                <a:spcPts val="0"/>
              </a:spcBef>
              <a:spcAft>
                <a:spcPts val="0"/>
              </a:spcAft>
              <a:buNone/>
            </a:pPr>
            <a:r>
              <a:rPr lang="ko-KR" sz="1000" b="1" dirty="0">
                <a:solidFill>
                  <a:schemeClr val="dk1"/>
                </a:solidFill>
                <a:latin typeface="Calibri"/>
                <a:ea typeface="Calibri"/>
                <a:cs typeface="Calibri"/>
                <a:sym typeface="Calibri"/>
              </a:rPr>
              <a:t>오픈소스 &amp; 라이브러리 :</a:t>
            </a:r>
            <a:r>
              <a:rPr lang="en-US" altLang="ko-KR" sz="1000" b="1"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pytorch</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qwen</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milvusDB</a:t>
            </a:r>
            <a:r>
              <a:rPr lang="en-US" altLang="ko-KR" sz="1000" dirty="0">
                <a:solidFill>
                  <a:schemeClr val="dk1"/>
                </a:solidFill>
                <a:latin typeface="Calibri"/>
                <a:ea typeface="Calibri"/>
                <a:cs typeface="Calibri"/>
                <a:sym typeface="Calibri"/>
              </a:rPr>
              <a:t>, docker</a:t>
            </a:r>
            <a:endParaRPr sz="1000" dirty="0">
              <a:solidFill>
                <a:schemeClr val="dk1"/>
              </a:solidFill>
              <a:latin typeface="Calibri"/>
              <a:ea typeface="Calibri"/>
              <a:cs typeface="Calibri"/>
              <a:sym typeface="Calibri"/>
            </a:endParaRPr>
          </a:p>
          <a:p>
            <a:pPr marL="0" marR="0" lvl="0" indent="0" rtl="0">
              <a:lnSpc>
                <a:spcPct val="150000"/>
              </a:lnSpc>
              <a:spcBef>
                <a:spcPts val="0"/>
              </a:spcBef>
              <a:spcAft>
                <a:spcPts val="0"/>
              </a:spcAft>
              <a:buNone/>
            </a:pPr>
            <a:endParaRPr sz="1000" dirty="0">
              <a:solidFill>
                <a:schemeClr val="dk1"/>
              </a:solidFill>
              <a:latin typeface="Calibri"/>
              <a:ea typeface="Calibri"/>
              <a:cs typeface="Calibri"/>
              <a:sym typeface="Calibri"/>
            </a:endParaRPr>
          </a:p>
        </p:txBody>
      </p:sp>
      <p:sp>
        <p:nvSpPr>
          <p:cNvPr id="103" name="Google Shape;103;p13">
            <a:extLst>
              <a:ext uri="{FF2B5EF4-FFF2-40B4-BE49-F238E27FC236}">
                <a16:creationId xmlns:a16="http://schemas.microsoft.com/office/drawing/2014/main" id="{A881CEDC-2CAC-5238-2565-D110EF63F80F}"/>
              </a:ext>
            </a:extLst>
          </p:cNvPr>
          <p:cNvSpPr txBox="1"/>
          <p:nvPr/>
        </p:nvSpPr>
        <p:spPr>
          <a:xfrm>
            <a:off x="803314" y="1503382"/>
            <a:ext cx="4207616" cy="3912762"/>
          </a:xfrm>
          <a:prstGeom prst="rect">
            <a:avLst/>
          </a:prstGeom>
          <a:noFill/>
          <a:ln>
            <a:noFill/>
          </a:ln>
        </p:spPr>
        <p:txBody>
          <a:bodyPr spcFirstLastPara="1" wrap="square" lIns="91425" tIns="45700" rIns="91425" bIns="45700" anchor="t" anchorCtr="0">
            <a:spAutoFit/>
          </a:bodyPr>
          <a:lstStyle/>
          <a:p>
            <a:pPr marL="0" marR="0" lvl="0" indent="0" rtl="0">
              <a:lnSpc>
                <a:spcPct val="150000"/>
              </a:lnSpc>
              <a:spcBef>
                <a:spcPts val="0"/>
              </a:spcBef>
              <a:spcAft>
                <a:spcPts val="0"/>
              </a:spcAft>
              <a:buNone/>
            </a:pPr>
            <a:r>
              <a:rPr lang="ko-KR" sz="1051" b="1" dirty="0">
                <a:solidFill>
                  <a:schemeClr val="dk1"/>
                </a:solidFill>
                <a:latin typeface="Calibri"/>
                <a:ea typeface="Calibri"/>
                <a:cs typeface="Calibri"/>
                <a:sym typeface="Calibri"/>
              </a:rPr>
              <a:t>[주요 업무]</a:t>
            </a:r>
            <a:endParaRPr sz="1051" dirty="0">
              <a:solidFill>
                <a:schemeClr val="dk1"/>
              </a:solidFill>
              <a:latin typeface="Calibri"/>
              <a:ea typeface="Calibri"/>
              <a:cs typeface="Calibri"/>
              <a:sym typeface="Calibri"/>
            </a:endParaRPr>
          </a:p>
          <a:p>
            <a:pPr marL="228600" lvl="0" indent="-228600">
              <a:lnSpc>
                <a:spcPct val="150000"/>
              </a:lnSpc>
              <a:buAutoNum type="arabicPeriod"/>
            </a:pPr>
            <a:r>
              <a:rPr lang="ko-KR" altLang="en-US" sz="1000" b="1" dirty="0">
                <a:solidFill>
                  <a:schemeClr val="dk1"/>
                </a:solidFill>
                <a:latin typeface="Calibri"/>
                <a:ea typeface="Calibri"/>
                <a:cs typeface="Calibri"/>
                <a:sym typeface="Calibri"/>
              </a:rPr>
              <a:t>실시간 객체 탐지 및 다중 객체 </a:t>
            </a:r>
            <a:r>
              <a:rPr lang="ko-KR" altLang="en-US" sz="1000" b="1" dirty="0" err="1">
                <a:solidFill>
                  <a:schemeClr val="dk1"/>
                </a:solidFill>
                <a:latin typeface="Calibri"/>
                <a:ea typeface="Calibri"/>
                <a:cs typeface="Calibri"/>
                <a:sym typeface="Calibri"/>
              </a:rPr>
              <a:t>트래킹</a:t>
            </a:r>
            <a:endParaRPr lang="en-US" altLang="ko-KR" sz="1000" b="1" dirty="0">
              <a:solidFill>
                <a:schemeClr val="dk1"/>
              </a:solidFill>
              <a:latin typeface="Calibri"/>
              <a:ea typeface="Calibri"/>
              <a:cs typeface="Calibri"/>
              <a:sym typeface="Calibri"/>
            </a:endParaRPr>
          </a:p>
          <a:p>
            <a:pPr lvl="0">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 </a:t>
            </a:r>
            <a:r>
              <a:rPr lang="ko-KR" altLang="ko-KR" sz="900" dirty="0"/>
              <a:t>YOLO 탐지 + 경량 칼만 필터 기반 추적 파이프라인 </a:t>
            </a:r>
            <a:r>
              <a:rPr lang="ko-KR" altLang="ko-KR" sz="900" dirty="0" err="1"/>
              <a:t>설계·구현</a:t>
            </a:r>
            <a:r>
              <a:rPr lang="ko-KR" altLang="en-US" sz="900" dirty="0" err="1"/>
              <a:t>으로</a:t>
            </a:r>
            <a:r>
              <a:rPr lang="en-US" altLang="ko-KR" sz="900" dirty="0"/>
              <a:t> </a:t>
            </a:r>
            <a:r>
              <a:rPr lang="ko-KR" altLang="en-US" sz="900" dirty="0"/>
              <a:t>정확도 및 추론 속도 상승</a:t>
            </a:r>
            <a:r>
              <a:rPr lang="ko-KR" altLang="ko-KR" sz="900" dirty="0"/>
              <a:t> </a:t>
            </a:r>
            <a:r>
              <a:rPr lang="en-US" altLang="ko-KR" sz="900" dirty="0"/>
              <a:t> </a:t>
            </a:r>
            <a:r>
              <a:rPr lang="ko-KR" altLang="ko-KR" sz="900" dirty="0"/>
              <a:t>(</a:t>
            </a:r>
            <a:r>
              <a:rPr lang="ko-KR" altLang="ko-KR" sz="900" dirty="0" err="1"/>
              <a:t>임베딩·CMC</a:t>
            </a:r>
            <a:r>
              <a:rPr lang="ko-KR" altLang="ko-KR" sz="900" dirty="0"/>
              <a:t> 미사용) </a:t>
            </a:r>
            <a:endParaRPr lang="en-US" altLang="ko-KR" sz="900" dirty="0"/>
          </a:p>
          <a:p>
            <a:pPr lvl="0">
              <a:lnSpc>
                <a:spcPct val="150000"/>
              </a:lnSpc>
            </a:pPr>
            <a:r>
              <a:rPr lang="ko-KR" altLang="ko-KR" sz="900" dirty="0">
                <a:solidFill>
                  <a:schemeClr val="dk1"/>
                </a:solidFill>
                <a:latin typeface="Calibri"/>
                <a:ea typeface="Calibri"/>
                <a:cs typeface="Calibri"/>
                <a:sym typeface="Calibri"/>
              </a:rPr>
              <a:t> - </a:t>
            </a:r>
            <a:r>
              <a:rPr lang="ko-KR" altLang="ko-KR" sz="900" dirty="0"/>
              <a:t>3단계 협조적 데이터 연결: </a:t>
            </a:r>
            <a:r>
              <a:rPr lang="ko-KR" altLang="ko-KR" sz="900" dirty="0" err="1"/>
              <a:t>마할라노비스</a:t>
            </a:r>
            <a:r>
              <a:rPr lang="ko-KR" altLang="ko-KR" sz="900" dirty="0"/>
              <a:t>(불확실성) → </a:t>
            </a:r>
            <a:r>
              <a:rPr lang="ko-KR" altLang="ko-KR" sz="900" dirty="0" err="1"/>
              <a:t>IoU</a:t>
            </a:r>
            <a:r>
              <a:rPr lang="ko-KR" altLang="ko-KR" sz="900" dirty="0"/>
              <a:t> </a:t>
            </a:r>
            <a:r>
              <a:rPr lang="ko-KR" altLang="ko-KR" sz="900" dirty="0" err="1"/>
              <a:t>폴백</a:t>
            </a:r>
            <a:r>
              <a:rPr lang="ko-KR" altLang="ko-KR" sz="900" dirty="0"/>
              <a:t>(중복 제거) </a:t>
            </a:r>
            <a:endParaRPr lang="en-US" altLang="ko-KR" sz="900" dirty="0"/>
          </a:p>
          <a:p>
            <a:pPr lvl="0">
              <a:lnSpc>
                <a:spcPct val="150000"/>
              </a:lnSpc>
            </a:pPr>
            <a:r>
              <a:rPr lang="en-US" altLang="ko-KR" sz="900" dirty="0"/>
              <a:t>                                                                                  </a:t>
            </a:r>
            <a:r>
              <a:rPr lang="ko-KR" altLang="ko-KR" sz="900" dirty="0"/>
              <a:t>→ 모션 </a:t>
            </a:r>
            <a:r>
              <a:rPr lang="ko-KR" altLang="ko-KR" sz="900" dirty="0" err="1"/>
              <a:t>Re</a:t>
            </a:r>
            <a:r>
              <a:rPr lang="ko-KR" altLang="ko-KR" sz="900" dirty="0"/>
              <a:t>-ID(장기 기억) </a:t>
            </a:r>
            <a:br>
              <a:rPr lang="en-US" altLang="ko-KR" sz="900" dirty="0"/>
            </a:br>
            <a:r>
              <a:rPr lang="en-US" altLang="ko-KR" sz="900" dirty="0"/>
              <a:t>  </a:t>
            </a:r>
            <a:r>
              <a:rPr lang="ko-KR" altLang="ko-KR" sz="900" dirty="0">
                <a:solidFill>
                  <a:schemeClr val="dk1"/>
                </a:solidFill>
                <a:latin typeface="Calibri"/>
                <a:ea typeface="Calibri"/>
                <a:cs typeface="Calibri"/>
                <a:sym typeface="Calibri"/>
              </a:rPr>
              <a:t> - </a:t>
            </a:r>
            <a:r>
              <a:rPr lang="ko-KR" altLang="ko-KR" sz="900" dirty="0"/>
              <a:t>고스트(예측) 트랙 중복 표시 제거로 동일 객체의 ID 이중 표기 방</a:t>
            </a:r>
            <a:r>
              <a:rPr lang="ko-KR" altLang="en-US" sz="900" dirty="0"/>
              <a:t>지</a:t>
            </a:r>
            <a:endParaRPr lang="en-US" altLang="ko-KR" sz="900" dirty="0"/>
          </a:p>
          <a:p>
            <a:pPr lvl="0">
              <a:lnSpc>
                <a:spcPct val="150000"/>
              </a:lnSpc>
            </a:pPr>
            <a:r>
              <a:rPr lang="ko-KR" sz="1000" b="1" dirty="0">
                <a:solidFill>
                  <a:schemeClr val="dk1"/>
                </a:solidFill>
                <a:latin typeface="Calibri"/>
                <a:ea typeface="Calibri"/>
                <a:cs typeface="Calibri"/>
                <a:sym typeface="Calibri"/>
              </a:rPr>
              <a:t>2. </a:t>
            </a:r>
            <a:r>
              <a:rPr lang="ko-KR" altLang="en-US" sz="1000" b="1" dirty="0">
                <a:solidFill>
                  <a:schemeClr val="dk1"/>
                </a:solidFill>
                <a:latin typeface="Calibri"/>
                <a:ea typeface="Calibri"/>
                <a:cs typeface="Calibri"/>
                <a:sym typeface="Calibri"/>
              </a:rPr>
              <a:t>추적 안정화 알고리즘 개발 </a:t>
            </a:r>
            <a:r>
              <a:rPr lang="en-US" altLang="ko-KR" sz="1000" b="1" dirty="0">
                <a:solidFill>
                  <a:schemeClr val="dk1"/>
                </a:solidFill>
                <a:latin typeface="Calibri"/>
                <a:ea typeface="Calibri"/>
                <a:cs typeface="Calibri"/>
                <a:sym typeface="Calibri"/>
              </a:rPr>
              <a:t>(</a:t>
            </a:r>
            <a:r>
              <a:rPr lang="ko-KR" altLang="en-US" sz="1000" b="1" dirty="0">
                <a:solidFill>
                  <a:schemeClr val="dk1"/>
                </a:solidFill>
                <a:latin typeface="Calibri"/>
                <a:ea typeface="Calibri"/>
                <a:cs typeface="Calibri"/>
                <a:sym typeface="Calibri"/>
              </a:rPr>
              <a:t>특허 출원</a:t>
            </a:r>
            <a:r>
              <a:rPr lang="en-US" altLang="ko-KR" sz="1000" b="1" dirty="0">
                <a:solidFill>
                  <a:schemeClr val="dk1"/>
                </a:solidFill>
                <a:latin typeface="Calibri"/>
                <a:ea typeface="Calibri"/>
                <a:cs typeface="Calibri"/>
                <a:sym typeface="Calibri"/>
              </a:rPr>
              <a:t>)</a:t>
            </a:r>
            <a:r>
              <a:rPr lang="en-US" altLang="ko-KR" sz="900" dirty="0">
                <a:solidFill>
                  <a:schemeClr val="dk1"/>
                </a:solidFill>
                <a:latin typeface="Calibri"/>
                <a:ea typeface="Calibri"/>
                <a:cs typeface="Calibri"/>
                <a:sym typeface="Calibri"/>
              </a:rPr>
              <a:t>   </a:t>
            </a:r>
          </a:p>
          <a:p>
            <a:pPr lvl="0">
              <a:lnSpc>
                <a:spcPct val="150000"/>
              </a:lnSpc>
            </a:pPr>
            <a:r>
              <a:rPr lang="en-US" altLang="ko-KR" sz="900" dirty="0">
                <a:solidFill>
                  <a:schemeClr val="dk1"/>
                </a:solidFill>
                <a:latin typeface="Calibri"/>
                <a:ea typeface="Calibri"/>
                <a:cs typeface="Calibri"/>
                <a:sym typeface="Calibri"/>
              </a:rPr>
              <a:t>     </a:t>
            </a:r>
            <a:r>
              <a:rPr 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라벨</a:t>
            </a:r>
            <a:r>
              <a:rPr lang="en-US" altLang="ko-KR" sz="900" dirty="0">
                <a:solidFill>
                  <a:schemeClr val="dk1"/>
                </a:solidFill>
                <a:latin typeface="Calibri"/>
                <a:ea typeface="Calibri"/>
                <a:cs typeface="Calibri"/>
                <a:sym typeface="Calibri"/>
              </a:rPr>
              <a:t>–</a:t>
            </a:r>
            <a:r>
              <a:rPr lang="ko-KR" altLang="en-US" sz="900" dirty="0">
                <a:solidFill>
                  <a:schemeClr val="dk1"/>
                </a:solidFill>
                <a:latin typeface="Calibri"/>
                <a:ea typeface="Calibri"/>
                <a:cs typeface="Calibri"/>
                <a:sym typeface="Calibri"/>
              </a:rPr>
              <a:t>모션 결합형 추적</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클래스 라벨을 매칭 비용에 반영 </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다수결 후 라벨 </a:t>
            </a:r>
            <a:endParaRPr lang="en-US" altLang="ko-KR" sz="900" dirty="0">
              <a:solidFill>
                <a:schemeClr val="dk1"/>
              </a:solidFill>
              <a:latin typeface="Calibri"/>
              <a:ea typeface="Calibri"/>
              <a:cs typeface="Calibri"/>
              <a:sym typeface="Calibri"/>
            </a:endParaRPr>
          </a:p>
          <a:p>
            <a:pPr lvl="0">
              <a:lnSpc>
                <a:spcPct val="150000"/>
              </a:lnSpc>
            </a:pP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고정으로 </a:t>
            </a:r>
            <a:r>
              <a:rPr lang="en-US" altLang="ko-KR" sz="900" dirty="0">
                <a:solidFill>
                  <a:schemeClr val="dk1"/>
                </a:solidFill>
                <a:latin typeface="Calibri"/>
                <a:ea typeface="Calibri"/>
                <a:cs typeface="Calibri"/>
                <a:sym typeface="Calibri"/>
              </a:rPr>
              <a:t>flickering </a:t>
            </a:r>
            <a:r>
              <a:rPr lang="ko-KR" altLang="en-US" sz="900" dirty="0">
                <a:solidFill>
                  <a:schemeClr val="dk1"/>
                </a:solidFill>
                <a:latin typeface="Calibri"/>
                <a:ea typeface="Calibri"/>
                <a:cs typeface="Calibri"/>
                <a:sym typeface="Calibri"/>
              </a:rPr>
              <a:t>억제</a:t>
            </a:r>
            <a:endParaRPr lang="en-US" altLang="ko-KR" sz="900" dirty="0">
              <a:solidFill>
                <a:schemeClr val="dk1"/>
              </a:solidFill>
              <a:latin typeface="Calibri"/>
              <a:ea typeface="Calibri"/>
              <a:cs typeface="Calibri"/>
              <a:sym typeface="Calibri"/>
            </a:endParaRPr>
          </a:p>
          <a:p>
            <a:pPr lvl="0">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프레임 인지 최소자승 회귀 속도 재정의 → 칼만 상태 역주입으로 </a:t>
            </a:r>
            <a:r>
              <a:rPr lang="en-US" altLang="ko-KR" sz="900" dirty="0">
                <a:solidFill>
                  <a:schemeClr val="dk1"/>
                </a:solidFill>
                <a:latin typeface="Calibri"/>
                <a:ea typeface="Calibri"/>
                <a:cs typeface="Calibri"/>
                <a:sym typeface="Calibri"/>
              </a:rPr>
              <a:t>velocity blow</a:t>
            </a:r>
          </a:p>
          <a:p>
            <a:pPr lvl="0">
              <a:lnSpc>
                <a:spcPct val="150000"/>
              </a:lnSpc>
            </a:pPr>
            <a:r>
              <a:rPr lang="en-US" altLang="ko-KR" sz="900" dirty="0">
                <a:solidFill>
                  <a:schemeClr val="dk1"/>
                </a:solidFill>
                <a:latin typeface="Calibri"/>
                <a:ea typeface="Calibri"/>
                <a:cs typeface="Calibri"/>
                <a:sym typeface="Calibri"/>
              </a:rPr>
              <a:t>     - up </a:t>
            </a:r>
            <a:r>
              <a:rPr lang="ko-KR" altLang="en-US" sz="900" dirty="0" err="1">
                <a:solidFill>
                  <a:schemeClr val="dk1"/>
                </a:solidFill>
                <a:latin typeface="Calibri"/>
                <a:ea typeface="Calibri"/>
                <a:cs typeface="Calibri"/>
                <a:sym typeface="Calibri"/>
              </a:rPr>
              <a:t>차단감쇠</a:t>
            </a:r>
            <a:r>
              <a:rPr lang="ko-KR" altLang="en-US" sz="900" dirty="0">
                <a:solidFill>
                  <a:schemeClr val="dk1"/>
                </a:solidFill>
                <a:latin typeface="Calibri"/>
                <a:ea typeface="Calibri"/>
                <a:cs typeface="Calibri"/>
                <a:sym typeface="Calibri"/>
              </a:rPr>
              <a:t> </a:t>
            </a:r>
            <a:r>
              <a:rPr lang="ko-KR" altLang="en-US" sz="900" dirty="0" err="1">
                <a:solidFill>
                  <a:schemeClr val="dk1"/>
                </a:solidFill>
                <a:latin typeface="Calibri"/>
                <a:ea typeface="Calibri"/>
                <a:cs typeface="Calibri"/>
                <a:sym typeface="Calibri"/>
              </a:rPr>
              <a:t>외삽</a:t>
            </a:r>
            <a:r>
              <a:rPr lang="en-US" altLang="ko-KR" sz="900" dirty="0">
                <a:solidFill>
                  <a:schemeClr val="dk1"/>
                </a:solidFill>
                <a:latin typeface="Calibri"/>
                <a:ea typeface="Calibri"/>
                <a:cs typeface="Calibri"/>
                <a:sym typeface="Calibri"/>
              </a:rPr>
              <a:t>(γ) </a:t>
            </a:r>
            <a:r>
              <a:rPr lang="ko-KR" altLang="en-US" sz="900" dirty="0">
                <a:solidFill>
                  <a:schemeClr val="dk1"/>
                </a:solidFill>
                <a:latin typeface="Calibri"/>
                <a:ea typeface="Calibri"/>
                <a:cs typeface="Calibri"/>
                <a:sym typeface="Calibri"/>
              </a:rPr>
              <a:t>상태전이 </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불확실성 적응형 게이트로 방향전환</a:t>
            </a:r>
            <a:r>
              <a:rPr lang="en-US" altLang="ko-KR" sz="900" dirty="0">
                <a:solidFill>
                  <a:schemeClr val="dk1"/>
                </a:solidFill>
                <a:latin typeface="Calibri"/>
                <a:ea typeface="Calibri"/>
                <a:cs typeface="Calibri"/>
                <a:sym typeface="Calibri"/>
              </a:rPr>
              <a:t>·</a:t>
            </a:r>
            <a:r>
              <a:rPr lang="ko-KR" altLang="en-US" sz="900" dirty="0" err="1">
                <a:solidFill>
                  <a:schemeClr val="dk1"/>
                </a:solidFill>
                <a:latin typeface="Calibri"/>
                <a:ea typeface="Calibri"/>
                <a:cs typeface="Calibri"/>
                <a:sym typeface="Calibri"/>
              </a:rPr>
              <a:t>미검출</a:t>
            </a:r>
            <a:r>
              <a:rPr lang="ko-KR" altLang="en-US" sz="900" dirty="0">
                <a:solidFill>
                  <a:schemeClr val="dk1"/>
                </a:solidFill>
                <a:latin typeface="Calibri"/>
                <a:ea typeface="Calibri"/>
                <a:cs typeface="Calibri"/>
                <a:sym typeface="Calibri"/>
              </a:rPr>
              <a:t>  </a:t>
            </a:r>
            <a:endParaRPr lang="en-US" altLang="ko-KR" sz="900" dirty="0">
              <a:solidFill>
                <a:schemeClr val="dk1"/>
              </a:solidFill>
              <a:latin typeface="Calibri"/>
              <a:ea typeface="Calibri"/>
              <a:cs typeface="Calibri"/>
              <a:sym typeface="Calibri"/>
            </a:endParaRPr>
          </a:p>
          <a:p>
            <a:pPr lvl="0">
              <a:lnSpc>
                <a:spcPct val="150000"/>
              </a:lnSpc>
            </a:pP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구간 </a:t>
            </a:r>
            <a:r>
              <a:rPr lang="en-US" altLang="ko-KR" sz="900" dirty="0">
                <a:solidFill>
                  <a:schemeClr val="dk1"/>
                </a:solidFill>
                <a:latin typeface="Calibri"/>
                <a:ea typeface="Calibri"/>
                <a:cs typeface="Calibri"/>
                <a:sym typeface="Calibri"/>
              </a:rPr>
              <a:t>ID </a:t>
            </a:r>
            <a:r>
              <a:rPr lang="ko-KR" altLang="en-US" sz="900" dirty="0">
                <a:solidFill>
                  <a:schemeClr val="dk1"/>
                </a:solidFill>
                <a:latin typeface="Calibri"/>
                <a:ea typeface="Calibri"/>
                <a:cs typeface="Calibri"/>
                <a:sym typeface="Calibri"/>
              </a:rPr>
              <a:t>지속성 향상</a:t>
            </a:r>
            <a:endParaRPr lang="en-US" altLang="ko-KR" sz="900" dirty="0">
              <a:solidFill>
                <a:schemeClr val="dk1"/>
              </a:solidFill>
              <a:latin typeface="Calibri"/>
              <a:ea typeface="Calibri"/>
              <a:cs typeface="Calibri"/>
              <a:sym typeface="Calibri"/>
            </a:endParaRPr>
          </a:p>
          <a:p>
            <a:pPr lvl="0">
              <a:lnSpc>
                <a:spcPct val="150000"/>
              </a:lnSpc>
            </a:pPr>
            <a:r>
              <a:rPr lang="en-US" altLang="ko-KR" sz="900" b="1" dirty="0">
                <a:solidFill>
                  <a:schemeClr val="dk1"/>
                </a:solidFill>
                <a:latin typeface="Calibri"/>
                <a:ea typeface="Calibri"/>
                <a:cs typeface="Calibri"/>
                <a:sym typeface="Calibri"/>
              </a:rPr>
              <a:t>3</a:t>
            </a:r>
            <a:r>
              <a:rPr lang="ko-KR" altLang="ko-KR" sz="900" b="1" dirty="0">
                <a:solidFill>
                  <a:schemeClr val="dk1"/>
                </a:solidFill>
                <a:latin typeface="Calibri"/>
                <a:ea typeface="Calibri"/>
                <a:cs typeface="Calibri"/>
                <a:sym typeface="Calibri"/>
              </a:rPr>
              <a:t>. </a:t>
            </a:r>
            <a:r>
              <a:rPr lang="ko-KR" altLang="en-US" sz="900" b="1" dirty="0" err="1">
                <a:solidFill>
                  <a:schemeClr val="dk1"/>
                </a:solidFill>
                <a:latin typeface="Calibri"/>
                <a:ea typeface="Calibri"/>
                <a:cs typeface="Calibri"/>
                <a:sym typeface="Calibri"/>
              </a:rPr>
              <a:t>전처리</a:t>
            </a:r>
            <a:r>
              <a:rPr lang="ko-KR" altLang="en-US" sz="900" b="1" dirty="0">
                <a:solidFill>
                  <a:schemeClr val="dk1"/>
                </a:solidFill>
                <a:latin typeface="Calibri"/>
                <a:ea typeface="Calibri"/>
                <a:cs typeface="Calibri"/>
                <a:sym typeface="Calibri"/>
              </a:rPr>
              <a:t> 및 운용 최적화</a:t>
            </a:r>
            <a:endParaRPr lang="en-US" altLang="ko-KR" sz="900" b="1" dirty="0">
              <a:solidFill>
                <a:schemeClr val="dk1"/>
              </a:solidFill>
              <a:latin typeface="Calibri"/>
              <a:ea typeface="Calibri"/>
              <a:cs typeface="Calibri"/>
              <a:sym typeface="Calibri"/>
            </a:endParaRPr>
          </a:p>
          <a:p>
            <a:pPr lvl="0">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a:t>
            </a:r>
            <a:r>
              <a:rPr lang="ko-KR" altLang="ko-KR" sz="900" dirty="0"/>
              <a:t>밝기 적응 </a:t>
            </a:r>
            <a:r>
              <a:rPr lang="ko-KR" altLang="ko-KR" sz="900" dirty="0" err="1"/>
              <a:t>전처리</a:t>
            </a:r>
            <a:r>
              <a:rPr lang="ko-KR" altLang="ko-KR" sz="900" dirty="0"/>
              <a:t>(저조도/안개 자동 선택)로 악조건 영상 </a:t>
            </a:r>
            <a:r>
              <a:rPr lang="ko-KR" altLang="ko-KR" sz="900" dirty="0" err="1"/>
              <a:t>탐지율</a:t>
            </a:r>
            <a:r>
              <a:rPr lang="ko-KR" altLang="ko-KR" sz="900" dirty="0"/>
              <a:t> 보완</a:t>
            </a:r>
            <a:endParaRPr lang="en-US" altLang="ko-KR" sz="900" dirty="0"/>
          </a:p>
          <a:p>
            <a:pPr lvl="0">
              <a:lnSpc>
                <a:spcPct val="150000"/>
              </a:lnSpc>
            </a:pPr>
            <a:r>
              <a:rPr lang="en-US" altLang="ko-KR" sz="900" dirty="0">
                <a:solidFill>
                  <a:schemeClr val="dk1"/>
                </a:solidFill>
                <a:latin typeface="Calibri"/>
                <a:ea typeface="Calibri"/>
                <a:cs typeface="Calibri"/>
                <a:sym typeface="Calibri"/>
              </a:rPr>
              <a:t>    - </a:t>
            </a:r>
            <a:r>
              <a:rPr lang="en-US" altLang="ko-KR" sz="900" dirty="0" err="1">
                <a:solidFill>
                  <a:schemeClr val="dk1"/>
                </a:solidFill>
                <a:latin typeface="Calibri"/>
                <a:ea typeface="Calibri"/>
                <a:cs typeface="Calibri"/>
                <a:sym typeface="Calibri"/>
              </a:rPr>
              <a:t>TensorRT</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최적화로 실시간</a:t>
            </a:r>
            <a:r>
              <a:rPr lang="en-US" altLang="ko-KR" sz="900" dirty="0">
                <a:solidFill>
                  <a:schemeClr val="dk1"/>
                </a:solidFill>
                <a:latin typeface="Calibri"/>
                <a:ea typeface="Calibri"/>
                <a:cs typeface="Calibri"/>
                <a:sym typeface="Calibri"/>
              </a:rPr>
              <a:t>(</a:t>
            </a:r>
            <a:r>
              <a:rPr lang="ko-KR" altLang="en-US" sz="900" dirty="0" err="1">
                <a:solidFill>
                  <a:schemeClr val="dk1"/>
                </a:solidFill>
                <a:latin typeface="Calibri"/>
                <a:ea typeface="Calibri"/>
                <a:cs typeface="Calibri"/>
                <a:sym typeface="Calibri"/>
              </a:rPr>
              <a:t>엣지</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추론 확보</a:t>
            </a:r>
            <a:r>
              <a:rPr lang="en-US" altLang="ko-KR" sz="900" dirty="0">
                <a:solidFill>
                  <a:schemeClr val="dk1"/>
                </a:solidFill>
                <a:latin typeface="Calibri"/>
                <a:ea typeface="Calibri"/>
                <a:cs typeface="Calibri"/>
                <a:sym typeface="Calibri"/>
              </a:rPr>
              <a:t>   </a:t>
            </a:r>
          </a:p>
          <a:p>
            <a:pPr lvl="0">
              <a:lnSpc>
                <a:spcPct val="150000"/>
              </a:lnSpc>
            </a:pPr>
            <a:r>
              <a:rPr lang="en-US" altLang="ko-KR" sz="900" dirty="0">
                <a:solidFill>
                  <a:schemeClr val="dk1"/>
                </a:solidFill>
                <a:latin typeface="Calibri"/>
                <a:ea typeface="Calibri"/>
                <a:cs typeface="Calibri"/>
                <a:sym typeface="Calibri"/>
              </a:rPr>
              <a:t>    - </a:t>
            </a:r>
            <a:r>
              <a:rPr lang="en-US" altLang="ko-KR" sz="900" dirty="0" err="1">
                <a:solidFill>
                  <a:schemeClr val="dk1"/>
                </a:solidFill>
                <a:latin typeface="Calibri"/>
                <a:ea typeface="Calibri"/>
                <a:cs typeface="Calibri"/>
                <a:sym typeface="Calibri"/>
              </a:rPr>
              <a:t>FastAPI</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런타임 튜닝 </a:t>
            </a:r>
            <a:r>
              <a:rPr lang="en-US" altLang="ko-KR" sz="900" dirty="0">
                <a:solidFill>
                  <a:schemeClr val="dk1"/>
                </a:solidFill>
                <a:latin typeface="Calibri"/>
                <a:ea typeface="Calibri"/>
                <a:cs typeface="Calibri"/>
                <a:sym typeface="Calibri"/>
              </a:rPr>
              <a:t>API</a:t>
            </a:r>
            <a:r>
              <a:rPr lang="ko-KR" altLang="en-US" sz="900" dirty="0">
                <a:solidFill>
                  <a:schemeClr val="dk1"/>
                </a:solidFill>
                <a:latin typeface="Calibri"/>
                <a:ea typeface="Calibri"/>
                <a:cs typeface="Calibri"/>
                <a:sym typeface="Calibri"/>
              </a:rPr>
              <a:t>로 서버 재시작 없이 카메라 거리</a:t>
            </a:r>
            <a:r>
              <a:rPr lang="en-US" altLang="ko-KR" sz="900" dirty="0">
                <a:solidFill>
                  <a:schemeClr val="dk1"/>
                </a:solidFill>
                <a:latin typeface="Calibri"/>
                <a:ea typeface="Calibri"/>
                <a:cs typeface="Calibri"/>
                <a:sym typeface="Calibri"/>
              </a:rPr>
              <a:t>·FPS·</a:t>
            </a:r>
            <a:r>
              <a:rPr lang="ko-KR" altLang="en-US" sz="900" dirty="0">
                <a:solidFill>
                  <a:schemeClr val="dk1"/>
                </a:solidFill>
                <a:latin typeface="Calibri"/>
                <a:ea typeface="Calibri"/>
                <a:cs typeface="Calibri"/>
                <a:sym typeface="Calibri"/>
              </a:rPr>
              <a:t>해상도별 </a:t>
            </a:r>
            <a:br>
              <a:rPr lang="en-US" altLang="ko-KR" sz="900" dirty="0">
                <a:solidFill>
                  <a:schemeClr val="dk1"/>
                </a:solidFill>
                <a:latin typeface="Calibri"/>
                <a:ea typeface="Calibri"/>
                <a:cs typeface="Calibri"/>
                <a:sym typeface="Calibri"/>
              </a:rPr>
            </a:b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파라미터 실시간 조정</a:t>
            </a:r>
            <a:endParaRPr lang="en-US" altLang="ko-KR" sz="900" dirty="0">
              <a:solidFill>
                <a:schemeClr val="dk1"/>
              </a:solidFill>
              <a:latin typeface="Calibri"/>
              <a:ea typeface="Calibri"/>
              <a:cs typeface="Calibri"/>
              <a:sym typeface="Calibri"/>
            </a:endParaRPr>
          </a:p>
        </p:txBody>
      </p:sp>
      <p:pic>
        <p:nvPicPr>
          <p:cNvPr id="3" name="그림 2">
            <a:extLst>
              <a:ext uri="{FF2B5EF4-FFF2-40B4-BE49-F238E27FC236}">
                <a16:creationId xmlns:a16="http://schemas.microsoft.com/office/drawing/2014/main" id="{EE64956A-2CA3-0E8D-8D0B-D44EE7A66F8E}"/>
              </a:ext>
            </a:extLst>
          </p:cNvPr>
          <p:cNvPicPr>
            <a:picLocks noChangeAspect="1"/>
          </p:cNvPicPr>
          <p:nvPr/>
        </p:nvPicPr>
        <p:blipFill>
          <a:blip r:embed="rId3"/>
          <a:stretch>
            <a:fillRect/>
          </a:stretch>
        </p:blipFill>
        <p:spPr>
          <a:xfrm>
            <a:off x="5559287" y="3660424"/>
            <a:ext cx="2618070" cy="3224224"/>
          </a:xfrm>
          <a:prstGeom prst="rect">
            <a:avLst/>
          </a:prstGeom>
        </p:spPr>
      </p:pic>
      <p:pic>
        <p:nvPicPr>
          <p:cNvPr id="5" name="그림 4">
            <a:extLst>
              <a:ext uri="{FF2B5EF4-FFF2-40B4-BE49-F238E27FC236}">
                <a16:creationId xmlns:a16="http://schemas.microsoft.com/office/drawing/2014/main" id="{C7B5E3C3-95F6-B2BC-8611-0960CA5E244B}"/>
              </a:ext>
            </a:extLst>
          </p:cNvPr>
          <p:cNvPicPr>
            <a:picLocks noChangeAspect="1"/>
          </p:cNvPicPr>
          <p:nvPr/>
        </p:nvPicPr>
        <p:blipFill>
          <a:blip r:embed="rId4"/>
          <a:stretch>
            <a:fillRect/>
          </a:stretch>
        </p:blipFill>
        <p:spPr>
          <a:xfrm>
            <a:off x="13088575" y="2266097"/>
            <a:ext cx="3637325" cy="2412352"/>
          </a:xfrm>
          <a:prstGeom prst="rect">
            <a:avLst/>
          </a:prstGeom>
        </p:spPr>
      </p:pic>
      <p:pic>
        <p:nvPicPr>
          <p:cNvPr id="8" name="그림 7">
            <a:extLst>
              <a:ext uri="{FF2B5EF4-FFF2-40B4-BE49-F238E27FC236}">
                <a16:creationId xmlns:a16="http://schemas.microsoft.com/office/drawing/2014/main" id="{9095417E-8DE0-1EE7-B708-D2E5AC137349}"/>
              </a:ext>
            </a:extLst>
          </p:cNvPr>
          <p:cNvPicPr>
            <a:picLocks noChangeAspect="1"/>
          </p:cNvPicPr>
          <p:nvPr/>
        </p:nvPicPr>
        <p:blipFill>
          <a:blip r:embed="rId5"/>
          <a:stretch>
            <a:fillRect/>
          </a:stretch>
        </p:blipFill>
        <p:spPr>
          <a:xfrm>
            <a:off x="9294437" y="2253419"/>
            <a:ext cx="3619260" cy="2431212"/>
          </a:xfrm>
          <a:prstGeom prst="rect">
            <a:avLst/>
          </a:prstGeom>
        </p:spPr>
      </p:pic>
      <p:pic>
        <p:nvPicPr>
          <p:cNvPr id="10" name="그림 9">
            <a:extLst>
              <a:ext uri="{FF2B5EF4-FFF2-40B4-BE49-F238E27FC236}">
                <a16:creationId xmlns:a16="http://schemas.microsoft.com/office/drawing/2014/main" id="{1CDAA50D-EE91-ECA8-E93D-9F1A2EB9BEBF}"/>
              </a:ext>
            </a:extLst>
          </p:cNvPr>
          <p:cNvPicPr>
            <a:picLocks noChangeAspect="1"/>
          </p:cNvPicPr>
          <p:nvPr/>
        </p:nvPicPr>
        <p:blipFill>
          <a:blip r:embed="rId6"/>
          <a:stretch>
            <a:fillRect/>
          </a:stretch>
        </p:blipFill>
        <p:spPr>
          <a:xfrm>
            <a:off x="982853" y="5498979"/>
            <a:ext cx="2275847" cy="1305434"/>
          </a:xfrm>
          <a:prstGeom prst="rect">
            <a:avLst/>
          </a:prstGeom>
        </p:spPr>
      </p:pic>
      <p:pic>
        <p:nvPicPr>
          <p:cNvPr id="14" name="그림 13">
            <a:extLst>
              <a:ext uri="{FF2B5EF4-FFF2-40B4-BE49-F238E27FC236}">
                <a16:creationId xmlns:a16="http://schemas.microsoft.com/office/drawing/2014/main" id="{36D0CF8B-09CA-446B-2593-6EB79E9A33D6}"/>
              </a:ext>
            </a:extLst>
          </p:cNvPr>
          <p:cNvPicPr>
            <a:picLocks noChangeAspect="1"/>
          </p:cNvPicPr>
          <p:nvPr/>
        </p:nvPicPr>
        <p:blipFill>
          <a:blip r:embed="rId7"/>
          <a:stretch>
            <a:fillRect/>
          </a:stretch>
        </p:blipFill>
        <p:spPr>
          <a:xfrm>
            <a:off x="2596716" y="5956993"/>
            <a:ext cx="2273922" cy="1290031"/>
          </a:xfrm>
          <a:prstGeom prst="rect">
            <a:avLst/>
          </a:prstGeom>
        </p:spPr>
      </p:pic>
      <p:pic>
        <p:nvPicPr>
          <p:cNvPr id="17" name="그림 16">
            <a:extLst>
              <a:ext uri="{FF2B5EF4-FFF2-40B4-BE49-F238E27FC236}">
                <a16:creationId xmlns:a16="http://schemas.microsoft.com/office/drawing/2014/main" id="{DF150076-AB3A-E464-56CD-D8BE770C5425}"/>
              </a:ext>
            </a:extLst>
          </p:cNvPr>
          <p:cNvPicPr>
            <a:picLocks noChangeAspect="1"/>
          </p:cNvPicPr>
          <p:nvPr/>
        </p:nvPicPr>
        <p:blipFill>
          <a:blip r:embed="rId8"/>
          <a:srcRect r="20203"/>
          <a:stretch>
            <a:fillRect/>
          </a:stretch>
        </p:blipFill>
        <p:spPr>
          <a:xfrm>
            <a:off x="13147840" y="7200570"/>
            <a:ext cx="1715879" cy="1054954"/>
          </a:xfrm>
          <a:prstGeom prst="rect">
            <a:avLst/>
          </a:prstGeom>
        </p:spPr>
      </p:pic>
      <p:pic>
        <p:nvPicPr>
          <p:cNvPr id="13" name="그림 12">
            <a:extLst>
              <a:ext uri="{FF2B5EF4-FFF2-40B4-BE49-F238E27FC236}">
                <a16:creationId xmlns:a16="http://schemas.microsoft.com/office/drawing/2014/main" id="{3EF0B9CC-A1C8-6B5E-7BF2-FD26D6833EED}"/>
              </a:ext>
            </a:extLst>
          </p:cNvPr>
          <p:cNvPicPr>
            <a:picLocks noChangeAspect="1"/>
          </p:cNvPicPr>
          <p:nvPr/>
        </p:nvPicPr>
        <p:blipFill>
          <a:blip r:embed="rId9"/>
          <a:stretch>
            <a:fillRect/>
          </a:stretch>
        </p:blipFill>
        <p:spPr>
          <a:xfrm>
            <a:off x="9224686" y="5563386"/>
            <a:ext cx="1921097" cy="1020953"/>
          </a:xfrm>
          <a:prstGeom prst="rect">
            <a:avLst/>
          </a:prstGeom>
        </p:spPr>
      </p:pic>
      <p:pic>
        <p:nvPicPr>
          <p:cNvPr id="23" name="그림 22">
            <a:extLst>
              <a:ext uri="{FF2B5EF4-FFF2-40B4-BE49-F238E27FC236}">
                <a16:creationId xmlns:a16="http://schemas.microsoft.com/office/drawing/2014/main" id="{9BA4C330-7096-CE5E-AB46-5B78FCD0E8A8}"/>
              </a:ext>
            </a:extLst>
          </p:cNvPr>
          <p:cNvPicPr>
            <a:picLocks noChangeAspect="1"/>
          </p:cNvPicPr>
          <p:nvPr/>
        </p:nvPicPr>
        <p:blipFill>
          <a:blip r:embed="rId10"/>
          <a:stretch>
            <a:fillRect/>
          </a:stretch>
        </p:blipFill>
        <p:spPr>
          <a:xfrm>
            <a:off x="12087050" y="5391269"/>
            <a:ext cx="1918730" cy="1660530"/>
          </a:xfrm>
          <a:prstGeom prst="rect">
            <a:avLst/>
          </a:prstGeom>
        </p:spPr>
      </p:pic>
      <p:pic>
        <p:nvPicPr>
          <p:cNvPr id="21" name="그림 20">
            <a:extLst>
              <a:ext uri="{FF2B5EF4-FFF2-40B4-BE49-F238E27FC236}">
                <a16:creationId xmlns:a16="http://schemas.microsoft.com/office/drawing/2014/main" id="{86C4F0B1-87C9-CF34-AF5D-5D9169BB53BD}"/>
              </a:ext>
            </a:extLst>
          </p:cNvPr>
          <p:cNvPicPr>
            <a:picLocks noChangeAspect="1"/>
          </p:cNvPicPr>
          <p:nvPr/>
        </p:nvPicPr>
        <p:blipFill>
          <a:blip r:embed="rId11"/>
          <a:stretch>
            <a:fillRect/>
          </a:stretch>
        </p:blipFill>
        <p:spPr>
          <a:xfrm>
            <a:off x="14556683" y="5460238"/>
            <a:ext cx="1911623" cy="1617892"/>
          </a:xfrm>
          <a:prstGeom prst="rect">
            <a:avLst/>
          </a:prstGeom>
        </p:spPr>
      </p:pic>
      <p:pic>
        <p:nvPicPr>
          <p:cNvPr id="19" name="그림 18">
            <a:extLst>
              <a:ext uri="{FF2B5EF4-FFF2-40B4-BE49-F238E27FC236}">
                <a16:creationId xmlns:a16="http://schemas.microsoft.com/office/drawing/2014/main" id="{423FB5EA-ABDF-6CE1-524C-BCD3771D0B02}"/>
              </a:ext>
            </a:extLst>
          </p:cNvPr>
          <p:cNvPicPr>
            <a:picLocks noChangeAspect="1"/>
          </p:cNvPicPr>
          <p:nvPr/>
        </p:nvPicPr>
        <p:blipFill>
          <a:blip r:embed="rId12"/>
          <a:stretch>
            <a:fillRect/>
          </a:stretch>
        </p:blipFill>
        <p:spPr>
          <a:xfrm>
            <a:off x="10071473" y="6740360"/>
            <a:ext cx="1932942" cy="1551565"/>
          </a:xfrm>
          <a:prstGeom prst="rect">
            <a:avLst/>
          </a:prstGeom>
        </p:spPr>
      </p:pic>
      <p:sp>
        <p:nvSpPr>
          <p:cNvPr id="24" name="TextBox 23">
            <a:extLst>
              <a:ext uri="{FF2B5EF4-FFF2-40B4-BE49-F238E27FC236}">
                <a16:creationId xmlns:a16="http://schemas.microsoft.com/office/drawing/2014/main" id="{D91EF4A2-F995-4CF4-46C5-DD03EBFEBB31}"/>
              </a:ext>
            </a:extLst>
          </p:cNvPr>
          <p:cNvSpPr txBox="1"/>
          <p:nvPr/>
        </p:nvSpPr>
        <p:spPr>
          <a:xfrm>
            <a:off x="1768672" y="6889527"/>
            <a:ext cx="828042" cy="200055"/>
          </a:xfrm>
          <a:prstGeom prst="rect">
            <a:avLst/>
          </a:prstGeom>
          <a:noFill/>
        </p:spPr>
        <p:txBody>
          <a:bodyPr wrap="square" rtlCol="0">
            <a:spAutoFit/>
          </a:bodyPr>
          <a:lstStyle/>
          <a:p>
            <a:r>
              <a:rPr lang="en-US" altLang="ko-KR" sz="700" dirty="0"/>
              <a:t>*</a:t>
            </a:r>
            <a:r>
              <a:rPr lang="ko-KR" altLang="en-US" sz="700" dirty="0" err="1"/>
              <a:t>전처리</a:t>
            </a:r>
            <a:r>
              <a:rPr lang="ko-KR" altLang="en-US" sz="700" dirty="0"/>
              <a:t> 전</a:t>
            </a:r>
            <a:r>
              <a:rPr lang="en-US" altLang="ko-KR" sz="700" dirty="0"/>
              <a:t>/ </a:t>
            </a:r>
            <a:r>
              <a:rPr lang="ko-KR" altLang="en-US" sz="700" dirty="0"/>
              <a:t>후</a:t>
            </a:r>
          </a:p>
        </p:txBody>
      </p:sp>
    </p:spTree>
    <p:extLst>
      <p:ext uri="{BB962C8B-B14F-4D97-AF65-F5344CB8AC3E}">
        <p14:creationId xmlns:p14="http://schemas.microsoft.com/office/powerpoint/2010/main" val="240618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9" name="Google Shape;89;p13"/>
          <p:cNvSpPr txBox="1"/>
          <p:nvPr/>
        </p:nvSpPr>
        <p:spPr>
          <a:xfrm>
            <a:off x="487363" y="261676"/>
            <a:ext cx="16238537" cy="518283"/>
          </a:xfrm>
          <a:prstGeom prst="rect">
            <a:avLst/>
          </a:prstGeom>
          <a:solidFill>
            <a:srgbClr val="0F395B"/>
          </a:solidFill>
          <a:ln w="9525" cap="flat" cmpd="sng">
            <a:solidFill>
              <a:srgbClr val="103B5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400" b="1">
              <a:solidFill>
                <a:schemeClr val="lt1"/>
              </a:solidFill>
              <a:latin typeface="Calibri"/>
              <a:ea typeface="Calibri"/>
              <a:cs typeface="Calibri"/>
              <a:sym typeface="Calibri"/>
            </a:endParaRPr>
          </a:p>
        </p:txBody>
      </p:sp>
      <p:sp>
        <p:nvSpPr>
          <p:cNvPr id="90" name="Google Shape;90;p13"/>
          <p:cNvSpPr/>
          <p:nvPr/>
        </p:nvSpPr>
        <p:spPr>
          <a:xfrm>
            <a:off x="869112" y="1083602"/>
            <a:ext cx="7384190" cy="395925"/>
          </a:xfrm>
          <a:prstGeom prst="roundRect">
            <a:avLst>
              <a:gd name="adj" fmla="val 7143"/>
            </a:avLst>
          </a:prstGeom>
          <a:solidFill>
            <a:srgbClr val="D0CECE">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grpSp>
        <p:nvGrpSpPr>
          <p:cNvPr id="91" name="Google Shape;91;p13"/>
          <p:cNvGrpSpPr/>
          <p:nvPr/>
        </p:nvGrpSpPr>
        <p:grpSpPr>
          <a:xfrm>
            <a:off x="0" y="0"/>
            <a:ext cx="17610138" cy="9906004"/>
            <a:chOff x="-10796913" y="237463"/>
            <a:chExt cx="11867221" cy="6572030"/>
          </a:xfrm>
        </p:grpSpPr>
        <p:sp>
          <p:nvSpPr>
            <p:cNvPr id="92" name="Google Shape;92;p13"/>
            <p:cNvSpPr/>
            <p:nvPr/>
          </p:nvSpPr>
          <p:spPr>
            <a:xfrm rot="10800000" flipH="1">
              <a:off x="-10796913" y="237463"/>
              <a:ext cx="11087179" cy="1300855"/>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3" name="Google Shape;93;p13"/>
            <p:cNvSpPr/>
            <p:nvPr/>
          </p:nvSpPr>
          <p:spPr>
            <a:xfrm rot="10800000" flipH="1">
              <a:off x="-10796797" y="237464"/>
              <a:ext cx="5336657" cy="22192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4" name="Google Shape;94;p13"/>
            <p:cNvSpPr/>
            <p:nvPr/>
          </p:nvSpPr>
          <p:spPr>
            <a:xfrm flipH="1">
              <a:off x="-10796795" y="5771379"/>
              <a:ext cx="11867103" cy="10381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5" name="Google Shape;95;p13"/>
            <p:cNvSpPr/>
            <p:nvPr/>
          </p:nvSpPr>
          <p:spPr>
            <a:xfrm flipH="1">
              <a:off x="-2539137" y="4856978"/>
              <a:ext cx="3609444" cy="19525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grpSp>
      <p:sp>
        <p:nvSpPr>
          <p:cNvPr id="96" name="Google Shape;96;p13"/>
          <p:cNvSpPr/>
          <p:nvPr/>
        </p:nvSpPr>
        <p:spPr>
          <a:xfrm>
            <a:off x="982853" y="1151647"/>
            <a:ext cx="6404551" cy="283487"/>
          </a:xfrm>
          <a:prstGeom prst="roundRect">
            <a:avLst>
              <a:gd name="adj" fmla="val 6011"/>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1100" dirty="0">
                <a:solidFill>
                  <a:schemeClr val="lt1"/>
                </a:solidFill>
                <a:latin typeface="Calibri"/>
                <a:ea typeface="Calibri"/>
                <a:cs typeface="Calibri"/>
                <a:sym typeface="Calibri"/>
              </a:rPr>
              <a:t>💡 </a:t>
            </a:r>
            <a:r>
              <a:rPr lang="ko-KR" sz="1100" b="1" dirty="0">
                <a:solidFill>
                  <a:schemeClr val="dk1"/>
                </a:solidFill>
                <a:latin typeface="Calibri"/>
                <a:ea typeface="Calibri"/>
                <a:cs typeface="Calibri"/>
                <a:sym typeface="Calibri"/>
              </a:rPr>
              <a:t>프로젝트 요약 : </a:t>
            </a:r>
            <a:r>
              <a:rPr lang="ko-KR" altLang="en-US" sz="1100" b="1" dirty="0">
                <a:solidFill>
                  <a:schemeClr val="dk1"/>
                </a:solidFill>
                <a:latin typeface="Calibri"/>
                <a:ea typeface="Calibri"/>
                <a:cs typeface="Calibri"/>
                <a:sym typeface="Calibri"/>
              </a:rPr>
              <a:t>군</a:t>
            </a:r>
            <a:r>
              <a:rPr lang="en-US" altLang="ko-KR" sz="1100" b="1" dirty="0">
                <a:solidFill>
                  <a:schemeClr val="dk1"/>
                </a:solidFill>
                <a:latin typeface="Calibri"/>
                <a:ea typeface="Calibri"/>
                <a:cs typeface="Calibri"/>
                <a:sym typeface="Calibri"/>
              </a:rPr>
              <a:t>/</a:t>
            </a:r>
            <a:r>
              <a:rPr lang="ko-KR" altLang="en-US" sz="1100" b="1" dirty="0">
                <a:solidFill>
                  <a:schemeClr val="dk1"/>
                </a:solidFill>
                <a:latin typeface="Calibri"/>
                <a:ea typeface="Calibri"/>
                <a:cs typeface="Calibri"/>
                <a:sym typeface="Calibri"/>
              </a:rPr>
              <a:t>공공기관에 특화된 보안 </a:t>
            </a:r>
            <a:r>
              <a:rPr lang="en-US" altLang="ko-KR" sz="1100" b="1" dirty="0">
                <a:solidFill>
                  <a:schemeClr val="dk1"/>
                </a:solidFill>
                <a:latin typeface="Calibri"/>
                <a:ea typeface="Calibri"/>
                <a:cs typeface="Calibri"/>
                <a:sym typeface="Calibri"/>
              </a:rPr>
              <a:t>RAG-LLM </a:t>
            </a:r>
            <a:r>
              <a:rPr lang="ko-KR" altLang="en-US" sz="1100" b="1" dirty="0">
                <a:solidFill>
                  <a:schemeClr val="dk1"/>
                </a:solidFill>
                <a:latin typeface="Calibri"/>
                <a:ea typeface="Calibri"/>
                <a:cs typeface="Calibri"/>
                <a:sym typeface="Calibri"/>
              </a:rPr>
              <a:t>에이전트 서비스 개발</a:t>
            </a:r>
            <a:endParaRPr sz="1100" dirty="0">
              <a:solidFill>
                <a:schemeClr val="dk1"/>
              </a:solidFill>
              <a:latin typeface="Calibri"/>
              <a:ea typeface="Calibri"/>
              <a:cs typeface="Calibri"/>
              <a:sym typeface="Calibri"/>
            </a:endParaRPr>
          </a:p>
        </p:txBody>
      </p:sp>
      <p:sp>
        <p:nvSpPr>
          <p:cNvPr id="98" name="Google Shape;98;p13"/>
          <p:cNvSpPr txBox="1"/>
          <p:nvPr/>
        </p:nvSpPr>
        <p:spPr>
          <a:xfrm>
            <a:off x="9127310" y="968150"/>
            <a:ext cx="7598590" cy="148902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ko-KR" sz="1051" b="1" dirty="0">
                <a:solidFill>
                  <a:schemeClr val="dk1"/>
                </a:solidFill>
                <a:latin typeface="Calibri"/>
                <a:ea typeface="Calibri"/>
                <a:cs typeface="Calibri"/>
                <a:sym typeface="Calibri"/>
              </a:rPr>
              <a:t>개발 관련 설명</a:t>
            </a:r>
            <a:endParaRPr dirty="0"/>
          </a:p>
          <a:p>
            <a:pPr lvl="0" algn="just">
              <a:lnSpc>
                <a:spcPct val="150000"/>
              </a:lnSpc>
            </a:pPr>
            <a:r>
              <a:rPr lang="ko-KR" altLang="en-US" sz="1000" dirty="0" err="1">
                <a:solidFill>
                  <a:schemeClr val="dk1"/>
                </a:solidFill>
                <a:latin typeface="Calibri"/>
                <a:ea typeface="Calibri"/>
                <a:cs typeface="Calibri"/>
                <a:sym typeface="Calibri"/>
              </a:rPr>
              <a:t>백터</a:t>
            </a:r>
            <a:r>
              <a:rPr lang="ko-KR" altLang="en-US" sz="1000" dirty="0">
                <a:solidFill>
                  <a:schemeClr val="dk1"/>
                </a:solidFill>
                <a:latin typeface="Calibri"/>
                <a:ea typeface="Calibri"/>
                <a:cs typeface="Calibri"/>
                <a:sym typeface="Calibri"/>
              </a:rPr>
              <a:t> </a:t>
            </a:r>
            <a:r>
              <a:rPr lang="en-US" altLang="ko-KR" sz="1000" dirty="0">
                <a:solidFill>
                  <a:schemeClr val="dk1"/>
                </a:solidFill>
                <a:latin typeface="Calibri"/>
                <a:ea typeface="Calibri"/>
                <a:cs typeface="Calibri"/>
                <a:sym typeface="Calibri"/>
              </a:rPr>
              <a:t>DB</a:t>
            </a:r>
            <a:r>
              <a:rPr lang="ko-KR" altLang="en-US" sz="1000" dirty="0">
                <a:solidFill>
                  <a:schemeClr val="dk1"/>
                </a:solidFill>
                <a:latin typeface="Calibri"/>
                <a:ea typeface="Calibri"/>
                <a:cs typeface="Calibri"/>
                <a:sym typeface="Calibri"/>
              </a:rPr>
              <a:t>의 </a:t>
            </a:r>
            <a:r>
              <a:rPr lang="en-US" altLang="ko-KR" sz="1000" dirty="0">
                <a:solidFill>
                  <a:schemeClr val="dk1"/>
                </a:solidFill>
                <a:latin typeface="Calibri"/>
                <a:ea typeface="Calibri"/>
                <a:cs typeface="Calibri"/>
                <a:sym typeface="Calibri"/>
              </a:rPr>
              <a:t>RAG </a:t>
            </a:r>
            <a:r>
              <a:rPr lang="ko-KR" altLang="en-US" sz="1000" dirty="0">
                <a:solidFill>
                  <a:schemeClr val="dk1"/>
                </a:solidFill>
                <a:latin typeface="Calibri"/>
                <a:ea typeface="Calibri"/>
                <a:cs typeface="Calibri"/>
                <a:sym typeface="Calibri"/>
              </a:rPr>
              <a:t>부분에 </a:t>
            </a:r>
            <a:r>
              <a:rPr lang="en-US" altLang="ko-KR" sz="1000" dirty="0">
                <a:solidFill>
                  <a:schemeClr val="dk1"/>
                </a:solidFill>
                <a:latin typeface="Calibri"/>
                <a:ea typeface="Calibri"/>
                <a:cs typeface="Calibri"/>
                <a:sym typeface="Calibri"/>
              </a:rPr>
              <a:t>Payload</a:t>
            </a:r>
            <a:r>
              <a:rPr lang="ko-KR" altLang="en-US" sz="1000" dirty="0">
                <a:solidFill>
                  <a:schemeClr val="dk1"/>
                </a:solidFill>
                <a:latin typeface="Calibri"/>
                <a:ea typeface="Calibri"/>
                <a:cs typeface="Calibri"/>
                <a:sym typeface="Calibri"/>
              </a:rPr>
              <a:t>를 활용하여 사용자마다 접근 가능한 문서가 상이합니다</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이것을 활용하여 </a:t>
            </a:r>
            <a:r>
              <a:rPr lang="ko-KR" altLang="en-US" sz="1000" dirty="0" err="1">
                <a:solidFill>
                  <a:schemeClr val="dk1"/>
                </a:solidFill>
                <a:latin typeface="Calibri"/>
                <a:ea typeface="Calibri"/>
                <a:cs typeface="Calibri"/>
                <a:sym typeface="Calibri"/>
              </a:rPr>
              <a:t>테스크별로</a:t>
            </a:r>
            <a:r>
              <a:rPr lang="ko-KR" altLang="en-US" sz="1000" dirty="0">
                <a:solidFill>
                  <a:schemeClr val="dk1"/>
                </a:solidFill>
                <a:latin typeface="Calibri"/>
                <a:ea typeface="Calibri"/>
                <a:cs typeface="Calibri"/>
                <a:sym typeface="Calibri"/>
              </a:rPr>
              <a:t> 접근가능 문서도 다르게 할 수 있습니다</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또한 여기에 </a:t>
            </a:r>
            <a:r>
              <a:rPr lang="en-US" altLang="ko-KR" sz="1000" dirty="0" err="1">
                <a:solidFill>
                  <a:schemeClr val="dk1"/>
                </a:solidFill>
                <a:latin typeface="Calibri"/>
                <a:ea typeface="Calibri"/>
                <a:cs typeface="Calibri"/>
                <a:sym typeface="Calibri"/>
              </a:rPr>
              <a:t>keybert</a:t>
            </a:r>
            <a:r>
              <a:rPr lang="ko-KR" altLang="en-US" sz="1000" dirty="0">
                <a:solidFill>
                  <a:schemeClr val="dk1"/>
                </a:solidFill>
                <a:latin typeface="Calibri"/>
                <a:ea typeface="Calibri"/>
                <a:cs typeface="Calibri"/>
                <a:sym typeface="Calibri"/>
              </a:rPr>
              <a:t>를 적용하여 문서를 자동 분류하고 사용자가 해당 카테고리를 검색할 수 있습니다</a:t>
            </a:r>
            <a:r>
              <a:rPr lang="en-US" altLang="ko-KR" sz="1000" dirty="0">
                <a:solidFill>
                  <a:schemeClr val="dk1"/>
                </a:solidFill>
                <a:latin typeface="Calibri"/>
                <a:ea typeface="Calibri"/>
                <a:cs typeface="Calibri"/>
                <a:sym typeface="Calibri"/>
              </a:rPr>
              <a:t>. </a:t>
            </a:r>
            <a:br>
              <a:rPr lang="en-US" altLang="ko-KR" sz="1000" dirty="0">
                <a:solidFill>
                  <a:schemeClr val="dk1"/>
                </a:solidFill>
                <a:latin typeface="Calibri"/>
                <a:ea typeface="Calibri"/>
                <a:cs typeface="Calibri"/>
                <a:sym typeface="Calibri"/>
              </a:rPr>
            </a:br>
            <a:r>
              <a:rPr lang="ko-KR" altLang="ko-KR" sz="1000" dirty="0" err="1"/>
              <a:t>RAG에</a:t>
            </a:r>
            <a:r>
              <a:rPr lang="ko-KR" altLang="ko-KR" sz="1000" dirty="0"/>
              <a:t> 저장된 </a:t>
            </a:r>
            <a:r>
              <a:rPr lang="ko-KR" altLang="ko-KR" sz="1000" dirty="0" err="1"/>
              <a:t>청크는</a:t>
            </a:r>
            <a:r>
              <a:rPr lang="ko-KR" altLang="ko-KR" sz="1000" dirty="0"/>
              <a:t> HITL 형태로 관리 가능하도록 구성하였습니다. 문서 업로드 시 </a:t>
            </a:r>
            <a:r>
              <a:rPr lang="ko-KR" altLang="ko-KR" sz="1000" dirty="0" err="1"/>
              <a:t>청킹</a:t>
            </a:r>
            <a:r>
              <a:rPr lang="ko-KR" altLang="ko-KR" sz="1000" dirty="0"/>
              <a:t> 및 품질 평가가 자동으로 이루어지며(</a:t>
            </a:r>
            <a:r>
              <a:rPr lang="ko-KR" altLang="ko-KR" sz="1000" dirty="0" err="1"/>
              <a:t>Create</a:t>
            </a:r>
            <a:r>
              <a:rPr lang="ko-KR" altLang="ko-KR" sz="1000" dirty="0"/>
              <a:t>), </a:t>
            </a:r>
            <a:r>
              <a:rPr lang="ko-KR" altLang="ko-KR" sz="1000" dirty="0" err="1"/>
              <a:t>청크별</a:t>
            </a:r>
            <a:r>
              <a:rPr lang="ko-KR" altLang="ko-KR" sz="1000" dirty="0"/>
              <a:t> 품질 점수와 내용을 조회할 수 있고(</a:t>
            </a:r>
            <a:r>
              <a:rPr lang="ko-KR" altLang="ko-KR" sz="1000" dirty="0" err="1"/>
              <a:t>Read</a:t>
            </a:r>
            <a:r>
              <a:rPr lang="ko-KR" altLang="ko-KR" sz="1000" dirty="0"/>
              <a:t>), 필요 시 </a:t>
            </a:r>
            <a:r>
              <a:rPr lang="ko-KR" altLang="ko-KR" sz="1000" dirty="0" err="1"/>
              <a:t>청크</a:t>
            </a:r>
            <a:r>
              <a:rPr lang="ko-KR" altLang="ko-KR" sz="1000" dirty="0"/>
              <a:t> 내용을 직접 수정하면 </a:t>
            </a:r>
            <a:r>
              <a:rPr lang="ko-KR" altLang="ko-KR" sz="1000" dirty="0" err="1"/>
              <a:t>재임베딩되어</a:t>
            </a:r>
            <a:r>
              <a:rPr lang="ko-KR" altLang="ko-KR" sz="1000" dirty="0"/>
              <a:t> 반영되며(</a:t>
            </a:r>
            <a:r>
              <a:rPr lang="ko-KR" altLang="ko-KR" sz="1000" dirty="0" err="1"/>
              <a:t>Update</a:t>
            </a:r>
            <a:r>
              <a:rPr lang="ko-KR" altLang="ko-KR" sz="1000" dirty="0"/>
              <a:t>), 불필요하거나 품질이 낮은 </a:t>
            </a:r>
            <a:r>
              <a:rPr lang="ko-KR" altLang="ko-KR" sz="1000" dirty="0" err="1"/>
              <a:t>청크는</a:t>
            </a:r>
            <a:r>
              <a:rPr lang="ko-KR" altLang="ko-KR" sz="1000" dirty="0"/>
              <a:t> 사용자가 직접 삭제할 수 있습니다(</a:t>
            </a:r>
            <a:r>
              <a:rPr lang="ko-KR" altLang="ko-KR" sz="1000" dirty="0" err="1"/>
              <a:t>Delete</a:t>
            </a:r>
            <a:r>
              <a:rPr lang="ko-KR" altLang="ko-KR" sz="1000" dirty="0"/>
              <a:t>).</a:t>
            </a:r>
            <a:endParaRPr sz="1000" dirty="0">
              <a:solidFill>
                <a:schemeClr val="dk1"/>
              </a:solidFill>
              <a:latin typeface="Calibri"/>
              <a:ea typeface="Calibri"/>
              <a:cs typeface="Calibri"/>
              <a:sym typeface="Calibri"/>
            </a:endParaRPr>
          </a:p>
        </p:txBody>
      </p:sp>
      <p:sp>
        <p:nvSpPr>
          <p:cNvPr id="99" name="Google Shape;99;p13"/>
          <p:cNvSpPr txBox="1"/>
          <p:nvPr/>
        </p:nvSpPr>
        <p:spPr>
          <a:xfrm>
            <a:off x="579844" y="261675"/>
            <a:ext cx="864484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200" b="1" dirty="0" err="1">
                <a:solidFill>
                  <a:schemeClr val="lt1"/>
                </a:solidFill>
                <a:latin typeface="Calibri"/>
                <a:ea typeface="Calibri"/>
                <a:cs typeface="Calibri"/>
                <a:sym typeface="Calibri"/>
              </a:rPr>
              <a:t>프로젝트명</a:t>
            </a:r>
            <a:endParaRPr sz="1200" b="1" dirty="0">
              <a:solidFill>
                <a:schemeClr val="lt1"/>
              </a:solidFill>
              <a:latin typeface="Calibri"/>
              <a:ea typeface="Calibri"/>
              <a:cs typeface="Calibri"/>
              <a:sym typeface="Calibri"/>
            </a:endParaRPr>
          </a:p>
          <a:p>
            <a:pPr marL="285744" lvl="0" indent="-285744">
              <a:lnSpc>
                <a:spcPct val="150000"/>
              </a:lnSpc>
              <a:buClr>
                <a:schemeClr val="lt1"/>
              </a:buClr>
              <a:buSzPts val="1200"/>
              <a:buFont typeface="Noto Sans Symbols"/>
              <a:buChar char="❑"/>
            </a:pPr>
            <a:r>
              <a:rPr lang="ko-KR" altLang="en-US" sz="1200" b="1" dirty="0" err="1">
                <a:solidFill>
                  <a:schemeClr val="lt1"/>
                </a:solidFill>
                <a:latin typeface="Calibri"/>
                <a:ea typeface="Calibri"/>
                <a:cs typeface="Calibri"/>
                <a:sym typeface="Calibri"/>
              </a:rPr>
              <a:t>온프레미스</a:t>
            </a:r>
            <a:r>
              <a:rPr lang="ko-KR" altLang="en-US" sz="1200" b="1" dirty="0">
                <a:solidFill>
                  <a:schemeClr val="lt1"/>
                </a:solidFill>
                <a:latin typeface="Calibri"/>
                <a:ea typeface="Calibri"/>
                <a:cs typeface="Calibri"/>
                <a:sym typeface="Calibri"/>
              </a:rPr>
              <a:t> 환경에 사용되는 </a:t>
            </a:r>
            <a:r>
              <a:rPr lang="en-US" altLang="ko-KR" sz="1200" b="1" dirty="0">
                <a:solidFill>
                  <a:schemeClr val="lt1"/>
                </a:solidFill>
                <a:latin typeface="Calibri"/>
                <a:ea typeface="Calibri"/>
                <a:cs typeface="Calibri"/>
                <a:sym typeface="Calibri"/>
              </a:rPr>
              <a:t>RAG LLM </a:t>
            </a:r>
            <a:r>
              <a:rPr lang="ko-KR" altLang="en-US" sz="1200" b="1" dirty="0">
                <a:solidFill>
                  <a:schemeClr val="lt1"/>
                </a:solidFill>
                <a:latin typeface="Calibri"/>
                <a:ea typeface="Calibri"/>
                <a:cs typeface="Calibri"/>
                <a:sym typeface="Calibri"/>
              </a:rPr>
              <a:t>에이전트 서비스 개발 </a:t>
            </a:r>
            <a:endParaRPr dirty="0"/>
          </a:p>
        </p:txBody>
      </p:sp>
      <p:sp>
        <p:nvSpPr>
          <p:cNvPr id="100" name="Google Shape;100;p13"/>
          <p:cNvSpPr txBox="1"/>
          <p:nvPr/>
        </p:nvSpPr>
        <p:spPr>
          <a:xfrm>
            <a:off x="9309100" y="7898646"/>
            <a:ext cx="7416800" cy="126953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100" b="1" dirty="0">
                <a:solidFill>
                  <a:schemeClr val="dk1"/>
                </a:solidFill>
                <a:latin typeface="Calibri"/>
                <a:ea typeface="Calibri"/>
                <a:cs typeface="Calibri"/>
                <a:sym typeface="Calibri"/>
              </a:rPr>
              <a:t>주요 성과</a:t>
            </a:r>
            <a:endParaRPr sz="1100" b="1" dirty="0">
              <a:solidFill>
                <a:schemeClr val="dk1"/>
              </a:solidFill>
              <a:latin typeface="Calibri"/>
              <a:ea typeface="Calibri"/>
              <a:cs typeface="Calibri"/>
              <a:sym typeface="Calibri"/>
            </a:endParaRPr>
          </a:p>
          <a:p>
            <a:pPr lvl="0" algn="just">
              <a:lnSpc>
                <a:spcPct val="150000"/>
              </a:lnSpc>
            </a:pPr>
            <a:r>
              <a:rPr lang="ko-KR" altLang="ko-KR" sz="1000" dirty="0"/>
              <a:t>독자적인 RAF 보안을 구축하여, 보안이 중요한 공공기관에 도입 예정. </a:t>
            </a:r>
            <a:endParaRPr lang="en-US" altLang="ko-KR" sz="1000" dirty="0"/>
          </a:p>
          <a:p>
            <a:pPr lvl="0" algn="just">
              <a:lnSpc>
                <a:spcPct val="150000"/>
              </a:lnSpc>
            </a:pPr>
            <a:r>
              <a:rPr lang="ko-KR" altLang="ko-KR" sz="1000" dirty="0"/>
              <a:t>관리자 페이지에서 보안을 설계 및 구현. </a:t>
            </a:r>
            <a:endParaRPr lang="en-US" altLang="ko-KR" sz="1000" dirty="0"/>
          </a:p>
          <a:p>
            <a:pPr lvl="0" algn="just">
              <a:lnSpc>
                <a:spcPct val="150000"/>
              </a:lnSpc>
            </a:pPr>
            <a:r>
              <a:rPr lang="ko-KR" altLang="ko-KR" sz="1000" dirty="0" err="1"/>
              <a:t>청크</a:t>
            </a:r>
            <a:r>
              <a:rPr lang="ko-KR" altLang="ko-KR" sz="1000" dirty="0"/>
              <a:t> 품질 기반 자동 평가 및 HITL 드롭 기능으로 RAG 검색 정확도를 사용자 주도로 관리 가능하도록 구현. </a:t>
            </a:r>
            <a:endParaRPr lang="en-US" altLang="ko-KR" sz="1000" dirty="0"/>
          </a:p>
          <a:p>
            <a:pPr lvl="0" algn="just">
              <a:lnSpc>
                <a:spcPct val="150000"/>
              </a:lnSpc>
            </a:pPr>
            <a:r>
              <a:rPr lang="ko-KR" altLang="ko-KR" sz="1000" dirty="0" err="1"/>
              <a:t>하네스</a:t>
            </a:r>
            <a:r>
              <a:rPr lang="ko-KR" altLang="ko-KR" sz="1000" dirty="0"/>
              <a:t> 및 MCP 도구 자동 생성 구조를 적용하여 에이전트 실행 안정성과 확장성을 동시에 확보.</a:t>
            </a:r>
            <a:endParaRPr lang="en-US" altLang="ko-KR" sz="1000" dirty="0"/>
          </a:p>
        </p:txBody>
      </p:sp>
      <p:sp>
        <p:nvSpPr>
          <p:cNvPr id="101" name="Google Shape;101;p13"/>
          <p:cNvSpPr txBox="1"/>
          <p:nvPr/>
        </p:nvSpPr>
        <p:spPr>
          <a:xfrm>
            <a:off x="9127309" y="5108612"/>
            <a:ext cx="7985033" cy="784790"/>
          </a:xfrm>
          <a:prstGeom prst="rect">
            <a:avLst/>
          </a:prstGeom>
          <a:noFill/>
          <a:ln>
            <a:noFill/>
          </a:ln>
        </p:spPr>
        <p:txBody>
          <a:bodyPr spcFirstLastPara="1" wrap="square" lIns="91425" tIns="45700" rIns="91425" bIns="45700" anchor="t" anchorCtr="0">
            <a:spAutoFit/>
          </a:bodyPr>
          <a:lstStyle/>
          <a:p>
            <a:pPr algn="just">
              <a:lnSpc>
                <a:spcPct val="150000"/>
              </a:lnSpc>
            </a:pPr>
            <a:r>
              <a:rPr lang="ko-KR" altLang="en-US" sz="1000" dirty="0">
                <a:solidFill>
                  <a:schemeClr val="dk1"/>
                </a:solidFill>
                <a:latin typeface="Calibri"/>
                <a:ea typeface="Calibri"/>
                <a:cs typeface="Calibri"/>
              </a:rPr>
              <a:t>에이전트 실행 과정에서는 </a:t>
            </a:r>
            <a:r>
              <a:rPr lang="ko-KR" altLang="en-US" sz="1000" dirty="0" err="1">
                <a:solidFill>
                  <a:schemeClr val="dk1"/>
                </a:solidFill>
                <a:latin typeface="Calibri"/>
                <a:ea typeface="Calibri"/>
                <a:cs typeface="Calibri"/>
              </a:rPr>
              <a:t>하네스를</a:t>
            </a:r>
            <a:r>
              <a:rPr lang="ko-KR" altLang="en-US" sz="1000" dirty="0">
                <a:solidFill>
                  <a:schemeClr val="dk1"/>
                </a:solidFill>
                <a:latin typeface="Calibri"/>
                <a:ea typeface="Calibri"/>
                <a:cs typeface="Calibri"/>
              </a:rPr>
              <a:t> 적용하여 </a:t>
            </a:r>
            <a:r>
              <a:rPr lang="en-US" altLang="ko-KR" sz="1000" dirty="0">
                <a:solidFill>
                  <a:schemeClr val="dk1"/>
                </a:solidFill>
                <a:latin typeface="Calibri"/>
                <a:ea typeface="Calibri"/>
                <a:cs typeface="Calibri"/>
              </a:rPr>
              <a:t>LLM</a:t>
            </a:r>
            <a:r>
              <a:rPr lang="ko-KR" altLang="en-US" sz="1000" dirty="0">
                <a:solidFill>
                  <a:schemeClr val="dk1"/>
                </a:solidFill>
                <a:latin typeface="Calibri"/>
                <a:ea typeface="Calibri"/>
                <a:cs typeface="Calibri"/>
              </a:rPr>
              <a:t>의 응답 오류나 도구 실행 실패가 발생해도 자동으로 재시도 및 복구되도록 구성하였습니다</a:t>
            </a:r>
            <a:r>
              <a:rPr lang="en-US" altLang="ko-KR" sz="1000" dirty="0">
                <a:solidFill>
                  <a:schemeClr val="dk1"/>
                </a:solidFill>
                <a:latin typeface="Calibri"/>
                <a:ea typeface="Calibri"/>
                <a:cs typeface="Calibri"/>
              </a:rPr>
              <a:t>. </a:t>
            </a:r>
            <a:endParaRPr lang="en-US" altLang="ko-KR" sz="1000" dirty="0">
              <a:solidFill>
                <a:schemeClr val="dk1"/>
              </a:solidFill>
              <a:latin typeface="Calibri"/>
              <a:ea typeface="Calibri"/>
              <a:cs typeface="Calibri"/>
              <a:sym typeface="Calibri"/>
            </a:endParaRPr>
          </a:p>
          <a:p>
            <a:pPr algn="just">
              <a:lnSpc>
                <a:spcPct val="150000"/>
              </a:lnSpc>
            </a:pPr>
            <a:r>
              <a:rPr lang="ko-KR" altLang="en-US" sz="1000" dirty="0">
                <a:solidFill>
                  <a:schemeClr val="dk1"/>
                </a:solidFill>
                <a:latin typeface="Calibri"/>
                <a:ea typeface="Calibri"/>
                <a:cs typeface="Calibri"/>
                <a:sym typeface="Calibri"/>
              </a:rPr>
              <a:t>그리고 요청에 필요한 도구가 등록되어 있지 않을 경우</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에이전트가 요구사항을 분석해 </a:t>
            </a:r>
            <a:r>
              <a:rPr lang="en-US" altLang="ko-KR" sz="1000" dirty="0">
                <a:solidFill>
                  <a:schemeClr val="dk1"/>
                </a:solidFill>
                <a:latin typeface="Calibri"/>
                <a:ea typeface="Calibri"/>
                <a:cs typeface="Calibri"/>
                <a:sym typeface="Calibri"/>
              </a:rPr>
              <a:t>MCP </a:t>
            </a:r>
            <a:r>
              <a:rPr lang="ko-KR" altLang="en-US" sz="1000" dirty="0">
                <a:solidFill>
                  <a:schemeClr val="dk1"/>
                </a:solidFill>
                <a:latin typeface="Calibri"/>
                <a:ea typeface="Calibri"/>
                <a:cs typeface="Calibri"/>
                <a:sym typeface="Calibri"/>
              </a:rPr>
              <a:t>도구를 스스로 생성하고 등록하여 사용하도록 구현하였습니다</a:t>
            </a:r>
            <a:r>
              <a:rPr lang="en-US" altLang="ko-KR" sz="1000" dirty="0">
                <a:solidFill>
                  <a:schemeClr val="dk1"/>
                </a:solidFill>
                <a:latin typeface="Calibri"/>
                <a:ea typeface="Calibri"/>
                <a:cs typeface="Calibri"/>
                <a:sym typeface="Calibri"/>
              </a:rPr>
              <a:t>. </a:t>
            </a:r>
            <a:endParaRPr lang="en-US" altLang="ko-KR" sz="1000" dirty="0">
              <a:solidFill>
                <a:schemeClr val="dk1"/>
              </a:solidFill>
              <a:latin typeface="Calibri"/>
              <a:ea typeface="Calibri"/>
              <a:cs typeface="Calibri"/>
            </a:endParaRPr>
          </a:p>
        </p:txBody>
      </p:sp>
      <p:sp>
        <p:nvSpPr>
          <p:cNvPr id="102" name="Google Shape;102;p13"/>
          <p:cNvSpPr txBox="1"/>
          <p:nvPr/>
        </p:nvSpPr>
        <p:spPr>
          <a:xfrm>
            <a:off x="4931577" y="1495636"/>
            <a:ext cx="3873491" cy="195068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dirty="0">
                <a:solidFill>
                  <a:schemeClr val="dk1"/>
                </a:solidFill>
                <a:latin typeface="Calibri"/>
                <a:ea typeface="Calibri"/>
                <a:cs typeface="Calibri"/>
                <a:sym typeface="Calibri"/>
              </a:rPr>
              <a:t>[프로젝트 세부 사항]</a:t>
            </a:r>
            <a:endParaRPr sz="1051" b="1"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프로젝트 기간 :</a:t>
            </a:r>
            <a:r>
              <a:rPr lang="ko-KR" sz="1000" dirty="0">
                <a:solidFill>
                  <a:schemeClr val="dk1"/>
                </a:solidFill>
                <a:latin typeface="Calibri"/>
                <a:ea typeface="Calibri"/>
                <a:cs typeface="Calibri"/>
                <a:sym typeface="Calibri"/>
              </a:rPr>
              <a:t> 202</a:t>
            </a:r>
            <a:r>
              <a:rPr lang="en-US" altLang="ko-KR" sz="1000" dirty="0">
                <a:solidFill>
                  <a:schemeClr val="dk1"/>
                </a:solidFill>
                <a:latin typeface="Calibri"/>
                <a:ea typeface="Calibri"/>
                <a:cs typeface="Calibri"/>
                <a:sym typeface="Calibri"/>
              </a:rPr>
              <a:t>5</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06</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30</a:t>
            </a:r>
            <a:r>
              <a:rPr lang="ko-KR" sz="1000" dirty="0">
                <a:solidFill>
                  <a:schemeClr val="dk1"/>
                </a:solidFill>
                <a:latin typeface="Calibri"/>
                <a:ea typeface="Calibri"/>
                <a:cs typeface="Calibri"/>
                <a:sym typeface="Calibri"/>
              </a:rPr>
              <a:t> ~ 20</a:t>
            </a:r>
            <a:r>
              <a:rPr lang="en-US" altLang="ko-KR" sz="1000" dirty="0">
                <a:solidFill>
                  <a:schemeClr val="dk1"/>
                </a:solidFill>
                <a:latin typeface="Calibri"/>
                <a:ea typeface="Calibri"/>
                <a:cs typeface="Calibri"/>
                <a:sym typeface="Calibri"/>
              </a:rPr>
              <a:t>25</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11</a:t>
            </a:r>
            <a:r>
              <a:rPr lang="ko-KR" sz="1000" dirty="0">
                <a:solidFill>
                  <a:schemeClr val="dk1"/>
                </a:solidFill>
                <a:latin typeface="Calibri"/>
                <a:ea typeface="Calibri"/>
                <a:cs typeface="Calibri"/>
                <a:sym typeface="Calibri"/>
              </a:rPr>
              <a:t>.30</a:t>
            </a:r>
            <a:endParaRPr dirty="0"/>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개발 인원 :</a:t>
            </a:r>
            <a:r>
              <a:rPr lang="ko-KR" sz="1000" dirty="0">
                <a:solidFill>
                  <a:schemeClr val="dk1"/>
                </a:solidFill>
                <a:latin typeface="Calibri"/>
                <a:ea typeface="Calibri"/>
                <a:cs typeface="Calibri"/>
                <a:sym typeface="Calibri"/>
              </a:rPr>
              <a:t> </a:t>
            </a:r>
            <a:r>
              <a:rPr lang="en-US" altLang="ko-KR" sz="1000" dirty="0">
                <a:solidFill>
                  <a:schemeClr val="dk1"/>
                </a:solidFill>
                <a:latin typeface="Calibri"/>
                <a:ea typeface="Calibri"/>
                <a:cs typeface="Calibri"/>
                <a:sym typeface="Calibri"/>
              </a:rPr>
              <a:t>3</a:t>
            </a:r>
            <a:r>
              <a:rPr lang="ko-KR" sz="1000" dirty="0">
                <a:solidFill>
                  <a:schemeClr val="dk1"/>
                </a:solidFill>
                <a:latin typeface="Calibri"/>
                <a:ea typeface="Calibri"/>
                <a:cs typeface="Calibri"/>
                <a:sym typeface="Calibri"/>
              </a:rPr>
              <a:t>명</a:t>
            </a:r>
            <a:r>
              <a:rPr lang="en-US" altLang="ko-KR" sz="1000">
                <a:solidFill>
                  <a:schemeClr val="dk1"/>
                </a:solidFill>
                <a:latin typeface="Calibri"/>
                <a:ea typeface="Calibri"/>
                <a:cs typeface="Calibri"/>
                <a:sym typeface="Calibri"/>
              </a:rPr>
              <a:t> </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연계/주관기업 : </a:t>
            </a:r>
            <a:r>
              <a:rPr lang="en-US" altLang="ko-KR" sz="1000" b="1" dirty="0">
                <a:solidFill>
                  <a:schemeClr val="dk1"/>
                </a:solidFill>
                <a:latin typeface="Calibri"/>
                <a:ea typeface="Calibri"/>
                <a:cs typeface="Calibri"/>
                <a:sym typeface="Calibri"/>
              </a:rPr>
              <a:t>PPS</a:t>
            </a:r>
            <a:r>
              <a:rPr lang="ko-KR" altLang="en-US" sz="1000" dirty="0">
                <a:solidFill>
                  <a:schemeClr val="dk1"/>
                </a:solidFill>
                <a:latin typeface="Calibri"/>
                <a:ea typeface="Calibri"/>
                <a:cs typeface="Calibri"/>
                <a:sym typeface="Calibri"/>
              </a:rPr>
              <a:t> 서비스</a:t>
            </a:r>
            <a:r>
              <a:rPr lang="en-US" altLang="ko-KR" sz="1000" dirty="0">
                <a:solidFill>
                  <a:schemeClr val="dk1"/>
                </a:solidFill>
                <a:latin typeface="Calibri"/>
                <a:ea typeface="Calibri"/>
                <a:cs typeface="Calibri"/>
                <a:sym typeface="Calibri"/>
              </a:rPr>
              <a:t>[</a:t>
            </a:r>
            <a:r>
              <a:rPr lang="ko-KR" altLang="en-US" sz="1000" dirty="0">
                <a:solidFill>
                  <a:schemeClr val="dk1"/>
                </a:solidFill>
                <a:latin typeface="Calibri"/>
                <a:ea typeface="Calibri"/>
                <a:cs typeface="Calibri"/>
                <a:sym typeface="Calibri"/>
              </a:rPr>
              <a:t>공공기관 </a:t>
            </a:r>
            <a:r>
              <a:rPr lang="ko-KR" altLang="en-US" sz="1000" dirty="0" err="1">
                <a:solidFill>
                  <a:schemeClr val="dk1"/>
                </a:solidFill>
                <a:latin typeface="Calibri"/>
                <a:ea typeface="Calibri"/>
                <a:cs typeface="Calibri"/>
                <a:sym typeface="Calibri"/>
              </a:rPr>
              <a:t>타케팅</a:t>
            </a:r>
            <a:r>
              <a:rPr lang="en-US" altLang="ko-KR" sz="1000" dirty="0">
                <a:solidFill>
                  <a:schemeClr val="dk1"/>
                </a:solidFill>
                <a:latin typeface="Calibri"/>
                <a:ea typeface="Calibri"/>
                <a:cs typeface="Calibri"/>
                <a:sym typeface="Calibri"/>
              </a:rPr>
              <a:t>]</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담당 업무 : </a:t>
            </a:r>
            <a:r>
              <a:rPr lang="ko-KR" altLang="en-US" sz="1000" dirty="0">
                <a:solidFill>
                  <a:schemeClr val="dk1"/>
                </a:solidFill>
                <a:latin typeface="Calibri"/>
                <a:ea typeface="Calibri"/>
                <a:cs typeface="Calibri"/>
                <a:sym typeface="Calibri"/>
              </a:rPr>
              <a:t>프로젝트 설계</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및 화면 기획</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개발</a:t>
            </a:r>
            <a:endParaRPr sz="1000" dirty="0">
              <a:solidFill>
                <a:schemeClr val="dk1"/>
              </a:solidFill>
              <a:latin typeface="Calibri"/>
              <a:ea typeface="Calibri"/>
              <a:cs typeface="Calibri"/>
              <a:sym typeface="Calibri"/>
            </a:endParaRPr>
          </a:p>
          <a:p>
            <a:pPr lvl="0" algn="just">
              <a:lnSpc>
                <a:spcPct val="150000"/>
              </a:lnSpc>
            </a:pPr>
            <a:r>
              <a:rPr lang="ko-KR" sz="1000" b="1" dirty="0">
                <a:solidFill>
                  <a:schemeClr val="dk1"/>
                </a:solidFill>
                <a:latin typeface="Calibri"/>
                <a:ea typeface="Calibri"/>
                <a:cs typeface="Calibri"/>
                <a:sym typeface="Calibri"/>
              </a:rPr>
              <a:t>기술 스택 :</a:t>
            </a:r>
            <a:r>
              <a:rPr lang="en-US" altLang="ko-KR" sz="1000" b="1" dirty="0">
                <a:solidFill>
                  <a:schemeClr val="dk1"/>
                </a:solidFill>
                <a:latin typeface="Calibri"/>
                <a:ea typeface="Calibri"/>
                <a:cs typeface="Calibri"/>
                <a:sym typeface="Calibri"/>
              </a:rPr>
              <a:t> </a:t>
            </a:r>
            <a:r>
              <a:rPr lang="en-US" altLang="ko-KR" sz="1000" dirty="0">
                <a:solidFill>
                  <a:schemeClr val="dk1"/>
                </a:solidFill>
                <a:latin typeface="Calibri"/>
                <a:ea typeface="Calibri"/>
                <a:cs typeface="Calibri"/>
                <a:sym typeface="Calibri"/>
              </a:rPr>
              <a:t>LLM, RAG, </a:t>
            </a:r>
            <a:r>
              <a:rPr lang="en-US" altLang="ko-KR" sz="1000" dirty="0" err="1">
                <a:solidFill>
                  <a:schemeClr val="dk1"/>
                </a:solidFill>
                <a:latin typeface="Calibri"/>
                <a:ea typeface="Calibri"/>
                <a:cs typeface="Calibri"/>
                <a:sym typeface="Calibri"/>
              </a:rPr>
              <a:t>podman</a:t>
            </a:r>
            <a:r>
              <a:rPr lang="en-US" altLang="ko-KR" sz="1000" dirty="0">
                <a:solidFill>
                  <a:schemeClr val="dk1"/>
                </a:solidFill>
                <a:latin typeface="Calibri"/>
                <a:ea typeface="Calibri"/>
                <a:cs typeface="Calibri"/>
                <a:sym typeface="Calibri"/>
              </a:rPr>
              <a:t>, Git, html, </a:t>
            </a:r>
            <a:r>
              <a:rPr lang="en-US" altLang="ko-KR" sz="1000" dirty="0" err="1">
                <a:solidFill>
                  <a:schemeClr val="dk1"/>
                </a:solidFill>
                <a:latin typeface="Calibri"/>
                <a:ea typeface="Calibri"/>
                <a:cs typeface="Calibri"/>
                <a:sym typeface="Calibri"/>
              </a:rPr>
              <a:t>css</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fastapi</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uv</a:t>
            </a:r>
            <a:r>
              <a:rPr lang="en-US" altLang="ko-KR" sz="1000" dirty="0">
                <a:solidFill>
                  <a:schemeClr val="dk1"/>
                </a:solidFill>
                <a:latin typeface="Calibri"/>
                <a:ea typeface="Calibri"/>
                <a:cs typeface="Calibri"/>
                <a:sym typeface="Calibri"/>
              </a:rPr>
              <a:t>, SQLite</a:t>
            </a:r>
          </a:p>
          <a:p>
            <a:pPr lvl="0" algn="just">
              <a:lnSpc>
                <a:spcPct val="150000"/>
              </a:lnSpc>
            </a:pPr>
            <a:r>
              <a:rPr lang="ko-KR" sz="1000" b="1" dirty="0">
                <a:solidFill>
                  <a:schemeClr val="dk1"/>
                </a:solidFill>
                <a:latin typeface="Calibri"/>
                <a:ea typeface="Calibri"/>
                <a:cs typeface="Calibri"/>
                <a:sym typeface="Calibri"/>
              </a:rPr>
              <a:t>오픈소스 &amp; 라이브러리 :</a:t>
            </a:r>
            <a:r>
              <a:rPr lang="en-US" altLang="ko-KR" sz="1000" b="1"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pytorch</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hashlib</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gpt-oss</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qwen</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milvusDB</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endParaRPr sz="1000" dirty="0">
              <a:solidFill>
                <a:schemeClr val="dk1"/>
              </a:solidFill>
              <a:latin typeface="Calibri"/>
              <a:ea typeface="Calibri"/>
              <a:cs typeface="Calibri"/>
              <a:sym typeface="Calibri"/>
            </a:endParaRPr>
          </a:p>
        </p:txBody>
      </p:sp>
      <p:sp>
        <p:nvSpPr>
          <p:cNvPr id="103" name="Google Shape;103;p13"/>
          <p:cNvSpPr txBox="1"/>
          <p:nvPr/>
        </p:nvSpPr>
        <p:spPr>
          <a:xfrm>
            <a:off x="803314" y="1503382"/>
            <a:ext cx="4207616" cy="386659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dirty="0">
                <a:solidFill>
                  <a:schemeClr val="dk1"/>
                </a:solidFill>
                <a:latin typeface="Calibri"/>
                <a:ea typeface="Calibri"/>
                <a:cs typeface="Calibri"/>
                <a:sym typeface="Calibri"/>
              </a:rPr>
              <a:t>[주요 업무]</a:t>
            </a:r>
            <a:endParaRPr sz="1051" dirty="0">
              <a:solidFill>
                <a:schemeClr val="dk1"/>
              </a:solidFill>
              <a:latin typeface="Calibri"/>
              <a:ea typeface="Calibri"/>
              <a:cs typeface="Calibri"/>
              <a:sym typeface="Calibri"/>
            </a:endParaRPr>
          </a:p>
          <a:p>
            <a:pPr marL="228600" lvl="0" indent="-228600" algn="just">
              <a:lnSpc>
                <a:spcPct val="150000"/>
              </a:lnSpc>
              <a:buAutoNum type="arabicPeriod"/>
            </a:pPr>
            <a:r>
              <a:rPr lang="en-US" altLang="ko-KR" sz="900" b="1" dirty="0">
                <a:solidFill>
                  <a:schemeClr val="dk1"/>
                </a:solidFill>
                <a:latin typeface="Calibri"/>
                <a:ea typeface="Calibri"/>
                <a:cs typeface="Calibri"/>
                <a:sym typeface="Calibri"/>
              </a:rPr>
              <a:t>RAG </a:t>
            </a:r>
            <a:r>
              <a:rPr lang="ko-KR" altLang="en-US" sz="900" b="1" dirty="0">
                <a:solidFill>
                  <a:schemeClr val="dk1"/>
                </a:solidFill>
                <a:latin typeface="Calibri"/>
                <a:ea typeface="Calibri"/>
                <a:cs typeface="Calibri"/>
                <a:sym typeface="Calibri"/>
              </a:rPr>
              <a:t>보안 및 파이프라인 설계 및 구현</a:t>
            </a:r>
            <a:endParaRPr lang="ko-KR" altLang="en-US" sz="900" dirty="0"/>
          </a:p>
          <a:p>
            <a:pPr algn="just" eaLnBrk="0" fontAlgn="base" hangingPunct="0">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사용자</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및 </a:t>
            </a:r>
            <a:r>
              <a:rPr lang="ko-KR" altLang="en-US" sz="900" dirty="0" err="1">
                <a:solidFill>
                  <a:schemeClr val="dk1"/>
                </a:solidFill>
                <a:latin typeface="Calibri"/>
                <a:ea typeface="Calibri"/>
                <a:cs typeface="Calibri"/>
                <a:sym typeface="Calibri"/>
              </a:rPr>
              <a:t>테스크</a:t>
            </a:r>
            <a:r>
              <a:rPr lang="ko-KR" altLang="en-US" sz="900" dirty="0">
                <a:solidFill>
                  <a:schemeClr val="dk1"/>
                </a:solidFill>
                <a:latin typeface="Calibri"/>
                <a:ea typeface="Calibri"/>
                <a:cs typeface="Calibri"/>
                <a:sym typeface="Calibri"/>
              </a:rPr>
              <a:t> 마다 접근 가능한 문서에 차이를 두어 보안 향상</a:t>
            </a:r>
            <a:endParaRPr lang="en-US" altLang="ko-KR" sz="900" dirty="0">
              <a:solidFill>
                <a:schemeClr val="dk1"/>
              </a:solidFill>
              <a:latin typeface="Calibri"/>
              <a:ea typeface="Calibri"/>
              <a:cs typeface="Calibri"/>
              <a:sym typeface="Calibri"/>
            </a:endParaRPr>
          </a:p>
          <a:p>
            <a:pPr algn="just" eaLnBrk="0" fontAlgn="base" hangingPunct="0">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a:t>
            </a:r>
            <a:r>
              <a:rPr lang="ko-KR" altLang="ko-KR" sz="900" dirty="0" err="1"/>
              <a:t>청크</a:t>
            </a:r>
            <a:r>
              <a:rPr lang="ko-KR" altLang="ko-KR" sz="900" dirty="0"/>
              <a:t> 품질 지표(RC/BI/ICC/DCC/SC 등) 기반 자동 평가 </a:t>
            </a:r>
            <a:endParaRPr lang="en-US" altLang="ko-KR" sz="900" dirty="0"/>
          </a:p>
          <a:p>
            <a:pPr algn="just" eaLnBrk="0" fontAlgn="base" hangingPunct="0">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a:t>
            </a:r>
            <a:r>
              <a:rPr lang="ko-KR" altLang="ko-KR" sz="900" dirty="0" err="1"/>
              <a:t>저품질</a:t>
            </a:r>
            <a:r>
              <a:rPr lang="ko-KR" altLang="ko-KR" sz="900" dirty="0"/>
              <a:t>/불필요 </a:t>
            </a:r>
            <a:r>
              <a:rPr lang="ko-KR" altLang="ko-KR" sz="900" dirty="0" err="1"/>
              <a:t>청크를</a:t>
            </a:r>
            <a:r>
              <a:rPr lang="ko-KR" altLang="ko-KR" sz="900" dirty="0"/>
              <a:t> </a:t>
            </a:r>
            <a:r>
              <a:rPr lang="en-US" altLang="ko-KR" sz="900" dirty="0"/>
              <a:t>CRUD</a:t>
            </a:r>
            <a:r>
              <a:rPr lang="ko-KR" altLang="en-US" sz="900" dirty="0"/>
              <a:t>하고</a:t>
            </a:r>
            <a:r>
              <a:rPr lang="ko-KR" altLang="ko-KR" sz="900" dirty="0"/>
              <a:t> </a:t>
            </a:r>
            <a:r>
              <a:rPr lang="ko-KR" altLang="ko-KR" sz="900" dirty="0" err="1"/>
              <a:t>청크는</a:t>
            </a:r>
            <a:r>
              <a:rPr lang="ko-KR" altLang="ko-KR" sz="900" dirty="0"/>
              <a:t> </a:t>
            </a:r>
            <a:r>
              <a:rPr lang="ko-KR" altLang="ko-KR" sz="900" dirty="0" err="1"/>
              <a:t>재임베딩되어</a:t>
            </a:r>
            <a:r>
              <a:rPr lang="ko-KR" altLang="ko-KR" sz="900" dirty="0"/>
              <a:t> 벡터 </a:t>
            </a:r>
            <a:r>
              <a:rPr lang="ko-KR" altLang="ko-KR" sz="900" dirty="0" err="1"/>
              <a:t>DB에</a:t>
            </a:r>
            <a:r>
              <a:rPr lang="ko-KR" altLang="ko-KR" sz="900" dirty="0"/>
              <a:t> 반영, 검색 정확도 지속 개선</a:t>
            </a:r>
            <a:endParaRPr lang="en-US" altLang="ko-KR" sz="900" dirty="0"/>
          </a:p>
          <a:p>
            <a:pPr algn="just" eaLnBrk="0" fontAlgn="base" hangingPunct="0">
              <a:lnSpc>
                <a:spcPct val="150000"/>
              </a:lnSpc>
            </a:pPr>
            <a:r>
              <a:rPr lang="en-US" altLang="ko-KR" sz="900" b="1" dirty="0">
                <a:solidFill>
                  <a:schemeClr val="dk1"/>
                </a:solidFill>
                <a:latin typeface="Calibri"/>
                <a:ea typeface="Calibri"/>
                <a:cs typeface="Calibri"/>
                <a:sym typeface="Calibri"/>
              </a:rPr>
              <a:t>2</a:t>
            </a:r>
            <a:r>
              <a:rPr lang="ko-KR" altLang="ko-KR" sz="900" b="1" dirty="0">
                <a:solidFill>
                  <a:schemeClr val="dk1"/>
                </a:solidFill>
                <a:latin typeface="Calibri"/>
                <a:ea typeface="Calibri"/>
                <a:cs typeface="Calibri"/>
                <a:sym typeface="Calibri"/>
              </a:rPr>
              <a:t>. </a:t>
            </a:r>
            <a:r>
              <a:rPr lang="ko-KR" altLang="en-US" sz="900" b="1" dirty="0">
                <a:solidFill>
                  <a:schemeClr val="dk1"/>
                </a:solidFill>
                <a:latin typeface="Calibri"/>
                <a:ea typeface="Calibri"/>
                <a:cs typeface="Calibri"/>
                <a:sym typeface="Calibri"/>
              </a:rPr>
              <a:t>관리자 기능</a:t>
            </a:r>
            <a:endParaRPr lang="en-US" altLang="ko-KR" sz="900" b="1" dirty="0">
              <a:solidFill>
                <a:schemeClr val="dk1"/>
              </a:solidFill>
              <a:latin typeface="Calibri"/>
              <a:ea typeface="Calibri"/>
              <a:cs typeface="Calibri"/>
              <a:sym typeface="Calibri"/>
            </a:endParaRPr>
          </a:p>
          <a:p>
            <a:pPr algn="just" eaLnBrk="0" fontAlgn="base" hangingPunct="0">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a:t>
            </a:r>
            <a:r>
              <a:rPr lang="en-US" altLang="ko-KR" sz="900" dirty="0">
                <a:solidFill>
                  <a:schemeClr val="dk1"/>
                </a:solidFill>
                <a:latin typeface="Calibri"/>
                <a:ea typeface="Calibri"/>
                <a:cs typeface="Calibri"/>
                <a:sym typeface="Calibri"/>
              </a:rPr>
              <a:t>  </a:t>
            </a:r>
            <a:r>
              <a:rPr lang="ko-KR" altLang="en-US" sz="900" dirty="0" err="1">
                <a:solidFill>
                  <a:schemeClr val="dk1"/>
                </a:solidFill>
                <a:latin typeface="Calibri"/>
                <a:ea typeface="Calibri"/>
                <a:cs typeface="Calibri"/>
                <a:sym typeface="Calibri"/>
              </a:rPr>
              <a:t>온프레미스</a:t>
            </a:r>
            <a:r>
              <a:rPr lang="ko-KR" altLang="en-US" sz="900" dirty="0">
                <a:solidFill>
                  <a:schemeClr val="dk1"/>
                </a:solidFill>
                <a:latin typeface="Calibri"/>
                <a:ea typeface="Calibri"/>
                <a:cs typeface="Calibri"/>
                <a:sym typeface="Calibri"/>
              </a:rPr>
              <a:t> 환경만으로 데이터 수집 및 </a:t>
            </a:r>
            <a:r>
              <a:rPr lang="ko-KR" altLang="en-US" sz="900" dirty="0" err="1">
                <a:solidFill>
                  <a:schemeClr val="dk1"/>
                </a:solidFill>
                <a:latin typeface="Calibri"/>
                <a:ea typeface="Calibri"/>
                <a:cs typeface="Calibri"/>
                <a:sym typeface="Calibri"/>
              </a:rPr>
              <a:t>파인튜닝</a:t>
            </a:r>
            <a:r>
              <a:rPr lang="ko-KR" altLang="en-US" sz="900" dirty="0">
                <a:solidFill>
                  <a:schemeClr val="dk1"/>
                </a:solidFill>
                <a:latin typeface="Calibri"/>
                <a:ea typeface="Calibri"/>
                <a:cs typeface="Calibri"/>
                <a:sym typeface="Calibri"/>
              </a:rPr>
              <a:t> 가능</a:t>
            </a:r>
            <a:endParaRPr lang="en-US" altLang="ko-KR" sz="900" b="1" dirty="0">
              <a:solidFill>
                <a:schemeClr val="dk1"/>
              </a:solidFill>
              <a:latin typeface="Calibri"/>
              <a:ea typeface="Calibri"/>
              <a:cs typeface="Calibri"/>
              <a:sym typeface="Calibri"/>
            </a:endParaRPr>
          </a:p>
          <a:p>
            <a:pPr algn="just">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관리자가 사용자 및 보안설정으로 </a:t>
            </a:r>
            <a:r>
              <a:rPr lang="ko-KR" altLang="en-US" sz="900" dirty="0" err="1">
                <a:solidFill>
                  <a:schemeClr val="dk1"/>
                </a:solidFill>
                <a:latin typeface="Calibri"/>
                <a:ea typeface="Calibri"/>
                <a:cs typeface="Calibri"/>
                <a:sym typeface="Calibri"/>
              </a:rPr>
              <a:t>백터</a:t>
            </a:r>
            <a:r>
              <a:rPr lang="ko-KR" altLang="en-US" sz="900" dirty="0">
                <a:solidFill>
                  <a:schemeClr val="dk1"/>
                </a:solidFill>
                <a:latin typeface="Calibri"/>
                <a:ea typeface="Calibri"/>
                <a:cs typeface="Calibri"/>
                <a:sym typeface="Calibri"/>
              </a:rPr>
              <a:t> </a:t>
            </a:r>
            <a:r>
              <a:rPr lang="en-US" altLang="ko-KR" sz="900" dirty="0">
                <a:solidFill>
                  <a:schemeClr val="dk1"/>
                </a:solidFill>
                <a:latin typeface="Calibri"/>
                <a:ea typeface="Calibri"/>
                <a:cs typeface="Calibri"/>
                <a:sym typeface="Calibri"/>
              </a:rPr>
              <a:t>DB </a:t>
            </a:r>
            <a:r>
              <a:rPr lang="ko-KR" altLang="en-US" sz="900" dirty="0">
                <a:solidFill>
                  <a:schemeClr val="dk1"/>
                </a:solidFill>
                <a:latin typeface="Calibri"/>
                <a:ea typeface="Calibri"/>
                <a:cs typeface="Calibri"/>
                <a:sym typeface="Calibri"/>
              </a:rPr>
              <a:t>저장 파라미터들 수정가능</a:t>
            </a:r>
            <a:endParaRPr lang="en-US" altLang="ko-KR" sz="900" dirty="0">
              <a:solidFill>
                <a:schemeClr val="dk1"/>
              </a:solidFill>
              <a:latin typeface="Calibri"/>
              <a:ea typeface="Calibri"/>
              <a:cs typeface="Calibri"/>
              <a:sym typeface="Calibri"/>
            </a:endParaRPr>
          </a:p>
          <a:p>
            <a:pPr algn="just">
              <a:lnSpc>
                <a:spcPct val="150000"/>
              </a:lnSpc>
            </a:pPr>
            <a:r>
              <a:rPr lang="en-US" altLang="ko-KR" sz="900" dirty="0">
                <a:solidFill>
                  <a:schemeClr val="dk1"/>
                </a:solidFill>
                <a:latin typeface="Calibri"/>
                <a:ea typeface="Calibri"/>
                <a:cs typeface="Calibri"/>
                <a:sym typeface="Calibri"/>
              </a:rPr>
              <a:t>    - </a:t>
            </a:r>
            <a:r>
              <a:rPr lang="ko-KR" altLang="en-US" sz="900" dirty="0">
                <a:solidFill>
                  <a:schemeClr val="dk1"/>
                </a:solidFill>
                <a:latin typeface="Calibri"/>
                <a:ea typeface="Calibri"/>
                <a:cs typeface="Calibri"/>
                <a:sym typeface="Calibri"/>
              </a:rPr>
              <a:t>관리자가 </a:t>
            </a:r>
            <a:r>
              <a:rPr lang="ko-KR" altLang="en-US" sz="900" dirty="0" err="1">
                <a:solidFill>
                  <a:schemeClr val="dk1"/>
                </a:solidFill>
                <a:latin typeface="Calibri"/>
                <a:ea typeface="Calibri"/>
                <a:cs typeface="Calibri"/>
                <a:sym typeface="Calibri"/>
              </a:rPr>
              <a:t>파인튜닝한</a:t>
            </a:r>
            <a:r>
              <a:rPr lang="ko-KR" altLang="en-US" sz="900" dirty="0">
                <a:solidFill>
                  <a:schemeClr val="dk1"/>
                </a:solidFill>
                <a:latin typeface="Calibri"/>
                <a:ea typeface="Calibri"/>
                <a:cs typeface="Calibri"/>
                <a:sym typeface="Calibri"/>
              </a:rPr>
              <a:t> 모델을 </a:t>
            </a:r>
            <a:r>
              <a:rPr lang="ko-KR" altLang="en-US" sz="900" dirty="0" err="1">
                <a:solidFill>
                  <a:schemeClr val="dk1"/>
                </a:solidFill>
                <a:latin typeface="Calibri"/>
                <a:ea typeface="Calibri"/>
                <a:cs typeface="Calibri"/>
                <a:sym typeface="Calibri"/>
              </a:rPr>
              <a:t>사용자들한테</a:t>
            </a:r>
            <a:r>
              <a:rPr lang="ko-KR" altLang="en-US" sz="900" dirty="0">
                <a:solidFill>
                  <a:schemeClr val="dk1"/>
                </a:solidFill>
                <a:latin typeface="Calibri"/>
                <a:ea typeface="Calibri"/>
                <a:cs typeface="Calibri"/>
                <a:sym typeface="Calibri"/>
              </a:rPr>
              <a:t> 배포 가능</a:t>
            </a:r>
            <a:endParaRPr lang="en-US" altLang="ko-KR" sz="900" dirty="0">
              <a:solidFill>
                <a:schemeClr val="dk1"/>
              </a:solidFill>
              <a:latin typeface="Calibri"/>
              <a:ea typeface="Calibri"/>
              <a:cs typeface="Calibri"/>
              <a:sym typeface="Calibri"/>
            </a:endParaRPr>
          </a:p>
          <a:p>
            <a:pPr algn="just">
              <a:lnSpc>
                <a:spcPct val="150000"/>
              </a:lnSpc>
            </a:pPr>
            <a:r>
              <a:rPr lang="en-US" altLang="ko-KR" sz="900" dirty="0">
                <a:solidFill>
                  <a:schemeClr val="dk1"/>
                </a:solidFill>
                <a:latin typeface="Calibri"/>
                <a:ea typeface="Calibri"/>
                <a:cs typeface="Calibri"/>
                <a:sym typeface="Calibri"/>
              </a:rPr>
              <a:t>    - </a:t>
            </a:r>
            <a:r>
              <a:rPr lang="ko-KR" altLang="en-US" sz="900" dirty="0">
                <a:solidFill>
                  <a:schemeClr val="dk1"/>
                </a:solidFill>
                <a:latin typeface="Calibri"/>
                <a:ea typeface="Calibri"/>
                <a:cs typeface="Calibri"/>
                <a:sym typeface="Calibri"/>
              </a:rPr>
              <a:t>최적 </a:t>
            </a:r>
            <a:r>
              <a:rPr lang="en-US" altLang="ko-KR" sz="900" dirty="0" err="1">
                <a:solidFill>
                  <a:schemeClr val="dk1"/>
                </a:solidFill>
                <a:latin typeface="Calibri"/>
                <a:ea typeface="Calibri"/>
                <a:cs typeface="Calibri"/>
                <a:sym typeface="Calibri"/>
              </a:rPr>
              <a:t>llm</a:t>
            </a:r>
            <a:r>
              <a:rPr lang="ko-KR" altLang="en-US" sz="900" dirty="0">
                <a:solidFill>
                  <a:schemeClr val="dk1"/>
                </a:solidFill>
                <a:latin typeface="Calibri"/>
                <a:ea typeface="Calibri"/>
                <a:cs typeface="Calibri"/>
                <a:sym typeface="Calibri"/>
              </a:rPr>
              <a:t>을 각 </a:t>
            </a:r>
            <a:r>
              <a:rPr lang="ko-KR" altLang="en-US" sz="900" dirty="0" err="1">
                <a:solidFill>
                  <a:schemeClr val="dk1"/>
                </a:solidFill>
                <a:latin typeface="Calibri"/>
                <a:ea typeface="Calibri"/>
                <a:cs typeface="Calibri"/>
                <a:sym typeface="Calibri"/>
              </a:rPr>
              <a:t>테스크별로</a:t>
            </a:r>
            <a:r>
              <a:rPr lang="ko-KR" altLang="en-US" sz="900" dirty="0">
                <a:solidFill>
                  <a:schemeClr val="dk1"/>
                </a:solidFill>
                <a:latin typeface="Calibri"/>
                <a:ea typeface="Calibri"/>
                <a:cs typeface="Calibri"/>
                <a:sym typeface="Calibri"/>
              </a:rPr>
              <a:t> 간편하게 선택가능</a:t>
            </a:r>
            <a:endParaRPr lang="en-US" altLang="ko-KR" sz="900" dirty="0">
              <a:solidFill>
                <a:schemeClr val="dk1"/>
              </a:solidFill>
              <a:latin typeface="Calibri"/>
              <a:ea typeface="Calibri"/>
              <a:cs typeface="Calibri"/>
              <a:sym typeface="Calibri"/>
            </a:endParaRPr>
          </a:p>
          <a:p>
            <a:pPr algn="just">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사용자의 환경에서 피드백을 받은 데이터로 </a:t>
            </a:r>
            <a:r>
              <a:rPr lang="ko-KR" altLang="en-US" sz="900" dirty="0" err="1">
                <a:solidFill>
                  <a:schemeClr val="dk1"/>
                </a:solidFill>
                <a:latin typeface="Calibri"/>
                <a:ea typeface="Calibri"/>
                <a:cs typeface="Calibri"/>
                <a:sym typeface="Calibri"/>
              </a:rPr>
              <a:t>테스크에</a:t>
            </a:r>
            <a:r>
              <a:rPr lang="ko-KR" altLang="en-US" sz="900" dirty="0">
                <a:solidFill>
                  <a:schemeClr val="dk1"/>
                </a:solidFill>
                <a:latin typeface="Calibri"/>
                <a:ea typeface="Calibri"/>
                <a:cs typeface="Calibri"/>
                <a:sym typeface="Calibri"/>
              </a:rPr>
              <a:t> 적합한</a:t>
            </a:r>
            <a:r>
              <a:rPr lang="en-US" altLang="ko-KR" sz="900" dirty="0">
                <a:solidFill>
                  <a:schemeClr val="dk1"/>
                </a:solidFill>
                <a:latin typeface="Calibri"/>
                <a:ea typeface="Calibri"/>
                <a:cs typeface="Calibri"/>
                <a:sym typeface="Calibri"/>
              </a:rPr>
              <a:t> fine-</a:t>
            </a:r>
            <a:r>
              <a:rPr lang="en-US" altLang="ko-KR" sz="900" dirty="0" err="1">
                <a:solidFill>
                  <a:schemeClr val="dk1"/>
                </a:solidFill>
                <a:latin typeface="Calibri"/>
                <a:ea typeface="Calibri"/>
                <a:cs typeface="Calibri"/>
                <a:sym typeface="Calibri"/>
              </a:rPr>
              <a:t>tuing</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기능</a:t>
            </a:r>
            <a:endParaRPr lang="en-US" altLang="ko-KR" sz="900" dirty="0">
              <a:solidFill>
                <a:schemeClr val="dk1"/>
              </a:solidFill>
              <a:latin typeface="Calibri"/>
              <a:ea typeface="Calibri"/>
              <a:cs typeface="Calibri"/>
              <a:sym typeface="Calibri"/>
            </a:endParaRPr>
          </a:p>
          <a:p>
            <a:pPr algn="just" eaLnBrk="0" fontAlgn="base" hangingPunct="0">
              <a:lnSpc>
                <a:spcPct val="150000"/>
              </a:lnSpc>
            </a:pPr>
            <a:r>
              <a:rPr lang="en-US" altLang="ko-KR" sz="9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3</a:t>
            </a:r>
            <a:r>
              <a:rPr lang="ko-KR" altLang="ko-KR" sz="900" b="1" dirty="0">
                <a:solidFill>
                  <a:schemeClr val="dk1"/>
                </a:solidFill>
                <a:latin typeface="Calibri" panose="020F0502020204030204" pitchFamily="34" charset="0"/>
                <a:ea typeface="Calibri"/>
                <a:cs typeface="Calibri" panose="020F0502020204030204" pitchFamily="34" charset="0"/>
                <a:sym typeface="Calibri"/>
              </a:rPr>
              <a:t>. </a:t>
            </a:r>
            <a:r>
              <a:rPr lang="ko-KR" altLang="en-US" sz="900" b="1" dirty="0">
                <a:solidFill>
                  <a:schemeClr val="dk1"/>
                </a:solidFill>
                <a:latin typeface="Calibri" panose="020F0502020204030204" pitchFamily="34" charset="0"/>
                <a:ea typeface="Calibri"/>
                <a:cs typeface="Calibri" panose="020F0502020204030204" pitchFamily="34" charset="0"/>
                <a:sym typeface="Calibri"/>
              </a:rPr>
              <a:t>에이전트 자동화 및 도구 확장</a:t>
            </a:r>
            <a:endParaRPr lang="en-US" altLang="ko-KR" sz="9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algn="just">
              <a:lnSpc>
                <a:spcPct val="150000"/>
              </a:lnSpc>
            </a:pPr>
            <a:r>
              <a:rPr lang="en-US" altLang="ko-KR" sz="9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r>
              <a:rPr lang="ko-KR" altLang="ko-KR" sz="900" dirty="0">
                <a:solidFill>
                  <a:schemeClr val="dk1"/>
                </a:solidFill>
                <a:latin typeface="Calibri" panose="020F0502020204030204" pitchFamily="34" charset="0"/>
                <a:ea typeface="Calibri"/>
                <a:cs typeface="Calibri" panose="020F0502020204030204" pitchFamily="34" charset="0"/>
                <a:sym typeface="Calibri"/>
              </a:rPr>
              <a:t>- </a:t>
            </a:r>
            <a:r>
              <a:rPr lang="ko-KR" altLang="ko-KR" sz="900" dirty="0">
                <a:latin typeface="Calibri" panose="020F0502020204030204" pitchFamily="34" charset="0"/>
                <a:cs typeface="Calibri" panose="020F0502020204030204" pitchFamily="34" charset="0"/>
              </a:rPr>
              <a:t>LLM 응답 파싱 실패/일시적 오류에 대한 </a:t>
            </a:r>
            <a:r>
              <a:rPr lang="ko-KR" altLang="ko-KR" sz="900" dirty="0" err="1">
                <a:latin typeface="Calibri" panose="020F0502020204030204" pitchFamily="34" charset="0"/>
                <a:cs typeface="Calibri" panose="020F0502020204030204" pitchFamily="34" charset="0"/>
              </a:rPr>
              <a:t>하네스</a:t>
            </a:r>
            <a:r>
              <a:rPr lang="ko-KR" altLang="ko-KR" sz="900" dirty="0">
                <a:latin typeface="Calibri" panose="020F0502020204030204" pitchFamily="34" charset="0"/>
                <a:cs typeface="Calibri" panose="020F0502020204030204" pitchFamily="34" charset="0"/>
              </a:rPr>
              <a:t>(</a:t>
            </a:r>
            <a:r>
              <a:rPr lang="ko-KR" altLang="ko-KR" sz="900" dirty="0" err="1">
                <a:latin typeface="Calibri" panose="020F0502020204030204" pitchFamily="34" charset="0"/>
                <a:cs typeface="Calibri" panose="020F0502020204030204" pitchFamily="34" charset="0"/>
              </a:rPr>
              <a:t>Harness</a:t>
            </a:r>
            <a:r>
              <a:rPr lang="ko-KR" altLang="ko-KR" sz="900" dirty="0">
                <a:latin typeface="Calibri" panose="020F0502020204030204" pitchFamily="34" charset="0"/>
                <a:cs typeface="Calibri" panose="020F0502020204030204" pitchFamily="34" charset="0"/>
              </a:rPr>
              <a:t>) 적용 → </a:t>
            </a:r>
            <a:r>
              <a:rPr lang="ko-KR" altLang="ko-KR" sz="900" dirty="0" err="1">
                <a:latin typeface="Calibri" panose="020F0502020204030204" pitchFamily="34" charset="0"/>
                <a:cs typeface="Calibri" panose="020F0502020204030204" pitchFamily="34" charset="0"/>
              </a:rPr>
              <a:t>생성·실행</a:t>
            </a:r>
            <a:r>
              <a:rPr lang="ko-KR" altLang="ko-KR" sz="900" dirty="0">
                <a:latin typeface="Calibri" panose="020F0502020204030204" pitchFamily="34" charset="0"/>
                <a:cs typeface="Calibri" panose="020F0502020204030204" pitchFamily="34" charset="0"/>
              </a:rPr>
              <a:t> 단계에서 자동 재시도/복구로 파이프라인 중단 최소화</a:t>
            </a:r>
            <a:endParaRPr lang="en-US" altLang="ko-KR" sz="9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US" altLang="ko-KR" sz="9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 </a:t>
            </a:r>
            <a:r>
              <a:rPr lang="ko-KR" altLang="ko-KR" sz="900" dirty="0">
                <a:latin typeface="Calibri" panose="020F0502020204030204" pitchFamily="34" charset="0"/>
                <a:cs typeface="Calibri" panose="020F0502020204030204" pitchFamily="34" charset="0"/>
              </a:rPr>
              <a:t>요구사항에 맞는 MCP 도구가 없을 경우, 에이전트가 검색 후 없으면 자동으로 도구 코드를 생성해 등록 → 반복 작업의 수동 개발 부담 감소</a:t>
            </a:r>
            <a:endParaRPr lang="en-US" altLang="ko-KR" sz="9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algn="just">
              <a:lnSpc>
                <a:spcPct val="150000"/>
              </a:lnSpc>
            </a:pPr>
            <a:endParaRPr lang="en-US" altLang="ko-KR" sz="900" dirty="0">
              <a:solidFill>
                <a:schemeClr val="dk1"/>
              </a:solidFill>
              <a:latin typeface="Calibri"/>
              <a:ea typeface="Calibri"/>
              <a:cs typeface="Calibri"/>
              <a:sym typeface="Calibri"/>
            </a:endParaRPr>
          </a:p>
        </p:txBody>
      </p:sp>
      <p:pic>
        <p:nvPicPr>
          <p:cNvPr id="11" name="그림 10">
            <a:extLst>
              <a:ext uri="{FF2B5EF4-FFF2-40B4-BE49-F238E27FC236}">
                <a16:creationId xmlns:a16="http://schemas.microsoft.com/office/drawing/2014/main" id="{A1737A1B-67C9-4A37-B62F-42775598CFB7}"/>
              </a:ext>
            </a:extLst>
          </p:cNvPr>
          <p:cNvPicPr>
            <a:picLocks noChangeAspect="1"/>
          </p:cNvPicPr>
          <p:nvPr/>
        </p:nvPicPr>
        <p:blipFill>
          <a:blip r:embed="rId3"/>
          <a:stretch>
            <a:fillRect/>
          </a:stretch>
        </p:blipFill>
        <p:spPr>
          <a:xfrm>
            <a:off x="-4449220" y="5039778"/>
            <a:ext cx="3786889" cy="2456643"/>
          </a:xfrm>
          <a:prstGeom prst="rect">
            <a:avLst/>
          </a:prstGeom>
        </p:spPr>
      </p:pic>
      <p:pic>
        <p:nvPicPr>
          <p:cNvPr id="9" name="그림 8">
            <a:extLst>
              <a:ext uri="{FF2B5EF4-FFF2-40B4-BE49-F238E27FC236}">
                <a16:creationId xmlns:a16="http://schemas.microsoft.com/office/drawing/2014/main" id="{9CDB5FC1-BBAB-43A6-B626-4D071EAA6E0F}"/>
              </a:ext>
            </a:extLst>
          </p:cNvPr>
          <p:cNvPicPr>
            <a:picLocks noChangeAspect="1"/>
          </p:cNvPicPr>
          <p:nvPr/>
        </p:nvPicPr>
        <p:blipFill rotWithShape="1">
          <a:blip r:embed="rId4"/>
          <a:srcRect l="18992"/>
          <a:stretch/>
        </p:blipFill>
        <p:spPr>
          <a:xfrm>
            <a:off x="5227611" y="3527115"/>
            <a:ext cx="3411527" cy="3737582"/>
          </a:xfrm>
          <a:prstGeom prst="rect">
            <a:avLst/>
          </a:prstGeom>
        </p:spPr>
      </p:pic>
      <p:pic>
        <p:nvPicPr>
          <p:cNvPr id="3" name="그림 2">
            <a:extLst>
              <a:ext uri="{FF2B5EF4-FFF2-40B4-BE49-F238E27FC236}">
                <a16:creationId xmlns:a16="http://schemas.microsoft.com/office/drawing/2014/main" id="{F6ECBD27-5554-8D0C-9020-A7225FDDB8CB}"/>
              </a:ext>
            </a:extLst>
          </p:cNvPr>
          <p:cNvPicPr>
            <a:picLocks noChangeAspect="1"/>
          </p:cNvPicPr>
          <p:nvPr/>
        </p:nvPicPr>
        <p:blipFill>
          <a:blip r:embed="rId5"/>
          <a:stretch>
            <a:fillRect/>
          </a:stretch>
        </p:blipFill>
        <p:spPr>
          <a:xfrm>
            <a:off x="1137153" y="5127297"/>
            <a:ext cx="3796125" cy="2435875"/>
          </a:xfrm>
          <a:prstGeom prst="rect">
            <a:avLst/>
          </a:prstGeom>
        </p:spPr>
      </p:pic>
      <p:sp>
        <p:nvSpPr>
          <p:cNvPr id="8" name="Google Shape;97;p13">
            <a:extLst>
              <a:ext uri="{FF2B5EF4-FFF2-40B4-BE49-F238E27FC236}">
                <a16:creationId xmlns:a16="http://schemas.microsoft.com/office/drawing/2014/main" id="{445848EF-BF8E-D6AC-D4EC-4EF609C47BA4}"/>
              </a:ext>
            </a:extLst>
          </p:cNvPr>
          <p:cNvSpPr txBox="1"/>
          <p:nvPr/>
        </p:nvSpPr>
        <p:spPr>
          <a:xfrm>
            <a:off x="810807" y="7366000"/>
            <a:ext cx="7815399" cy="220460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dirty="0">
                <a:solidFill>
                  <a:schemeClr val="dk1"/>
                </a:solidFill>
                <a:latin typeface="Calibri"/>
                <a:ea typeface="Calibri"/>
                <a:cs typeface="Calibri"/>
                <a:sym typeface="Calibri"/>
              </a:rPr>
              <a:t>프로젝트 설명</a:t>
            </a:r>
          </a:p>
          <a:p>
            <a:pPr lvl="0" algn="just">
              <a:lnSpc>
                <a:spcPct val="150000"/>
              </a:lnSpc>
            </a:pPr>
            <a:r>
              <a:rPr lang="ko-KR" altLang="en-US" sz="900" dirty="0">
                <a:solidFill>
                  <a:schemeClr val="dk1"/>
                </a:solidFill>
                <a:latin typeface="Calibri"/>
                <a:ea typeface="Calibri"/>
                <a:cs typeface="Calibri"/>
                <a:sym typeface="Calibri"/>
              </a:rPr>
              <a:t>본 프로젝트는 보안이 중요한 환경에서 사용자를 위해 시작되었습니다</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기존의 일반적인 </a:t>
            </a:r>
            <a:r>
              <a:rPr lang="en-US" altLang="ko-KR" sz="900" dirty="0">
                <a:solidFill>
                  <a:schemeClr val="dk1"/>
                </a:solidFill>
                <a:latin typeface="Calibri"/>
                <a:ea typeface="Calibri"/>
                <a:cs typeface="Calibri"/>
                <a:sym typeface="Calibri"/>
              </a:rPr>
              <a:t>RAG-LLM</a:t>
            </a:r>
            <a:r>
              <a:rPr lang="ko-KR" altLang="en-US" sz="900" dirty="0">
                <a:solidFill>
                  <a:schemeClr val="dk1"/>
                </a:solidFill>
                <a:latin typeface="Calibri"/>
                <a:ea typeface="Calibri"/>
                <a:cs typeface="Calibri"/>
                <a:sym typeface="Calibri"/>
              </a:rPr>
              <a:t>들과는 달리 </a:t>
            </a:r>
            <a:r>
              <a:rPr lang="ko-KR" altLang="en-US" sz="900" dirty="0" err="1">
                <a:solidFill>
                  <a:schemeClr val="dk1"/>
                </a:solidFill>
                <a:latin typeface="Calibri"/>
                <a:ea typeface="Calibri"/>
                <a:cs typeface="Calibri"/>
                <a:sym typeface="Calibri"/>
              </a:rPr>
              <a:t>테스크마다</a:t>
            </a:r>
            <a:r>
              <a:rPr lang="ko-KR" altLang="en-US" sz="900" dirty="0">
                <a:solidFill>
                  <a:schemeClr val="dk1"/>
                </a:solidFill>
                <a:latin typeface="Calibri"/>
                <a:ea typeface="Calibri"/>
                <a:cs typeface="Calibri"/>
                <a:sym typeface="Calibri"/>
              </a:rPr>
              <a:t> 최적 프롬프트와  보안레벨에 부분을 상이하게 하여 사용자가 접근가능한 부분을 달리 하였습니다</a:t>
            </a:r>
            <a:r>
              <a:rPr lang="en-US" altLang="ko-KR" sz="900" dirty="0">
                <a:solidFill>
                  <a:schemeClr val="dk1"/>
                </a:solidFill>
                <a:latin typeface="Calibri"/>
                <a:ea typeface="Calibri"/>
                <a:cs typeface="Calibri"/>
                <a:sym typeface="Calibri"/>
              </a:rPr>
              <a:t>. </a:t>
            </a:r>
            <a:r>
              <a:rPr lang="ko-KR" altLang="ko-KR" sz="900" dirty="0"/>
              <a:t>또한 </a:t>
            </a:r>
            <a:r>
              <a:rPr lang="ko-KR" altLang="ko-KR" sz="900" dirty="0" err="1"/>
              <a:t>업로드된</a:t>
            </a:r>
            <a:r>
              <a:rPr lang="ko-KR" altLang="ko-KR" sz="900" dirty="0"/>
              <a:t> 문서는 </a:t>
            </a:r>
            <a:r>
              <a:rPr lang="ko-KR" altLang="ko-KR" sz="900" dirty="0" err="1"/>
              <a:t>청킹</a:t>
            </a:r>
            <a:r>
              <a:rPr lang="ko-KR" altLang="ko-KR" sz="900" dirty="0"/>
              <a:t> 후 품질 지표로 자동 채점되며, 점수가 낮은 </a:t>
            </a:r>
            <a:r>
              <a:rPr lang="ko-KR" altLang="ko-KR" sz="900" dirty="0" err="1"/>
              <a:t>청크는</a:t>
            </a:r>
            <a:r>
              <a:rPr lang="ko-KR" altLang="ko-KR" sz="900" dirty="0"/>
              <a:t> 사용자가 직접 확인하여 수정하거나 제거할 수 있도록 하여 RAG 검색 품질을 사용자 주도로 관리할 수 있게 했습니다.</a:t>
            </a:r>
            <a:endParaRPr lang="en-US" altLang="ko-KR" sz="900" dirty="0">
              <a:solidFill>
                <a:schemeClr val="dk1"/>
              </a:solidFill>
              <a:latin typeface="Calibri"/>
              <a:ea typeface="Calibri"/>
              <a:cs typeface="Calibri"/>
              <a:sym typeface="Calibri"/>
            </a:endParaRPr>
          </a:p>
          <a:p>
            <a:pPr lvl="0" algn="just">
              <a:lnSpc>
                <a:spcPct val="150000"/>
              </a:lnSpc>
            </a:pPr>
            <a:r>
              <a:rPr lang="ko-KR" altLang="en-US" sz="900" dirty="0">
                <a:solidFill>
                  <a:schemeClr val="dk1"/>
                </a:solidFill>
                <a:latin typeface="Calibri"/>
                <a:ea typeface="Calibri"/>
                <a:cs typeface="Calibri"/>
                <a:sym typeface="Calibri"/>
              </a:rPr>
              <a:t>사용자가 문서 업로드만으로 워크스페이스를 만들고 워크스페이스 안에서 </a:t>
            </a:r>
            <a:r>
              <a:rPr lang="ko-KR" altLang="en-US" sz="900" dirty="0" err="1">
                <a:solidFill>
                  <a:schemeClr val="dk1"/>
                </a:solidFill>
                <a:latin typeface="Calibri"/>
                <a:ea typeface="Calibri"/>
                <a:cs typeface="Calibri"/>
                <a:sym typeface="Calibri"/>
              </a:rPr>
              <a:t>테스크를</a:t>
            </a:r>
            <a:r>
              <a:rPr lang="ko-KR" altLang="en-US" sz="900" dirty="0">
                <a:solidFill>
                  <a:schemeClr val="dk1"/>
                </a:solidFill>
                <a:latin typeface="Calibri"/>
                <a:ea typeface="Calibri"/>
                <a:cs typeface="Calibri"/>
                <a:sym typeface="Calibri"/>
              </a:rPr>
              <a:t> 선택하여 그 </a:t>
            </a:r>
            <a:r>
              <a:rPr lang="ko-KR" altLang="en-US" sz="900" dirty="0" err="1">
                <a:solidFill>
                  <a:schemeClr val="dk1"/>
                </a:solidFill>
                <a:latin typeface="Calibri"/>
                <a:ea typeface="Calibri"/>
                <a:cs typeface="Calibri"/>
                <a:sym typeface="Calibri"/>
              </a:rPr>
              <a:t>테크스에</a:t>
            </a:r>
            <a:r>
              <a:rPr lang="ko-KR" altLang="en-US" sz="900" dirty="0">
                <a:solidFill>
                  <a:schemeClr val="dk1"/>
                </a:solidFill>
                <a:latin typeface="Calibri"/>
                <a:ea typeface="Calibri"/>
                <a:cs typeface="Calibri"/>
                <a:sym typeface="Calibri"/>
              </a:rPr>
              <a:t> 적합한 작업들을 하기 편하게 구성하였습니다</a:t>
            </a:r>
            <a:r>
              <a:rPr lang="en-US" altLang="ko-KR" sz="900" dirty="0">
                <a:solidFill>
                  <a:schemeClr val="dk1"/>
                </a:solidFill>
                <a:latin typeface="Calibri"/>
                <a:ea typeface="Calibri"/>
                <a:cs typeface="Calibri"/>
                <a:sym typeface="Calibri"/>
              </a:rPr>
              <a:t>. </a:t>
            </a:r>
          </a:p>
          <a:p>
            <a:pPr lvl="0" algn="just">
              <a:lnSpc>
                <a:spcPct val="150000"/>
              </a:lnSpc>
            </a:pPr>
            <a:r>
              <a:rPr lang="ko-KR" altLang="en-US" sz="900" dirty="0">
                <a:solidFill>
                  <a:schemeClr val="dk1"/>
                </a:solidFill>
                <a:latin typeface="Calibri"/>
                <a:ea typeface="Calibri"/>
                <a:cs typeface="Calibri"/>
                <a:sym typeface="Calibri"/>
              </a:rPr>
              <a:t>기존 </a:t>
            </a:r>
            <a:r>
              <a:rPr lang="en-US" altLang="ko-KR" sz="900" dirty="0">
                <a:solidFill>
                  <a:schemeClr val="dk1"/>
                </a:solidFill>
                <a:latin typeface="Calibri"/>
                <a:ea typeface="Calibri"/>
                <a:cs typeface="Calibri"/>
                <a:sym typeface="Calibri"/>
              </a:rPr>
              <a:t>chat </a:t>
            </a:r>
            <a:r>
              <a:rPr lang="en-US" altLang="ko-KR" sz="900" dirty="0" err="1">
                <a:solidFill>
                  <a:schemeClr val="dk1"/>
                </a:solidFill>
                <a:latin typeface="Calibri"/>
                <a:ea typeface="Calibri"/>
                <a:cs typeface="Calibri"/>
                <a:sym typeface="Calibri"/>
              </a:rPr>
              <a:t>gpt</a:t>
            </a:r>
            <a:r>
              <a:rPr lang="ko-KR" altLang="en-US" sz="900" dirty="0">
                <a:solidFill>
                  <a:schemeClr val="dk1"/>
                </a:solidFill>
                <a:latin typeface="Calibri"/>
                <a:ea typeface="Calibri"/>
                <a:cs typeface="Calibri"/>
                <a:sym typeface="Calibri"/>
              </a:rPr>
              <a:t>등과는 달리 </a:t>
            </a:r>
            <a:r>
              <a:rPr lang="ko-KR" altLang="en-US" sz="900" dirty="0" err="1">
                <a:solidFill>
                  <a:schemeClr val="dk1"/>
                </a:solidFill>
                <a:latin typeface="Calibri"/>
                <a:ea typeface="Calibri"/>
                <a:cs typeface="Calibri"/>
                <a:sym typeface="Calibri"/>
              </a:rPr>
              <a:t>온프레미스</a:t>
            </a:r>
            <a:r>
              <a:rPr lang="ko-KR" altLang="en-US" sz="900" dirty="0">
                <a:solidFill>
                  <a:schemeClr val="dk1"/>
                </a:solidFill>
                <a:latin typeface="Calibri"/>
                <a:ea typeface="Calibri"/>
                <a:cs typeface="Calibri"/>
                <a:sym typeface="Calibri"/>
              </a:rPr>
              <a:t> 환경에서 로컬 </a:t>
            </a:r>
            <a:r>
              <a:rPr lang="en-US" altLang="ko-KR" sz="900" dirty="0">
                <a:solidFill>
                  <a:schemeClr val="dk1"/>
                </a:solidFill>
                <a:latin typeface="Calibri"/>
                <a:ea typeface="Calibri"/>
                <a:cs typeface="Calibri"/>
                <a:sym typeface="Calibri"/>
              </a:rPr>
              <a:t>LLM</a:t>
            </a:r>
            <a:r>
              <a:rPr lang="ko-KR" altLang="en-US" sz="900" dirty="0">
                <a:solidFill>
                  <a:schemeClr val="dk1"/>
                </a:solidFill>
                <a:latin typeface="Calibri"/>
                <a:ea typeface="Calibri"/>
                <a:cs typeface="Calibri"/>
                <a:sym typeface="Calibri"/>
              </a:rPr>
              <a:t>을 운용하도록 설계되어 보안이 중요한 기관 및 기업에서 안전하게 운영하도록 설계했습니다</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또한 모델의 성능을 </a:t>
            </a:r>
            <a:r>
              <a:rPr lang="ko-KR" altLang="en-US" sz="900" dirty="0" err="1">
                <a:solidFill>
                  <a:schemeClr val="dk1"/>
                </a:solidFill>
                <a:latin typeface="Calibri"/>
                <a:ea typeface="Calibri"/>
                <a:cs typeface="Calibri"/>
                <a:sym typeface="Calibri"/>
              </a:rPr>
              <a:t>높히기</a:t>
            </a:r>
            <a:r>
              <a:rPr lang="ko-KR" altLang="en-US" sz="900" dirty="0">
                <a:solidFill>
                  <a:schemeClr val="dk1"/>
                </a:solidFill>
                <a:latin typeface="Calibri"/>
                <a:ea typeface="Calibri"/>
                <a:cs typeface="Calibri"/>
                <a:sym typeface="Calibri"/>
              </a:rPr>
              <a:t> 위해 사용자들로부터 피드백을 받고</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데이터가 쌓이면 관리자가 해당 데이터를 가지고 </a:t>
            </a:r>
            <a:r>
              <a:rPr lang="en-US" altLang="ko-KR" sz="900" dirty="0">
                <a:solidFill>
                  <a:schemeClr val="dk1"/>
                </a:solidFill>
                <a:latin typeface="Calibri"/>
                <a:ea typeface="Calibri"/>
                <a:cs typeface="Calibri"/>
                <a:sym typeface="Calibri"/>
              </a:rPr>
              <a:t>fine-</a:t>
            </a:r>
            <a:r>
              <a:rPr lang="en-US" altLang="ko-KR" sz="900" dirty="0" err="1">
                <a:solidFill>
                  <a:schemeClr val="dk1"/>
                </a:solidFill>
                <a:latin typeface="Calibri"/>
                <a:ea typeface="Calibri"/>
                <a:cs typeface="Calibri"/>
                <a:sym typeface="Calibri"/>
              </a:rPr>
              <a:t>tunining</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가능하게 하였습니다</a:t>
            </a:r>
            <a:r>
              <a:rPr lang="en-US" altLang="ko-KR" sz="900" dirty="0">
                <a:solidFill>
                  <a:schemeClr val="dk1"/>
                </a:solidFill>
                <a:latin typeface="Calibri"/>
                <a:ea typeface="Calibri"/>
                <a:cs typeface="Calibri"/>
                <a:sym typeface="Calibri"/>
              </a:rPr>
              <a:t>.</a:t>
            </a:r>
          </a:p>
          <a:p>
            <a:pPr lvl="0" algn="just">
              <a:lnSpc>
                <a:spcPct val="150000"/>
              </a:lnSpc>
            </a:pPr>
            <a:r>
              <a:rPr lang="ko-KR" altLang="en-US" sz="900" dirty="0">
                <a:solidFill>
                  <a:schemeClr val="dk1"/>
                </a:solidFill>
                <a:latin typeface="Calibri"/>
                <a:ea typeface="Calibri"/>
                <a:cs typeface="Calibri"/>
                <a:sym typeface="Calibri"/>
              </a:rPr>
              <a:t>관리자 페이지에서 </a:t>
            </a:r>
            <a:r>
              <a:rPr lang="ko-KR" altLang="en-US" sz="900" dirty="0" err="1">
                <a:solidFill>
                  <a:schemeClr val="dk1"/>
                </a:solidFill>
                <a:latin typeface="Calibri"/>
                <a:ea typeface="Calibri"/>
                <a:cs typeface="Calibri"/>
                <a:sym typeface="Calibri"/>
              </a:rPr>
              <a:t>임베딩</a:t>
            </a:r>
            <a:r>
              <a:rPr lang="ko-KR" altLang="en-US" sz="900" dirty="0">
                <a:solidFill>
                  <a:schemeClr val="dk1"/>
                </a:solidFill>
                <a:latin typeface="Calibri"/>
                <a:ea typeface="Calibri"/>
                <a:cs typeface="Calibri"/>
                <a:sym typeface="Calibri"/>
              </a:rPr>
              <a:t> 모델을 교체 가능하며</a:t>
            </a:r>
            <a:r>
              <a:rPr lang="en-US" altLang="ko-KR" sz="900" dirty="0">
                <a:solidFill>
                  <a:schemeClr val="dk1"/>
                </a:solidFill>
                <a:latin typeface="Calibri"/>
                <a:ea typeface="Calibri"/>
                <a:cs typeface="Calibri"/>
                <a:sym typeface="Calibri"/>
              </a:rPr>
              <a:t>, DB</a:t>
            </a:r>
            <a:r>
              <a:rPr lang="ko-KR" altLang="en-US" sz="900" dirty="0">
                <a:solidFill>
                  <a:schemeClr val="dk1"/>
                </a:solidFill>
                <a:latin typeface="Calibri"/>
                <a:ea typeface="Calibri"/>
                <a:cs typeface="Calibri"/>
                <a:sym typeface="Calibri"/>
              </a:rPr>
              <a:t>관리</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및 프롬프트 설정</a:t>
            </a:r>
            <a:r>
              <a:rPr lang="en-US" altLang="ko-KR" sz="900" dirty="0">
                <a:solidFill>
                  <a:schemeClr val="dk1"/>
                </a:solidFill>
                <a:latin typeface="Calibri"/>
                <a:ea typeface="Calibri"/>
                <a:cs typeface="Calibri"/>
                <a:sym typeface="Calibri"/>
              </a:rPr>
              <a:t>/</a:t>
            </a:r>
            <a:r>
              <a:rPr lang="ko-KR" altLang="en-US" sz="900" dirty="0">
                <a:solidFill>
                  <a:schemeClr val="dk1"/>
                </a:solidFill>
                <a:latin typeface="Calibri"/>
                <a:ea typeface="Calibri"/>
                <a:cs typeface="Calibri"/>
                <a:sym typeface="Calibri"/>
              </a:rPr>
              <a:t>변경</a:t>
            </a:r>
            <a:r>
              <a:rPr lang="en-US" altLang="ko-KR" sz="900" dirty="0">
                <a:solidFill>
                  <a:schemeClr val="dk1"/>
                </a:solidFill>
                <a:latin typeface="Calibri"/>
                <a:ea typeface="Calibri"/>
                <a:cs typeface="Calibri"/>
                <a:sym typeface="Calibri"/>
              </a:rPr>
              <a:t>, </a:t>
            </a:r>
            <a:r>
              <a:rPr lang="ko-KR" altLang="en-US" sz="900" dirty="0" err="1">
                <a:solidFill>
                  <a:schemeClr val="dk1"/>
                </a:solidFill>
                <a:latin typeface="Calibri"/>
                <a:ea typeface="Calibri"/>
                <a:cs typeface="Calibri"/>
                <a:sym typeface="Calibri"/>
              </a:rPr>
              <a:t>파인튜닝및</a:t>
            </a:r>
            <a:r>
              <a:rPr lang="ko-KR" altLang="en-US" sz="900" dirty="0">
                <a:solidFill>
                  <a:schemeClr val="dk1"/>
                </a:solidFill>
                <a:latin typeface="Calibri"/>
                <a:ea typeface="Calibri"/>
                <a:cs typeface="Calibri"/>
                <a:sym typeface="Calibri"/>
              </a:rPr>
              <a:t> 모델 평가를 일원화 하여 운영효율성과 신뢰성을 확보했습니다</a:t>
            </a:r>
            <a:r>
              <a:rPr lang="en-US" altLang="ko-KR" sz="900" dirty="0">
                <a:solidFill>
                  <a:schemeClr val="dk1"/>
                </a:solidFill>
                <a:latin typeface="Calibri"/>
                <a:ea typeface="Calibri"/>
                <a:cs typeface="Calibri"/>
                <a:sym typeface="Calibri"/>
              </a:rPr>
              <a:t>. </a:t>
            </a:r>
            <a:r>
              <a:rPr lang="ko-KR" altLang="ko-KR" sz="900" dirty="0"/>
              <a:t>에이전트 실행 과정에는 </a:t>
            </a:r>
            <a:r>
              <a:rPr lang="ko-KR" altLang="ko-KR" sz="900" dirty="0" err="1"/>
              <a:t>하네스를</a:t>
            </a:r>
            <a:r>
              <a:rPr lang="ko-KR" altLang="ko-KR" sz="900" dirty="0"/>
              <a:t> 두어 일시적 오류에도 자동 재시도되도록 했고, 필요한 도구가 없을 때는 에이전트가 스스로 MCP 도구를 생성해 확장할 수 있도록 설계했습니다.</a:t>
            </a:r>
            <a:endParaRPr sz="900" dirty="0">
              <a:solidFill>
                <a:schemeClr val="dk1"/>
              </a:solidFill>
              <a:latin typeface="Calibri"/>
              <a:ea typeface="Calibri"/>
              <a:cs typeface="Calibri"/>
              <a:sym typeface="Calibri"/>
            </a:endParaRPr>
          </a:p>
        </p:txBody>
      </p:sp>
      <p:pic>
        <p:nvPicPr>
          <p:cNvPr id="22" name="그림 21">
            <a:extLst>
              <a:ext uri="{FF2B5EF4-FFF2-40B4-BE49-F238E27FC236}">
                <a16:creationId xmlns:a16="http://schemas.microsoft.com/office/drawing/2014/main" id="{12C86489-706B-A42E-2928-60B8416F639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8971002" y="5973518"/>
            <a:ext cx="8432800" cy="1841646"/>
          </a:xfrm>
          <a:prstGeom prst="rect">
            <a:avLst/>
          </a:prstGeom>
        </p:spPr>
      </p:pic>
      <p:grpSp>
        <p:nvGrpSpPr>
          <p:cNvPr id="14" name="그룹 13">
            <a:extLst>
              <a:ext uri="{FF2B5EF4-FFF2-40B4-BE49-F238E27FC236}">
                <a16:creationId xmlns:a16="http://schemas.microsoft.com/office/drawing/2014/main" id="{D32FA021-0EDB-5C93-3994-56E714959129}"/>
              </a:ext>
            </a:extLst>
          </p:cNvPr>
          <p:cNvGrpSpPr/>
          <p:nvPr/>
        </p:nvGrpSpPr>
        <p:grpSpPr>
          <a:xfrm>
            <a:off x="9139193" y="2486869"/>
            <a:ext cx="3873491" cy="2683992"/>
            <a:chOff x="-2469016" y="6272058"/>
            <a:chExt cx="10659963" cy="7697274"/>
          </a:xfrm>
        </p:grpSpPr>
        <p:pic>
          <p:nvPicPr>
            <p:cNvPr id="6" name="그림 5">
              <a:extLst>
                <a:ext uri="{FF2B5EF4-FFF2-40B4-BE49-F238E27FC236}">
                  <a16:creationId xmlns:a16="http://schemas.microsoft.com/office/drawing/2014/main" id="{CB112E55-BEE1-BD2A-B331-A74F752F7C53}"/>
                </a:ext>
              </a:extLst>
            </p:cNvPr>
            <p:cNvPicPr>
              <a:picLocks noChangeAspect="1"/>
            </p:cNvPicPr>
            <p:nvPr/>
          </p:nvPicPr>
          <p:blipFill>
            <a:blip r:embed="rId7"/>
            <a:stretch>
              <a:fillRect/>
            </a:stretch>
          </p:blipFill>
          <p:spPr>
            <a:xfrm>
              <a:off x="-2469016" y="6272058"/>
              <a:ext cx="10659963" cy="7697274"/>
            </a:xfrm>
            <a:prstGeom prst="rect">
              <a:avLst/>
            </a:prstGeom>
          </p:spPr>
        </p:pic>
        <p:pic>
          <p:nvPicPr>
            <p:cNvPr id="10" name="그림 9">
              <a:extLst>
                <a:ext uri="{FF2B5EF4-FFF2-40B4-BE49-F238E27FC236}">
                  <a16:creationId xmlns:a16="http://schemas.microsoft.com/office/drawing/2014/main" id="{1F6F0422-502D-A850-AD19-A2088CF3219B}"/>
                </a:ext>
              </a:extLst>
            </p:cNvPr>
            <p:cNvPicPr>
              <a:picLocks noChangeAspect="1"/>
            </p:cNvPicPr>
            <p:nvPr/>
          </p:nvPicPr>
          <p:blipFill>
            <a:blip r:embed="rId8"/>
            <a:stretch>
              <a:fillRect/>
            </a:stretch>
          </p:blipFill>
          <p:spPr>
            <a:xfrm>
              <a:off x="3841409" y="6416035"/>
              <a:ext cx="3743847" cy="2381582"/>
            </a:xfrm>
            <a:prstGeom prst="rect">
              <a:avLst/>
            </a:prstGeom>
          </p:spPr>
        </p:pic>
      </p:grpSp>
      <p:pic>
        <p:nvPicPr>
          <p:cNvPr id="13" name="그림 12">
            <a:extLst>
              <a:ext uri="{FF2B5EF4-FFF2-40B4-BE49-F238E27FC236}">
                <a16:creationId xmlns:a16="http://schemas.microsoft.com/office/drawing/2014/main" id="{25E0258C-94F8-1D82-71EC-F0055F4F89E0}"/>
              </a:ext>
            </a:extLst>
          </p:cNvPr>
          <p:cNvPicPr>
            <a:picLocks noChangeAspect="1"/>
          </p:cNvPicPr>
          <p:nvPr/>
        </p:nvPicPr>
        <p:blipFill>
          <a:blip r:embed="rId9"/>
          <a:srcRect b="6598"/>
          <a:stretch>
            <a:fillRect/>
          </a:stretch>
        </p:blipFill>
        <p:spPr>
          <a:xfrm>
            <a:off x="11485952" y="3288788"/>
            <a:ext cx="2379086" cy="1882074"/>
          </a:xfrm>
          <a:prstGeom prst="rect">
            <a:avLst/>
          </a:prstGeom>
        </p:spPr>
      </p:pic>
      <p:pic>
        <p:nvPicPr>
          <p:cNvPr id="4" name="그림 3">
            <a:extLst>
              <a:ext uri="{FF2B5EF4-FFF2-40B4-BE49-F238E27FC236}">
                <a16:creationId xmlns:a16="http://schemas.microsoft.com/office/drawing/2014/main" id="{4F0ABE6C-1C31-AD40-DDCD-B66F33CA46F9}"/>
              </a:ext>
            </a:extLst>
          </p:cNvPr>
          <p:cNvPicPr>
            <a:picLocks noChangeAspect="1"/>
          </p:cNvPicPr>
          <p:nvPr/>
        </p:nvPicPr>
        <p:blipFill>
          <a:blip r:embed="rId10"/>
          <a:srcRect r="7785"/>
          <a:stretch>
            <a:fillRect/>
          </a:stretch>
        </p:blipFill>
        <p:spPr>
          <a:xfrm>
            <a:off x="13288990" y="2506196"/>
            <a:ext cx="3809635" cy="2118511"/>
          </a:xfrm>
          <a:prstGeom prst="rect">
            <a:avLst/>
          </a:prstGeom>
        </p:spPr>
      </p:pic>
      <p:pic>
        <p:nvPicPr>
          <p:cNvPr id="5" name="그림 4">
            <a:extLst>
              <a:ext uri="{FF2B5EF4-FFF2-40B4-BE49-F238E27FC236}">
                <a16:creationId xmlns:a16="http://schemas.microsoft.com/office/drawing/2014/main" id="{C1BB553D-2A22-6220-CB98-8CAED90D74DC}"/>
              </a:ext>
            </a:extLst>
          </p:cNvPr>
          <p:cNvPicPr>
            <a:picLocks noChangeAspect="1"/>
          </p:cNvPicPr>
          <p:nvPr/>
        </p:nvPicPr>
        <p:blipFill>
          <a:blip r:embed="rId11"/>
          <a:stretch>
            <a:fillRect/>
          </a:stretch>
        </p:blipFill>
        <p:spPr>
          <a:xfrm>
            <a:off x="13993818" y="3339629"/>
            <a:ext cx="3065457" cy="1717278"/>
          </a:xfrm>
          <a:prstGeom prst="rect">
            <a:avLst/>
          </a:prstGeom>
        </p:spPr>
      </p:pic>
    </p:spTree>
    <p:extLst>
      <p:ext uri="{BB962C8B-B14F-4D97-AF65-F5344CB8AC3E}">
        <p14:creationId xmlns:p14="http://schemas.microsoft.com/office/powerpoint/2010/main" val="1760223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9" name="Google Shape;89;p13"/>
          <p:cNvSpPr txBox="1"/>
          <p:nvPr/>
        </p:nvSpPr>
        <p:spPr>
          <a:xfrm>
            <a:off x="487363" y="261676"/>
            <a:ext cx="16238537" cy="518283"/>
          </a:xfrm>
          <a:prstGeom prst="rect">
            <a:avLst/>
          </a:prstGeom>
          <a:solidFill>
            <a:srgbClr val="0F395B"/>
          </a:solidFill>
          <a:ln w="9525" cap="flat" cmpd="sng">
            <a:solidFill>
              <a:srgbClr val="103B5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400" b="1">
              <a:solidFill>
                <a:schemeClr val="lt1"/>
              </a:solidFill>
              <a:latin typeface="Calibri"/>
              <a:ea typeface="Calibri"/>
              <a:cs typeface="Calibri"/>
              <a:sym typeface="Calibri"/>
            </a:endParaRPr>
          </a:p>
        </p:txBody>
      </p:sp>
      <p:sp>
        <p:nvSpPr>
          <p:cNvPr id="90" name="Google Shape;90;p13"/>
          <p:cNvSpPr/>
          <p:nvPr/>
        </p:nvSpPr>
        <p:spPr>
          <a:xfrm>
            <a:off x="869112" y="1083602"/>
            <a:ext cx="7384190" cy="395925"/>
          </a:xfrm>
          <a:prstGeom prst="roundRect">
            <a:avLst>
              <a:gd name="adj" fmla="val 7143"/>
            </a:avLst>
          </a:prstGeom>
          <a:solidFill>
            <a:srgbClr val="D0CECE">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grpSp>
        <p:nvGrpSpPr>
          <p:cNvPr id="91" name="Google Shape;91;p13"/>
          <p:cNvGrpSpPr/>
          <p:nvPr/>
        </p:nvGrpSpPr>
        <p:grpSpPr>
          <a:xfrm>
            <a:off x="0" y="0"/>
            <a:ext cx="17610138" cy="9906004"/>
            <a:chOff x="-10796913" y="237463"/>
            <a:chExt cx="11867221" cy="6572030"/>
          </a:xfrm>
        </p:grpSpPr>
        <p:sp>
          <p:nvSpPr>
            <p:cNvPr id="92" name="Google Shape;92;p13"/>
            <p:cNvSpPr/>
            <p:nvPr/>
          </p:nvSpPr>
          <p:spPr>
            <a:xfrm rot="10800000" flipH="1">
              <a:off x="-10796913" y="237463"/>
              <a:ext cx="11087179" cy="1300855"/>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3" name="Google Shape;93;p13"/>
            <p:cNvSpPr/>
            <p:nvPr/>
          </p:nvSpPr>
          <p:spPr>
            <a:xfrm rot="10800000" flipH="1">
              <a:off x="-10796797" y="237464"/>
              <a:ext cx="5336657" cy="22192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4" name="Google Shape;94;p13"/>
            <p:cNvSpPr/>
            <p:nvPr/>
          </p:nvSpPr>
          <p:spPr>
            <a:xfrm flipH="1">
              <a:off x="-10796795" y="5771379"/>
              <a:ext cx="11867103" cy="10381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5" name="Google Shape;95;p13"/>
            <p:cNvSpPr/>
            <p:nvPr/>
          </p:nvSpPr>
          <p:spPr>
            <a:xfrm flipH="1">
              <a:off x="-2539137" y="4856978"/>
              <a:ext cx="3609444" cy="19525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grpSp>
      <p:sp>
        <p:nvSpPr>
          <p:cNvPr id="96" name="Google Shape;96;p13"/>
          <p:cNvSpPr/>
          <p:nvPr/>
        </p:nvSpPr>
        <p:spPr>
          <a:xfrm>
            <a:off x="982853" y="1151647"/>
            <a:ext cx="6404551" cy="283487"/>
          </a:xfrm>
          <a:prstGeom prst="roundRect">
            <a:avLst>
              <a:gd name="adj" fmla="val 6011"/>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1100" dirty="0">
                <a:solidFill>
                  <a:schemeClr val="lt1"/>
                </a:solidFill>
                <a:latin typeface="Calibri"/>
                <a:ea typeface="Calibri"/>
                <a:cs typeface="Calibri"/>
                <a:sym typeface="Calibri"/>
              </a:rPr>
              <a:t>💡 </a:t>
            </a:r>
            <a:r>
              <a:rPr lang="ko-KR" sz="1100" b="1" dirty="0">
                <a:solidFill>
                  <a:schemeClr val="dk1"/>
                </a:solidFill>
                <a:latin typeface="Calibri"/>
                <a:ea typeface="Calibri"/>
                <a:cs typeface="Calibri"/>
                <a:sym typeface="Calibri"/>
              </a:rPr>
              <a:t>프로젝트 요약 : </a:t>
            </a:r>
            <a:r>
              <a:rPr lang="en-US" altLang="ko-KR" sz="1100" b="1" dirty="0">
                <a:solidFill>
                  <a:schemeClr val="dk1"/>
                </a:solidFill>
                <a:latin typeface="Calibri"/>
                <a:ea typeface="Calibri"/>
                <a:cs typeface="Calibri"/>
                <a:sym typeface="Calibri"/>
              </a:rPr>
              <a:t>LLM</a:t>
            </a:r>
            <a:r>
              <a:rPr lang="ko-KR" altLang="en-US" sz="1100" b="1" dirty="0">
                <a:solidFill>
                  <a:schemeClr val="dk1"/>
                </a:solidFill>
                <a:latin typeface="Calibri"/>
                <a:ea typeface="Calibri"/>
                <a:cs typeface="Calibri"/>
                <a:sym typeface="Calibri"/>
              </a:rPr>
              <a:t>모델  </a:t>
            </a:r>
            <a:r>
              <a:rPr lang="en-US" altLang="ko-KR" sz="1100" b="1" dirty="0">
                <a:solidFill>
                  <a:schemeClr val="dk1"/>
                </a:solidFill>
                <a:latin typeface="Calibri"/>
                <a:ea typeface="Calibri"/>
                <a:cs typeface="Calibri"/>
                <a:sym typeface="Calibri"/>
              </a:rPr>
              <a:t>fine-tuning</a:t>
            </a:r>
            <a:r>
              <a:rPr lang="ko-KR" altLang="en-US" sz="1100" b="1" dirty="0">
                <a:solidFill>
                  <a:schemeClr val="dk1"/>
                </a:solidFill>
                <a:latin typeface="Calibri"/>
                <a:ea typeface="Calibri"/>
                <a:cs typeface="Calibri"/>
                <a:sym typeface="Calibri"/>
              </a:rPr>
              <a:t> 성능 고도화 및 </a:t>
            </a:r>
            <a:r>
              <a:rPr lang="ko-KR" altLang="en-US" sz="1100" b="1" dirty="0" err="1">
                <a:solidFill>
                  <a:schemeClr val="dk1"/>
                </a:solidFill>
                <a:latin typeface="Calibri"/>
                <a:ea typeface="Calibri"/>
                <a:cs typeface="Calibri"/>
                <a:sym typeface="Calibri"/>
              </a:rPr>
              <a:t>포팅</a:t>
            </a:r>
            <a:r>
              <a:rPr lang="ko-KR" altLang="en-US" sz="1100" b="1" dirty="0">
                <a:solidFill>
                  <a:schemeClr val="dk1"/>
                </a:solidFill>
                <a:latin typeface="Calibri"/>
                <a:ea typeface="Calibri"/>
                <a:cs typeface="Calibri"/>
                <a:sym typeface="Calibri"/>
              </a:rPr>
              <a:t> 및 서비스</a:t>
            </a:r>
            <a:endParaRPr sz="1100" dirty="0">
              <a:solidFill>
                <a:schemeClr val="dk1"/>
              </a:solidFill>
              <a:latin typeface="Calibri"/>
              <a:ea typeface="Calibri"/>
              <a:cs typeface="Calibri"/>
              <a:sym typeface="Calibri"/>
            </a:endParaRPr>
          </a:p>
        </p:txBody>
      </p:sp>
      <p:sp>
        <p:nvSpPr>
          <p:cNvPr id="97" name="Google Shape;97;p13"/>
          <p:cNvSpPr txBox="1"/>
          <p:nvPr/>
        </p:nvSpPr>
        <p:spPr>
          <a:xfrm>
            <a:off x="812800" y="7366000"/>
            <a:ext cx="7815399" cy="195068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dirty="0">
                <a:solidFill>
                  <a:schemeClr val="dk1"/>
                </a:solidFill>
                <a:latin typeface="Calibri"/>
                <a:ea typeface="Calibri"/>
                <a:cs typeface="Calibri"/>
                <a:sym typeface="Calibri"/>
              </a:rPr>
              <a:t>프로젝트 설명</a:t>
            </a:r>
          </a:p>
          <a:p>
            <a:pPr lvl="0" algn="just">
              <a:lnSpc>
                <a:spcPct val="150000"/>
              </a:lnSpc>
            </a:pPr>
            <a:r>
              <a:rPr lang="ko-KR" altLang="en-US" sz="1000" dirty="0">
                <a:solidFill>
                  <a:schemeClr val="dk1"/>
                </a:solidFill>
                <a:latin typeface="Calibri"/>
                <a:ea typeface="Calibri"/>
                <a:cs typeface="Calibri"/>
                <a:sym typeface="Calibri"/>
              </a:rPr>
              <a:t>본 프로젝트는 </a:t>
            </a:r>
            <a:r>
              <a:rPr lang="en-US" altLang="ko-KR" sz="1000" dirty="0">
                <a:solidFill>
                  <a:schemeClr val="dk1"/>
                </a:solidFill>
                <a:latin typeface="Calibri"/>
                <a:ea typeface="Calibri"/>
                <a:cs typeface="Calibri"/>
                <a:sym typeface="Calibri"/>
              </a:rPr>
              <a:t>AI </a:t>
            </a:r>
            <a:r>
              <a:rPr lang="ko-KR" altLang="en-US" sz="1000" dirty="0">
                <a:solidFill>
                  <a:schemeClr val="dk1"/>
                </a:solidFill>
                <a:latin typeface="Calibri"/>
                <a:ea typeface="Calibri"/>
                <a:cs typeface="Calibri"/>
                <a:sym typeface="Calibri"/>
              </a:rPr>
              <a:t>디지털 교과서에 적용될 독자적인 문장 교정 모델을 개발하기 위해 시작되었습니다</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기존의 </a:t>
            </a:r>
            <a:r>
              <a:rPr lang="en-US" altLang="ko-KR" sz="1000" dirty="0" err="1">
                <a:solidFill>
                  <a:schemeClr val="dk1"/>
                </a:solidFill>
                <a:latin typeface="Calibri"/>
                <a:ea typeface="Calibri"/>
                <a:cs typeface="Calibri"/>
                <a:sym typeface="Calibri"/>
              </a:rPr>
              <a:t>ChatGPT</a:t>
            </a:r>
            <a:r>
              <a:rPr lang="ko-KR" altLang="en-US" sz="1000" dirty="0">
                <a:solidFill>
                  <a:schemeClr val="dk1"/>
                </a:solidFill>
                <a:latin typeface="Calibri"/>
                <a:ea typeface="Calibri"/>
                <a:cs typeface="Calibri"/>
                <a:sym typeface="Calibri"/>
              </a:rPr>
              <a:t>와 달리 디지털 교과서에서 요구하는 일관된 답변을 제공해야 했으며</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이를 위해 </a:t>
            </a:r>
            <a:r>
              <a:rPr lang="en-US" altLang="ko-KR" sz="1000" dirty="0">
                <a:solidFill>
                  <a:schemeClr val="dk1"/>
                </a:solidFill>
                <a:latin typeface="Calibri"/>
                <a:ea typeface="Calibri"/>
                <a:cs typeface="Calibri"/>
                <a:sym typeface="Calibri"/>
              </a:rPr>
              <a:t>Google</a:t>
            </a:r>
            <a:r>
              <a:rPr lang="ko-KR" altLang="en-US" sz="1000" dirty="0">
                <a:solidFill>
                  <a:schemeClr val="dk1"/>
                </a:solidFill>
                <a:latin typeface="Calibri"/>
                <a:ea typeface="Calibri"/>
                <a:cs typeface="Calibri"/>
                <a:sym typeface="Calibri"/>
              </a:rPr>
              <a:t>의 </a:t>
            </a:r>
            <a:r>
              <a:rPr lang="en-US" altLang="ko-KR" sz="1000" dirty="0">
                <a:solidFill>
                  <a:schemeClr val="dk1"/>
                </a:solidFill>
                <a:latin typeface="Calibri"/>
                <a:ea typeface="Calibri"/>
                <a:cs typeface="Calibri"/>
                <a:sym typeface="Calibri"/>
              </a:rPr>
              <a:t>Flan-T5 </a:t>
            </a:r>
            <a:r>
              <a:rPr lang="ko-KR" altLang="en-US" sz="1000" dirty="0">
                <a:solidFill>
                  <a:schemeClr val="dk1"/>
                </a:solidFill>
                <a:latin typeface="Calibri"/>
                <a:ea typeface="Calibri"/>
                <a:cs typeface="Calibri"/>
                <a:sym typeface="Calibri"/>
              </a:rPr>
              <a:t>모델을 기반으로 </a:t>
            </a:r>
            <a:r>
              <a:rPr lang="ko-KR" altLang="en-US" sz="1000" dirty="0" err="1">
                <a:solidFill>
                  <a:schemeClr val="dk1"/>
                </a:solidFill>
                <a:latin typeface="Calibri"/>
                <a:ea typeface="Calibri"/>
                <a:cs typeface="Calibri"/>
                <a:sym typeface="Calibri"/>
              </a:rPr>
              <a:t>지시문</a:t>
            </a:r>
            <a:r>
              <a:rPr lang="ko-KR" altLang="en-US" sz="1000" dirty="0">
                <a:solidFill>
                  <a:schemeClr val="dk1"/>
                </a:solidFill>
                <a:latin typeface="Calibri"/>
                <a:ea typeface="Calibri"/>
                <a:cs typeface="Calibri"/>
                <a:sym typeface="Calibri"/>
              </a:rPr>
              <a:t> 학습과 데이터 학습을 결합해 성능을 대폭 개선하였습니다</a:t>
            </a:r>
            <a:r>
              <a:rPr lang="en-US" altLang="ko-KR" sz="1000" dirty="0">
                <a:solidFill>
                  <a:schemeClr val="dk1"/>
                </a:solidFill>
                <a:latin typeface="Calibri"/>
                <a:ea typeface="Calibri"/>
                <a:cs typeface="Calibri"/>
                <a:sym typeface="Calibri"/>
              </a:rPr>
              <a:t>.</a:t>
            </a:r>
          </a:p>
          <a:p>
            <a:pPr lvl="0" algn="just">
              <a:lnSpc>
                <a:spcPct val="150000"/>
              </a:lnSpc>
            </a:pPr>
            <a:r>
              <a:rPr lang="ko-KR" altLang="en-US" sz="1000" dirty="0">
                <a:solidFill>
                  <a:schemeClr val="dk1"/>
                </a:solidFill>
                <a:latin typeface="Calibri"/>
                <a:ea typeface="Calibri"/>
                <a:cs typeface="Calibri"/>
                <a:sym typeface="Calibri"/>
              </a:rPr>
              <a:t>문장 교정 성능은 </a:t>
            </a:r>
            <a:r>
              <a:rPr lang="en-US" altLang="ko-KR" sz="1000" dirty="0">
                <a:solidFill>
                  <a:schemeClr val="dk1"/>
                </a:solidFill>
                <a:latin typeface="Calibri"/>
                <a:ea typeface="Calibri"/>
                <a:cs typeface="Calibri"/>
                <a:sym typeface="Calibri"/>
              </a:rPr>
              <a:t>GPT </a:t>
            </a:r>
            <a:r>
              <a:rPr lang="ko-KR" altLang="en-US" sz="1000" dirty="0">
                <a:solidFill>
                  <a:schemeClr val="dk1"/>
                </a:solidFill>
                <a:latin typeface="Calibri"/>
                <a:ea typeface="Calibri"/>
                <a:cs typeface="Calibri"/>
                <a:sym typeface="Calibri"/>
              </a:rPr>
              <a:t>모델과 비슷한 수준으로 끌어올렸으며</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항상 같은 정답을 제공하여 사용자 신뢰도를 높였습니다</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이 모델은 </a:t>
            </a:r>
            <a:r>
              <a:rPr lang="en-US" altLang="ko-KR" sz="1000" dirty="0">
                <a:solidFill>
                  <a:schemeClr val="dk1"/>
                </a:solidFill>
                <a:latin typeface="Calibri"/>
                <a:ea typeface="Calibri"/>
                <a:cs typeface="Calibri"/>
                <a:sym typeface="Calibri"/>
              </a:rPr>
              <a:t>2025</a:t>
            </a:r>
            <a:r>
              <a:rPr lang="ko-KR" altLang="en-US" sz="1000" dirty="0">
                <a:solidFill>
                  <a:schemeClr val="dk1"/>
                </a:solidFill>
                <a:latin typeface="Calibri"/>
                <a:ea typeface="Calibri"/>
                <a:cs typeface="Calibri"/>
                <a:sym typeface="Calibri"/>
              </a:rPr>
              <a:t>년부터 능률</a:t>
            </a:r>
            <a:r>
              <a:rPr lang="en-US" altLang="ko-KR" sz="1000" dirty="0">
                <a:solidFill>
                  <a:schemeClr val="dk1"/>
                </a:solidFill>
                <a:latin typeface="Calibri"/>
                <a:ea typeface="Calibri"/>
                <a:cs typeface="Calibri"/>
                <a:sym typeface="Calibri"/>
              </a:rPr>
              <a:t>, YBM, </a:t>
            </a:r>
            <a:r>
              <a:rPr lang="ko-KR" altLang="en-US" sz="1000" dirty="0">
                <a:solidFill>
                  <a:schemeClr val="dk1"/>
                </a:solidFill>
                <a:latin typeface="Calibri"/>
                <a:ea typeface="Calibri"/>
                <a:cs typeface="Calibri"/>
                <a:sym typeface="Calibri"/>
              </a:rPr>
              <a:t>동아의 디지털 교과서에 각각 다른 형태로 적용되었습니다</a:t>
            </a:r>
            <a:r>
              <a:rPr lang="en-US" altLang="ko-KR" sz="1000" dirty="0">
                <a:solidFill>
                  <a:schemeClr val="dk1"/>
                </a:solidFill>
                <a:latin typeface="Calibri"/>
                <a:ea typeface="Calibri"/>
                <a:cs typeface="Calibri"/>
                <a:sym typeface="Calibri"/>
              </a:rPr>
              <a:t>.</a:t>
            </a:r>
          </a:p>
          <a:p>
            <a:pPr lvl="0" algn="just">
              <a:lnSpc>
                <a:spcPct val="150000"/>
              </a:lnSpc>
            </a:pPr>
            <a:r>
              <a:rPr lang="ko-KR" altLang="en-US" sz="1000" dirty="0">
                <a:solidFill>
                  <a:schemeClr val="dk1"/>
                </a:solidFill>
                <a:latin typeface="Calibri"/>
                <a:ea typeface="Calibri"/>
                <a:cs typeface="Calibri"/>
                <a:sym typeface="Calibri"/>
              </a:rPr>
              <a:t>모델 성능 향상을 위해 부족한 부분의 데이터를 분석하고</a:t>
            </a:r>
            <a:r>
              <a:rPr lang="en-US" altLang="ko-KR" sz="1000" dirty="0">
                <a:solidFill>
                  <a:schemeClr val="dk1"/>
                </a:solidFill>
                <a:latin typeface="Calibri"/>
                <a:ea typeface="Calibri"/>
                <a:cs typeface="Calibri"/>
                <a:sym typeface="Calibri"/>
              </a:rPr>
              <a:t>, </a:t>
            </a:r>
            <a:r>
              <a:rPr lang="ko-KR" altLang="en-US" sz="1000" dirty="0" err="1">
                <a:solidFill>
                  <a:schemeClr val="dk1"/>
                </a:solidFill>
                <a:latin typeface="Calibri"/>
                <a:ea typeface="Calibri"/>
                <a:cs typeface="Calibri"/>
                <a:sym typeface="Calibri"/>
              </a:rPr>
              <a:t>벌크형</a:t>
            </a:r>
            <a:r>
              <a:rPr lang="ko-KR" altLang="en-US" sz="1000" dirty="0">
                <a:solidFill>
                  <a:schemeClr val="dk1"/>
                </a:solidFill>
                <a:latin typeface="Calibri"/>
                <a:ea typeface="Calibri"/>
                <a:cs typeface="Calibri"/>
                <a:sym typeface="Calibri"/>
              </a:rPr>
              <a:t> 데이터 파이프 라인을 구축하여 사람이 작업한 데이터의 </a:t>
            </a:r>
            <a:r>
              <a:rPr lang="en-US" altLang="ko-KR" sz="1000" dirty="0">
                <a:solidFill>
                  <a:schemeClr val="dk1"/>
                </a:solidFill>
                <a:latin typeface="Calibri"/>
                <a:ea typeface="Calibri"/>
                <a:cs typeface="Calibri"/>
                <a:sym typeface="Calibri"/>
              </a:rPr>
              <a:t>10</a:t>
            </a:r>
            <a:r>
              <a:rPr lang="ko-KR" altLang="en-US" sz="1000" dirty="0">
                <a:solidFill>
                  <a:schemeClr val="dk1"/>
                </a:solidFill>
                <a:latin typeface="Calibri"/>
                <a:ea typeface="Calibri"/>
                <a:cs typeface="Calibri"/>
                <a:sym typeface="Calibri"/>
              </a:rPr>
              <a:t>배에 달하는 고품질 데이터를 추가 생성하여 학습에 활용하였습니다</a:t>
            </a:r>
            <a:r>
              <a:rPr lang="en-US" altLang="ko-KR" sz="1000" dirty="0">
                <a:solidFill>
                  <a:schemeClr val="dk1"/>
                </a:solidFill>
                <a:latin typeface="Calibri"/>
                <a:ea typeface="Calibri"/>
                <a:cs typeface="Calibri"/>
                <a:sym typeface="Calibri"/>
              </a:rPr>
              <a:t>. </a:t>
            </a:r>
            <a:r>
              <a:rPr lang="ko-KR" altLang="en-US" sz="1000" dirty="0">
                <a:solidFill>
                  <a:schemeClr val="dk1"/>
                </a:solidFill>
                <a:latin typeface="Calibri"/>
                <a:ea typeface="Calibri"/>
                <a:cs typeface="Calibri"/>
                <a:sym typeface="Calibri"/>
              </a:rPr>
              <a:t>이를 통해 교정 정확도와 효율성을 극대화했습니다</a:t>
            </a:r>
            <a:r>
              <a:rPr lang="en-US" altLang="ko-KR" sz="1000" dirty="0">
                <a:solidFill>
                  <a:schemeClr val="dk1"/>
                </a:solidFill>
                <a:latin typeface="Calibri"/>
                <a:ea typeface="Calibri"/>
                <a:cs typeface="Calibri"/>
                <a:sym typeface="Calibri"/>
              </a:rPr>
              <a:t>.</a:t>
            </a:r>
            <a:endParaRPr sz="1000" dirty="0">
              <a:solidFill>
                <a:schemeClr val="dk1"/>
              </a:solidFill>
              <a:latin typeface="Calibri"/>
              <a:ea typeface="Calibri"/>
              <a:cs typeface="Calibri"/>
              <a:sym typeface="Calibri"/>
            </a:endParaRPr>
          </a:p>
        </p:txBody>
      </p:sp>
      <p:sp>
        <p:nvSpPr>
          <p:cNvPr id="98" name="Google Shape;98;p13"/>
          <p:cNvSpPr txBox="1"/>
          <p:nvPr/>
        </p:nvSpPr>
        <p:spPr>
          <a:xfrm>
            <a:off x="9127310" y="968150"/>
            <a:ext cx="7598590" cy="7965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ko-KR" sz="1051" b="1" dirty="0">
                <a:solidFill>
                  <a:schemeClr val="dk1"/>
                </a:solidFill>
                <a:latin typeface="Calibri"/>
                <a:ea typeface="Calibri"/>
                <a:cs typeface="Calibri"/>
                <a:sym typeface="Calibri"/>
              </a:rPr>
              <a:t>개발 관련 설명</a:t>
            </a:r>
            <a:endParaRPr dirty="0"/>
          </a:p>
          <a:p>
            <a:pPr lvl="0" algn="just">
              <a:lnSpc>
                <a:spcPct val="150000"/>
              </a:lnSpc>
            </a:pPr>
            <a:r>
              <a:rPr lang="en-US" altLang="ko-KR" sz="1000" dirty="0">
                <a:solidFill>
                  <a:schemeClr val="dk1"/>
                </a:solidFill>
                <a:latin typeface="Calibri"/>
                <a:ea typeface="Calibri"/>
                <a:cs typeface="Calibri"/>
                <a:sym typeface="Calibri"/>
              </a:rPr>
              <a:t> </a:t>
            </a:r>
            <a:r>
              <a:rPr lang="en-US" altLang="ko-KR" sz="1000" dirty="0"/>
              <a:t>Coedit</a:t>
            </a:r>
            <a:r>
              <a:rPr lang="ko-KR" altLang="en-US" sz="1000" dirty="0"/>
              <a:t>이라는 모델도 구글의 </a:t>
            </a:r>
            <a:r>
              <a:rPr lang="en-US" altLang="ko-KR" sz="1000" dirty="0"/>
              <a:t>flan-t5</a:t>
            </a:r>
            <a:r>
              <a:rPr lang="ko-KR" altLang="en-US" sz="1000" dirty="0"/>
              <a:t>를 이러한 형태로 학습시켰습니다</a:t>
            </a:r>
            <a:r>
              <a:rPr lang="en-US" altLang="ko-KR" sz="1000" dirty="0"/>
              <a:t>. </a:t>
            </a:r>
            <a:r>
              <a:rPr lang="ko-KR" altLang="en-US" sz="1000" dirty="0"/>
              <a:t>저는 </a:t>
            </a:r>
            <a:r>
              <a:rPr lang="en-US" altLang="ko-KR" sz="1000" dirty="0" err="1"/>
              <a:t>coeidt</a:t>
            </a:r>
            <a:r>
              <a:rPr lang="ko-KR" altLang="en-US" sz="1000" dirty="0"/>
              <a:t>과는 다르게 데이터를 더 모아 성능을 향상시켰고</a:t>
            </a:r>
            <a:r>
              <a:rPr lang="en-US" altLang="ko-KR" sz="1000" dirty="0"/>
              <a:t>(70%=&gt;92%). </a:t>
            </a:r>
            <a:r>
              <a:rPr lang="ko-KR" altLang="en-US" sz="1000" dirty="0">
                <a:solidFill>
                  <a:schemeClr val="dk1"/>
                </a:solidFill>
                <a:latin typeface="Calibri"/>
                <a:ea typeface="Calibri"/>
                <a:cs typeface="Calibri"/>
                <a:sym typeface="Calibri"/>
              </a:rPr>
              <a:t>한번 모델 학습 후 </a:t>
            </a:r>
            <a:r>
              <a:rPr lang="en-US" altLang="ko-KR" sz="1000" dirty="0">
                <a:solidFill>
                  <a:schemeClr val="dk1"/>
                </a:solidFill>
                <a:latin typeface="Calibri"/>
                <a:ea typeface="Calibri"/>
                <a:cs typeface="Calibri"/>
                <a:sym typeface="Calibri"/>
              </a:rPr>
              <a:t> </a:t>
            </a:r>
            <a:r>
              <a:rPr lang="en-US" altLang="ko-KR" sz="1000" dirty="0"/>
              <a:t>Active Learning</a:t>
            </a:r>
            <a:r>
              <a:rPr lang="ko-KR" altLang="en-US" sz="1000" dirty="0"/>
              <a:t>으로 모델의 성능을 향상 </a:t>
            </a:r>
            <a:r>
              <a:rPr lang="ko-KR" altLang="en-US" sz="1000" dirty="0" err="1"/>
              <a:t>시켯습니다</a:t>
            </a:r>
            <a:r>
              <a:rPr lang="en-US" altLang="ko-KR" sz="1000" dirty="0"/>
              <a:t>. (92=&gt;97.8%)</a:t>
            </a:r>
            <a:endParaRPr sz="1000" dirty="0">
              <a:solidFill>
                <a:schemeClr val="dk1"/>
              </a:solidFill>
              <a:latin typeface="Calibri"/>
              <a:ea typeface="Calibri"/>
              <a:cs typeface="Calibri"/>
              <a:sym typeface="Calibri"/>
            </a:endParaRPr>
          </a:p>
        </p:txBody>
      </p:sp>
      <p:sp>
        <p:nvSpPr>
          <p:cNvPr id="99" name="Google Shape;99;p13"/>
          <p:cNvSpPr txBox="1"/>
          <p:nvPr/>
        </p:nvSpPr>
        <p:spPr>
          <a:xfrm>
            <a:off x="579844" y="261675"/>
            <a:ext cx="864484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200" b="1" dirty="0" err="1">
                <a:solidFill>
                  <a:schemeClr val="lt1"/>
                </a:solidFill>
                <a:latin typeface="Calibri"/>
                <a:ea typeface="Calibri"/>
                <a:cs typeface="Calibri"/>
                <a:sym typeface="Calibri"/>
              </a:rPr>
              <a:t>프로젝트명</a:t>
            </a:r>
            <a:endParaRPr sz="1200" b="1" dirty="0">
              <a:solidFill>
                <a:schemeClr val="lt1"/>
              </a:solidFill>
              <a:latin typeface="Calibri"/>
              <a:ea typeface="Calibri"/>
              <a:cs typeface="Calibri"/>
              <a:sym typeface="Calibri"/>
            </a:endParaRPr>
          </a:p>
          <a:p>
            <a:pPr marL="285744" lvl="0" indent="-285744">
              <a:lnSpc>
                <a:spcPct val="150000"/>
              </a:lnSpc>
              <a:buClr>
                <a:schemeClr val="lt1"/>
              </a:buClr>
              <a:buSzPts val="1200"/>
              <a:buFont typeface="Noto Sans Symbols"/>
              <a:buChar char="❑"/>
            </a:pPr>
            <a:r>
              <a:rPr lang="en-US" altLang="ko-KR" sz="1200" b="1" dirty="0">
                <a:solidFill>
                  <a:schemeClr val="lt1"/>
                </a:solidFill>
                <a:latin typeface="Calibri"/>
                <a:ea typeface="Calibri"/>
                <a:cs typeface="Calibri"/>
                <a:sym typeface="Calibri"/>
              </a:rPr>
              <a:t>AI </a:t>
            </a:r>
            <a:r>
              <a:rPr lang="ko-KR" altLang="en-US" sz="1200" b="1" dirty="0">
                <a:solidFill>
                  <a:schemeClr val="lt1"/>
                </a:solidFill>
                <a:latin typeface="Calibri"/>
                <a:ea typeface="Calibri"/>
                <a:cs typeface="Calibri"/>
                <a:sym typeface="Calibri"/>
              </a:rPr>
              <a:t>영어 디지털 교과서에 활용되는 영문법 교정 </a:t>
            </a:r>
            <a:r>
              <a:rPr lang="en-US" altLang="ko-KR" sz="1200" b="1" dirty="0">
                <a:solidFill>
                  <a:schemeClr val="lt1"/>
                </a:solidFill>
                <a:latin typeface="Calibri"/>
                <a:ea typeface="Calibri"/>
                <a:cs typeface="Calibri"/>
                <a:sym typeface="Calibri"/>
              </a:rPr>
              <a:t>LLM</a:t>
            </a:r>
            <a:r>
              <a:rPr lang="ko-KR" altLang="en-US" sz="1200" b="1" dirty="0">
                <a:solidFill>
                  <a:schemeClr val="lt1"/>
                </a:solidFill>
                <a:latin typeface="Calibri"/>
                <a:ea typeface="Calibri"/>
                <a:cs typeface="Calibri"/>
                <a:sym typeface="Calibri"/>
              </a:rPr>
              <a:t>모델 개발 </a:t>
            </a:r>
            <a:endParaRPr dirty="0"/>
          </a:p>
        </p:txBody>
      </p:sp>
      <p:sp>
        <p:nvSpPr>
          <p:cNvPr id="100" name="Google Shape;100;p13"/>
          <p:cNvSpPr txBox="1"/>
          <p:nvPr/>
        </p:nvSpPr>
        <p:spPr>
          <a:xfrm>
            <a:off x="9309099" y="7898646"/>
            <a:ext cx="8300863" cy="80787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100" b="1" dirty="0">
                <a:solidFill>
                  <a:schemeClr val="dk1"/>
                </a:solidFill>
                <a:latin typeface="Calibri"/>
                <a:ea typeface="Calibri"/>
                <a:cs typeface="Calibri"/>
                <a:sym typeface="Calibri"/>
              </a:rPr>
              <a:t>주요 성과</a:t>
            </a:r>
            <a:endParaRPr sz="1100" b="1" dirty="0">
              <a:solidFill>
                <a:schemeClr val="dk1"/>
              </a:solidFill>
              <a:latin typeface="Calibri"/>
              <a:ea typeface="Calibri"/>
              <a:cs typeface="Calibri"/>
              <a:sym typeface="Calibri"/>
            </a:endParaRPr>
          </a:p>
          <a:p>
            <a:pPr lvl="0">
              <a:lnSpc>
                <a:spcPct val="150000"/>
              </a:lnSpc>
            </a:pPr>
            <a:r>
              <a:rPr lang="ko-KR" altLang="en-US" sz="1000" dirty="0"/>
              <a:t>독자적인 모델을 구축하여</a:t>
            </a:r>
            <a:r>
              <a:rPr lang="en-US" altLang="ko-KR" sz="1000" dirty="0"/>
              <a:t>, </a:t>
            </a:r>
            <a:r>
              <a:rPr lang="en-US" altLang="ko-KR" sz="1000" b="1" dirty="0"/>
              <a:t>YBM, </a:t>
            </a:r>
            <a:r>
              <a:rPr lang="ko-KR" altLang="en-US" sz="1000" b="1" dirty="0"/>
              <a:t>능률</a:t>
            </a:r>
            <a:r>
              <a:rPr lang="en-US" altLang="ko-KR" sz="1000" b="1" dirty="0"/>
              <a:t>, </a:t>
            </a:r>
            <a:r>
              <a:rPr lang="ko-KR" altLang="en-US" sz="1000" b="1" dirty="0"/>
              <a:t>동아 </a:t>
            </a:r>
            <a:r>
              <a:rPr lang="ko-KR" altLang="en-US" sz="1000" dirty="0"/>
              <a:t>등 주요 교육 기업에 디지털 교과서 형태로 도입</a:t>
            </a:r>
            <a:r>
              <a:rPr lang="en-US" altLang="ko-KR" sz="1000"/>
              <a:t>.( </a:t>
            </a:r>
            <a:r>
              <a:rPr lang="en-US" altLang="ko-KR" sz="1000">
                <a:hlinkClick r:id="rId3"/>
              </a:rPr>
              <a:t>https</a:t>
            </a:r>
            <a:r>
              <a:rPr lang="en-US" altLang="ko-KR" sz="1000" dirty="0">
                <a:hlinkClick r:id="rId3"/>
              </a:rPr>
              <a:t>://www.edutem.net/news/detail</a:t>
            </a:r>
            <a:r>
              <a:rPr lang="en-US" altLang="ko-KR" sz="1000">
                <a:hlinkClick r:id="rId3"/>
              </a:rPr>
              <a:t>/11</a:t>
            </a:r>
            <a:r>
              <a:rPr lang="en-US" altLang="ko-KR" sz="1000"/>
              <a:t> )</a:t>
            </a:r>
            <a:endParaRPr lang="en-US" altLang="ko-KR" sz="1000" dirty="0"/>
          </a:p>
          <a:p>
            <a:pPr lvl="0" algn="just">
              <a:lnSpc>
                <a:spcPct val="150000"/>
              </a:lnSpc>
            </a:pPr>
            <a:r>
              <a:rPr lang="ko-KR" altLang="en-US" sz="1000" dirty="0"/>
              <a:t>데이터 학습 및 추가 생성으로 문장 교정 정확도 </a:t>
            </a:r>
            <a:r>
              <a:rPr lang="en-US" altLang="ko-KR" sz="1000" dirty="0"/>
              <a:t>97.8% </a:t>
            </a:r>
            <a:r>
              <a:rPr lang="ko-KR" altLang="en-US" sz="1000" dirty="0"/>
              <a:t>달성</a:t>
            </a:r>
            <a:r>
              <a:rPr lang="en-US" altLang="ko-KR" sz="1000" dirty="0"/>
              <a:t>.</a:t>
            </a:r>
            <a:endParaRPr lang="en-US" altLang="ko-KR" sz="1000" dirty="0">
              <a:solidFill>
                <a:schemeClr val="dk1"/>
              </a:solidFill>
              <a:latin typeface="Calibri"/>
              <a:ea typeface="Calibri"/>
              <a:cs typeface="Calibri"/>
              <a:sym typeface="Calibri"/>
            </a:endParaRPr>
          </a:p>
        </p:txBody>
      </p:sp>
      <p:sp>
        <p:nvSpPr>
          <p:cNvPr id="101" name="Google Shape;101;p13"/>
          <p:cNvSpPr txBox="1"/>
          <p:nvPr/>
        </p:nvSpPr>
        <p:spPr>
          <a:xfrm>
            <a:off x="9127310" y="4324840"/>
            <a:ext cx="7598590" cy="553957"/>
          </a:xfrm>
          <a:prstGeom prst="rect">
            <a:avLst/>
          </a:prstGeom>
          <a:noFill/>
          <a:ln>
            <a:noFill/>
          </a:ln>
        </p:spPr>
        <p:txBody>
          <a:bodyPr spcFirstLastPara="1" wrap="square" lIns="91425" tIns="45700" rIns="91425" bIns="45700" anchor="t" anchorCtr="0">
            <a:spAutoFit/>
          </a:bodyPr>
          <a:lstStyle/>
          <a:p>
            <a:pPr algn="just">
              <a:lnSpc>
                <a:spcPct val="150000"/>
              </a:lnSpc>
            </a:pPr>
            <a:r>
              <a:rPr lang="ko-KR" altLang="en-US" sz="1000" dirty="0">
                <a:solidFill>
                  <a:schemeClr val="dk1"/>
                </a:solidFill>
                <a:latin typeface="Calibri"/>
                <a:ea typeface="Calibri"/>
                <a:cs typeface="Calibri"/>
              </a:rPr>
              <a:t>배치 입력</a:t>
            </a:r>
            <a:r>
              <a:rPr lang="en-US" altLang="ko-KR" sz="1000" dirty="0">
                <a:solidFill>
                  <a:schemeClr val="dk1"/>
                </a:solidFill>
                <a:latin typeface="Calibri"/>
                <a:ea typeface="Calibri"/>
                <a:cs typeface="Calibri"/>
              </a:rPr>
              <a:t>(batch processing)</a:t>
            </a:r>
            <a:r>
              <a:rPr lang="ko-KR" altLang="en-US" sz="1000" dirty="0">
                <a:solidFill>
                  <a:schemeClr val="dk1"/>
                </a:solidFill>
                <a:latin typeface="Calibri"/>
                <a:ea typeface="Calibri"/>
                <a:cs typeface="Calibri"/>
              </a:rPr>
              <a:t>을 활용해 대규모 데이터를 효율적으로 처리하며</a:t>
            </a:r>
            <a:r>
              <a:rPr lang="en-US" altLang="ko-KR" sz="1000" dirty="0">
                <a:solidFill>
                  <a:schemeClr val="dk1"/>
                </a:solidFill>
                <a:latin typeface="Calibri"/>
                <a:ea typeface="Calibri"/>
                <a:cs typeface="Calibri"/>
              </a:rPr>
              <a:t>, </a:t>
            </a:r>
            <a:r>
              <a:rPr lang="ko-KR" altLang="en-US" sz="1000" dirty="0">
                <a:solidFill>
                  <a:schemeClr val="dk1"/>
                </a:solidFill>
                <a:latin typeface="Calibri"/>
                <a:ea typeface="Calibri"/>
                <a:cs typeface="Calibri"/>
              </a:rPr>
              <a:t>추론 속도를 최적화하였습니다</a:t>
            </a:r>
            <a:r>
              <a:rPr lang="en-US" altLang="ko-KR" sz="1000" dirty="0">
                <a:solidFill>
                  <a:schemeClr val="dk1"/>
                </a:solidFill>
                <a:latin typeface="Calibri"/>
                <a:ea typeface="Calibri"/>
                <a:cs typeface="Calibri"/>
              </a:rPr>
              <a:t>. </a:t>
            </a:r>
            <a:r>
              <a:rPr lang="ko-KR" altLang="en-US" sz="1000" dirty="0">
                <a:solidFill>
                  <a:schemeClr val="dk1"/>
                </a:solidFill>
                <a:latin typeface="Calibri"/>
                <a:ea typeface="Calibri"/>
                <a:cs typeface="Calibri"/>
              </a:rPr>
              <a:t>또한</a:t>
            </a:r>
            <a:r>
              <a:rPr lang="en-US" altLang="ko-KR" sz="1000" dirty="0">
                <a:solidFill>
                  <a:schemeClr val="dk1"/>
                </a:solidFill>
                <a:latin typeface="Calibri"/>
                <a:ea typeface="Calibri"/>
                <a:cs typeface="Calibri"/>
              </a:rPr>
              <a:t>, </a:t>
            </a:r>
            <a:r>
              <a:rPr lang="en-US" altLang="ko-KR" sz="1000" dirty="0" err="1">
                <a:solidFill>
                  <a:schemeClr val="dk1"/>
                </a:solidFill>
                <a:latin typeface="Calibri"/>
                <a:ea typeface="Calibri"/>
                <a:cs typeface="Calibri"/>
              </a:rPr>
              <a:t>FastAPI</a:t>
            </a:r>
            <a:r>
              <a:rPr lang="ko-KR" altLang="en-US" sz="1000" dirty="0">
                <a:solidFill>
                  <a:schemeClr val="dk1"/>
                </a:solidFill>
                <a:latin typeface="Calibri"/>
                <a:ea typeface="Calibri"/>
                <a:cs typeface="Calibri"/>
              </a:rPr>
              <a:t>를 기반으로 개발된 모델을 </a:t>
            </a:r>
            <a:r>
              <a:rPr lang="en-US" altLang="ko-KR" sz="1000" dirty="0">
                <a:solidFill>
                  <a:schemeClr val="dk1"/>
                </a:solidFill>
                <a:latin typeface="Calibri"/>
                <a:ea typeface="Calibri"/>
                <a:cs typeface="Calibri"/>
              </a:rPr>
              <a:t>Docker</a:t>
            </a:r>
            <a:r>
              <a:rPr lang="ko-KR" altLang="en-US" sz="1000" dirty="0">
                <a:solidFill>
                  <a:schemeClr val="dk1"/>
                </a:solidFill>
                <a:latin typeface="Calibri"/>
                <a:ea typeface="Calibri"/>
                <a:cs typeface="Calibri"/>
              </a:rPr>
              <a:t>로 컨테이너화하여 다른 플랫폼에 안정적으로 </a:t>
            </a:r>
            <a:r>
              <a:rPr lang="ko-KR" altLang="en-US" sz="1000" dirty="0" err="1">
                <a:solidFill>
                  <a:schemeClr val="dk1"/>
                </a:solidFill>
                <a:latin typeface="Calibri"/>
                <a:ea typeface="Calibri"/>
                <a:cs typeface="Calibri"/>
              </a:rPr>
              <a:t>포팅</a:t>
            </a:r>
            <a:r>
              <a:rPr lang="en-US" altLang="ko-KR" sz="1000" dirty="0">
                <a:solidFill>
                  <a:schemeClr val="dk1"/>
                </a:solidFill>
                <a:latin typeface="Calibri"/>
                <a:ea typeface="Calibri"/>
                <a:cs typeface="Calibri"/>
              </a:rPr>
              <a:t>(porting)</a:t>
            </a:r>
            <a:r>
              <a:rPr lang="ko-KR" altLang="en-US" sz="1000" dirty="0">
                <a:solidFill>
                  <a:schemeClr val="dk1"/>
                </a:solidFill>
                <a:latin typeface="Calibri"/>
                <a:ea typeface="Calibri"/>
                <a:cs typeface="Calibri"/>
              </a:rPr>
              <a:t>하도록 하였습니다</a:t>
            </a:r>
            <a:r>
              <a:rPr lang="en-US" altLang="ko-KR" sz="1000" dirty="0">
                <a:solidFill>
                  <a:schemeClr val="dk1"/>
                </a:solidFill>
                <a:latin typeface="Calibri"/>
                <a:ea typeface="Calibri"/>
                <a:cs typeface="Calibri"/>
              </a:rPr>
              <a:t>.</a:t>
            </a:r>
            <a:endParaRPr sz="1000" dirty="0">
              <a:solidFill>
                <a:schemeClr val="dk1"/>
              </a:solidFill>
              <a:latin typeface="Calibri"/>
              <a:ea typeface="Calibri"/>
              <a:cs typeface="Calibri"/>
              <a:sym typeface="Calibri"/>
            </a:endParaRPr>
          </a:p>
        </p:txBody>
      </p:sp>
      <p:sp>
        <p:nvSpPr>
          <p:cNvPr id="102" name="Google Shape;102;p13"/>
          <p:cNvSpPr txBox="1"/>
          <p:nvPr/>
        </p:nvSpPr>
        <p:spPr>
          <a:xfrm>
            <a:off x="4931578" y="1495636"/>
            <a:ext cx="3535454" cy="195068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dirty="0">
                <a:solidFill>
                  <a:schemeClr val="dk1"/>
                </a:solidFill>
                <a:latin typeface="Calibri"/>
                <a:ea typeface="Calibri"/>
                <a:cs typeface="Calibri"/>
                <a:sym typeface="Calibri"/>
              </a:rPr>
              <a:t>[프로젝트 세부 사항]</a:t>
            </a:r>
            <a:endParaRPr sz="1051" b="1"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프로젝트 기간 :</a:t>
            </a:r>
            <a:r>
              <a:rPr lang="ko-KR" sz="1000" dirty="0">
                <a:solidFill>
                  <a:schemeClr val="dk1"/>
                </a:solidFill>
                <a:latin typeface="Calibri"/>
                <a:ea typeface="Calibri"/>
                <a:cs typeface="Calibri"/>
                <a:sym typeface="Calibri"/>
              </a:rPr>
              <a:t> 202</a:t>
            </a:r>
            <a:r>
              <a:rPr lang="en-US" altLang="ko-KR" sz="1000" dirty="0">
                <a:solidFill>
                  <a:schemeClr val="dk1"/>
                </a:solidFill>
                <a:latin typeface="Calibri"/>
                <a:ea typeface="Calibri"/>
                <a:cs typeface="Calibri"/>
                <a:sym typeface="Calibri"/>
              </a:rPr>
              <a:t>3</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11</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23</a:t>
            </a:r>
            <a:r>
              <a:rPr lang="ko-KR" sz="1000" dirty="0">
                <a:solidFill>
                  <a:schemeClr val="dk1"/>
                </a:solidFill>
                <a:latin typeface="Calibri"/>
                <a:ea typeface="Calibri"/>
                <a:cs typeface="Calibri"/>
                <a:sym typeface="Calibri"/>
              </a:rPr>
              <a:t> ~ 202</a:t>
            </a:r>
            <a:r>
              <a:rPr lang="en-US" altLang="ko-KR" sz="1000" dirty="0">
                <a:solidFill>
                  <a:schemeClr val="dk1"/>
                </a:solidFill>
                <a:latin typeface="Calibri"/>
                <a:ea typeface="Calibri"/>
                <a:cs typeface="Calibri"/>
                <a:sym typeface="Calibri"/>
              </a:rPr>
              <a:t>4</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12</a:t>
            </a:r>
            <a:r>
              <a:rPr lang="ko-KR" sz="1000" dirty="0">
                <a:solidFill>
                  <a:schemeClr val="dk1"/>
                </a:solidFill>
                <a:latin typeface="Calibri"/>
                <a:ea typeface="Calibri"/>
                <a:cs typeface="Calibri"/>
                <a:sym typeface="Calibri"/>
              </a:rPr>
              <a:t>.30</a:t>
            </a:r>
            <a:endParaRPr dirty="0"/>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개발 인원 :</a:t>
            </a:r>
            <a:r>
              <a:rPr lang="ko-KR" sz="1000" dirty="0">
                <a:solidFill>
                  <a:schemeClr val="dk1"/>
                </a:solidFill>
                <a:latin typeface="Calibri"/>
                <a:ea typeface="Calibri"/>
                <a:cs typeface="Calibri"/>
                <a:sym typeface="Calibri"/>
              </a:rPr>
              <a:t> 1명</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연계/</a:t>
            </a:r>
            <a:r>
              <a:rPr lang="ko-KR" sz="1000" b="1" dirty="0" err="1">
                <a:solidFill>
                  <a:schemeClr val="dk1"/>
                </a:solidFill>
                <a:latin typeface="Calibri"/>
                <a:ea typeface="Calibri"/>
                <a:cs typeface="Calibri"/>
                <a:sym typeface="Calibri"/>
              </a:rPr>
              <a:t>주관기업</a:t>
            </a:r>
            <a:r>
              <a:rPr lang="ko-KR" sz="1000" b="1" dirty="0">
                <a:solidFill>
                  <a:schemeClr val="dk1"/>
                </a:solidFill>
                <a:latin typeface="Calibri"/>
                <a:ea typeface="Calibri"/>
                <a:cs typeface="Calibri"/>
                <a:sym typeface="Calibri"/>
              </a:rPr>
              <a:t> : </a:t>
            </a:r>
            <a:r>
              <a:rPr lang="ko-KR" altLang="en-US" sz="1000" dirty="0" err="1">
                <a:solidFill>
                  <a:schemeClr val="dk1"/>
                </a:solidFill>
                <a:latin typeface="Calibri"/>
                <a:ea typeface="Calibri"/>
                <a:cs typeface="Calibri"/>
                <a:sym typeface="Calibri"/>
              </a:rPr>
              <a:t>에듀템</a:t>
            </a:r>
            <a:r>
              <a:rPr lang="ko-KR" altLang="en-US" sz="1000" dirty="0">
                <a:solidFill>
                  <a:schemeClr val="dk1"/>
                </a:solidFill>
                <a:latin typeface="Calibri"/>
                <a:ea typeface="Calibri"/>
                <a:cs typeface="Calibri"/>
                <a:sym typeface="Calibri"/>
              </a:rPr>
              <a:t> 서비스</a:t>
            </a:r>
            <a:r>
              <a:rPr lang="en-US" altLang="ko-KR" sz="1000" dirty="0">
                <a:solidFill>
                  <a:schemeClr val="dk1"/>
                </a:solidFill>
                <a:latin typeface="Calibri"/>
                <a:ea typeface="Calibri"/>
                <a:cs typeface="Calibri"/>
                <a:sym typeface="Calibri"/>
              </a:rPr>
              <a:t>[YBM, </a:t>
            </a:r>
            <a:r>
              <a:rPr lang="ko-KR" altLang="en-US" sz="1000" dirty="0">
                <a:solidFill>
                  <a:schemeClr val="dk1"/>
                </a:solidFill>
                <a:latin typeface="Calibri"/>
                <a:ea typeface="Calibri"/>
                <a:cs typeface="Calibri"/>
                <a:sym typeface="Calibri"/>
              </a:rPr>
              <a:t>능률</a:t>
            </a:r>
            <a:r>
              <a:rPr lang="en-US" altLang="ko-KR" sz="1000" dirty="0">
                <a:solidFill>
                  <a:schemeClr val="dk1"/>
                </a:solidFill>
                <a:latin typeface="Calibri"/>
                <a:ea typeface="Calibri"/>
                <a:cs typeface="Calibri"/>
                <a:sym typeface="Calibri"/>
              </a:rPr>
              <a:t>,</a:t>
            </a:r>
            <a:r>
              <a:rPr lang="ko-KR" altLang="en-US" sz="1000" dirty="0">
                <a:solidFill>
                  <a:schemeClr val="dk1"/>
                </a:solidFill>
                <a:latin typeface="Calibri"/>
                <a:ea typeface="Calibri"/>
                <a:cs typeface="Calibri"/>
                <a:sym typeface="Calibri"/>
              </a:rPr>
              <a:t> 동아</a:t>
            </a:r>
            <a:r>
              <a:rPr lang="en-US" altLang="ko-KR" sz="1000" dirty="0">
                <a:solidFill>
                  <a:schemeClr val="dk1"/>
                </a:solidFill>
                <a:latin typeface="Calibri"/>
                <a:ea typeface="Calibri"/>
                <a:cs typeface="Calibri"/>
                <a:sym typeface="Calibri"/>
              </a:rPr>
              <a:t>]</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담당 업무 : </a:t>
            </a:r>
            <a:r>
              <a:rPr lang="ko-KR" sz="1000" dirty="0">
                <a:solidFill>
                  <a:schemeClr val="dk1"/>
                </a:solidFill>
                <a:latin typeface="Calibri"/>
                <a:ea typeface="Calibri"/>
                <a:cs typeface="Calibri"/>
                <a:sym typeface="Calibri"/>
              </a:rPr>
              <a:t>프로그램 구상 및 개발, 유지보수</a:t>
            </a:r>
            <a:endParaRPr sz="1000" dirty="0">
              <a:solidFill>
                <a:schemeClr val="dk1"/>
              </a:solidFill>
              <a:latin typeface="Calibri"/>
              <a:ea typeface="Calibri"/>
              <a:cs typeface="Calibri"/>
              <a:sym typeface="Calibri"/>
            </a:endParaRPr>
          </a:p>
          <a:p>
            <a:pPr lvl="0" algn="just">
              <a:lnSpc>
                <a:spcPct val="150000"/>
              </a:lnSpc>
            </a:pPr>
            <a:r>
              <a:rPr lang="ko-KR" sz="1000" b="1" dirty="0">
                <a:solidFill>
                  <a:schemeClr val="dk1"/>
                </a:solidFill>
                <a:latin typeface="Calibri"/>
                <a:ea typeface="Calibri"/>
                <a:cs typeface="Calibri"/>
                <a:sym typeface="Calibri"/>
              </a:rPr>
              <a:t>기술 스택 :</a:t>
            </a:r>
            <a:r>
              <a:rPr lang="en-US" altLang="ko-KR" sz="1000" dirty="0">
                <a:solidFill>
                  <a:schemeClr val="dk1"/>
                </a:solidFill>
                <a:latin typeface="Calibri"/>
                <a:ea typeface="Calibri"/>
                <a:cs typeface="Calibri"/>
                <a:sym typeface="Calibri"/>
              </a:rPr>
              <a:t>DNN, Docker, </a:t>
            </a:r>
            <a:r>
              <a:rPr lang="en-US" altLang="ko-KR" sz="1000" dirty="0" err="1">
                <a:solidFill>
                  <a:schemeClr val="dk1"/>
                </a:solidFill>
                <a:latin typeface="Calibri"/>
                <a:ea typeface="Calibri"/>
                <a:cs typeface="Calibri"/>
                <a:sym typeface="Calibri"/>
              </a:rPr>
              <a:t>Git</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Streamlit</a:t>
            </a:r>
            <a:r>
              <a:rPr lang="en-US" altLang="ko-KR" sz="1000" dirty="0">
                <a:solidFill>
                  <a:schemeClr val="dk1"/>
                </a:solidFill>
                <a:latin typeface="Calibri"/>
                <a:ea typeface="Calibri"/>
                <a:cs typeface="Calibri"/>
                <a:sym typeface="Calibri"/>
              </a:rPr>
              <a:t>, </a:t>
            </a:r>
            <a:r>
              <a:rPr lang="en-US" altLang="ko-KR" sz="1000" dirty="0" err="1">
                <a:solidFill>
                  <a:schemeClr val="dk1"/>
                </a:solidFill>
                <a:latin typeface="Calibri"/>
                <a:ea typeface="Calibri"/>
                <a:cs typeface="Calibri"/>
                <a:sym typeface="Calibri"/>
              </a:rPr>
              <a:t>fastapi</a:t>
            </a:r>
            <a:endParaRPr lang="en-US" altLang="ko-KR" sz="1000" dirty="0">
              <a:solidFill>
                <a:schemeClr val="dk1"/>
              </a:solidFill>
              <a:latin typeface="Calibri"/>
              <a:ea typeface="Calibri"/>
              <a:cs typeface="Calibri"/>
              <a:sym typeface="Calibri"/>
            </a:endParaRPr>
          </a:p>
          <a:p>
            <a:pPr lvl="0" algn="just">
              <a:lnSpc>
                <a:spcPct val="150000"/>
              </a:lnSpc>
            </a:pPr>
            <a:r>
              <a:rPr lang="ko-KR" sz="1000" b="1" dirty="0">
                <a:solidFill>
                  <a:schemeClr val="dk1"/>
                </a:solidFill>
                <a:latin typeface="Calibri"/>
                <a:ea typeface="Calibri"/>
                <a:cs typeface="Calibri"/>
                <a:sym typeface="Calibri"/>
              </a:rPr>
              <a:t>오픈소스 &amp; 라이브러리 :</a:t>
            </a:r>
            <a:r>
              <a:rPr lang="ko-KR" sz="1000" dirty="0" err="1">
                <a:solidFill>
                  <a:schemeClr val="dk1"/>
                </a:solidFill>
                <a:latin typeface="Calibri"/>
                <a:ea typeface="Calibri"/>
                <a:cs typeface="Calibri"/>
                <a:sym typeface="Calibri"/>
              </a:rPr>
              <a:t>pytorch</a:t>
            </a:r>
            <a:r>
              <a:rPr lang="ko-KR" sz="1000" dirty="0">
                <a:solidFill>
                  <a:schemeClr val="dk1"/>
                </a:solidFill>
                <a:latin typeface="Calibri"/>
                <a:ea typeface="Calibri"/>
                <a:cs typeface="Calibri"/>
                <a:sym typeface="Calibri"/>
              </a:rPr>
              <a:t>,</a:t>
            </a:r>
            <a:r>
              <a:rPr lang="en-US" alt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hashlib</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math</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sklearn</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endParaRPr sz="1000" dirty="0">
              <a:solidFill>
                <a:schemeClr val="dk1"/>
              </a:solidFill>
              <a:latin typeface="Calibri"/>
              <a:ea typeface="Calibri"/>
              <a:cs typeface="Calibri"/>
              <a:sym typeface="Calibri"/>
            </a:endParaRPr>
          </a:p>
        </p:txBody>
      </p:sp>
      <p:sp>
        <p:nvSpPr>
          <p:cNvPr id="103" name="Google Shape;103;p13"/>
          <p:cNvSpPr txBox="1"/>
          <p:nvPr/>
        </p:nvSpPr>
        <p:spPr>
          <a:xfrm>
            <a:off x="803314" y="1503382"/>
            <a:ext cx="4207616" cy="245851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dirty="0">
                <a:solidFill>
                  <a:schemeClr val="dk1"/>
                </a:solidFill>
                <a:latin typeface="Calibri"/>
                <a:ea typeface="Calibri"/>
                <a:cs typeface="Calibri"/>
                <a:sym typeface="Calibri"/>
              </a:rPr>
              <a:t>[주요 업무]</a:t>
            </a:r>
            <a:endParaRPr sz="1051" dirty="0">
              <a:solidFill>
                <a:schemeClr val="dk1"/>
              </a:solidFill>
              <a:latin typeface="Calibri"/>
              <a:ea typeface="Calibri"/>
              <a:cs typeface="Calibri"/>
              <a:sym typeface="Calibri"/>
            </a:endParaRPr>
          </a:p>
          <a:p>
            <a:pPr lvl="0" algn="just">
              <a:lnSpc>
                <a:spcPct val="150000"/>
              </a:lnSpc>
            </a:pPr>
            <a:r>
              <a:rPr lang="en-US" altLang="ko-KR" sz="1000" b="1" dirty="0">
                <a:solidFill>
                  <a:schemeClr val="dk1"/>
                </a:solidFill>
                <a:latin typeface="Calibri"/>
                <a:ea typeface="Calibri"/>
                <a:cs typeface="Calibri"/>
                <a:sym typeface="Calibri"/>
              </a:rPr>
              <a:t>1. LLM</a:t>
            </a:r>
            <a:r>
              <a:rPr lang="ko-KR" altLang="en-US" sz="1000" b="1" dirty="0">
                <a:solidFill>
                  <a:schemeClr val="dk1"/>
                </a:solidFill>
                <a:latin typeface="Calibri"/>
                <a:ea typeface="Calibri"/>
                <a:cs typeface="Calibri"/>
                <a:sym typeface="Calibri"/>
              </a:rPr>
              <a:t>기반 문법 교정 모델 개발 및 상용화</a:t>
            </a:r>
            <a:endParaRPr lang="ko-KR" altLang="en-US" sz="1000" dirty="0"/>
          </a:p>
          <a:p>
            <a:pPr algn="just" eaLnBrk="0" fontAlgn="base" hangingPunct="0">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 </a:t>
            </a:r>
            <a:r>
              <a:rPr lang="ko-KR" altLang="en-US" sz="900" dirty="0">
                <a:solidFill>
                  <a:schemeClr val="dk1"/>
                </a:solidFill>
                <a:latin typeface="Calibri"/>
                <a:ea typeface="Calibri"/>
                <a:cs typeface="Calibri"/>
                <a:sym typeface="Calibri"/>
              </a:rPr>
              <a:t>데이터 수집</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전처리 모델 학습</a:t>
            </a:r>
            <a:r>
              <a:rPr lang="en-US"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성능 최적화 등 모델 개발 전 과정 주도</a:t>
            </a:r>
            <a:endParaRPr lang="en-US" altLang="ko-KR" sz="900" dirty="0">
              <a:solidFill>
                <a:schemeClr val="dk1"/>
              </a:solidFill>
              <a:latin typeface="Calibri"/>
              <a:ea typeface="Calibri"/>
              <a:cs typeface="Calibri"/>
              <a:sym typeface="Calibri"/>
            </a:endParaRPr>
          </a:p>
          <a:p>
            <a:pPr algn="just" eaLnBrk="0" fontAlgn="base" hangingPunct="0">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 </a:t>
            </a:r>
            <a:r>
              <a:rPr lang="en-US" altLang="ko-KR" sz="900" dirty="0">
                <a:solidFill>
                  <a:schemeClr val="dk1"/>
                </a:solidFill>
                <a:latin typeface="Calibri"/>
                <a:ea typeface="Calibri"/>
                <a:cs typeface="Calibri"/>
                <a:sym typeface="Calibri"/>
              </a:rPr>
              <a:t>BELU, SARI </a:t>
            </a:r>
            <a:r>
              <a:rPr lang="ko-KR" altLang="en-US" sz="900" dirty="0">
                <a:solidFill>
                  <a:schemeClr val="dk1"/>
                </a:solidFill>
                <a:latin typeface="Calibri"/>
                <a:ea typeface="Calibri"/>
                <a:cs typeface="Calibri"/>
                <a:sym typeface="Calibri"/>
              </a:rPr>
              <a:t>등 성능 지표를 활용해 모델 정확도를 </a:t>
            </a:r>
            <a:r>
              <a:rPr lang="en-US" altLang="ko-KR" sz="900" dirty="0">
                <a:solidFill>
                  <a:schemeClr val="dk1"/>
                </a:solidFill>
                <a:latin typeface="Calibri"/>
                <a:ea typeface="Calibri"/>
                <a:cs typeface="Calibri"/>
                <a:sym typeface="Calibri"/>
              </a:rPr>
              <a:t>70%=&gt;97.8%</a:t>
            </a:r>
            <a:r>
              <a:rPr lang="ko-KR" altLang="en-US" sz="900" dirty="0">
                <a:solidFill>
                  <a:schemeClr val="dk1"/>
                </a:solidFill>
                <a:latin typeface="Calibri"/>
                <a:ea typeface="Calibri"/>
                <a:cs typeface="Calibri"/>
                <a:sym typeface="Calibri"/>
              </a:rPr>
              <a:t>로 향상</a:t>
            </a:r>
            <a:endParaRPr lang="en-US" altLang="ko-KR" sz="900" dirty="0">
              <a:solidFill>
                <a:schemeClr val="dk1"/>
              </a:solidFill>
              <a:latin typeface="Calibri"/>
              <a:ea typeface="Calibri"/>
              <a:cs typeface="Calibri"/>
              <a:sym typeface="Calibri"/>
            </a:endParaRPr>
          </a:p>
          <a:p>
            <a:pPr algn="just" eaLnBrk="0" fontAlgn="base" hangingPunct="0">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a:t>
            </a: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주요 </a:t>
            </a:r>
            <a:r>
              <a:rPr lang="ko-KR" altLang="en-US" sz="900" dirty="0" err="1">
                <a:solidFill>
                  <a:schemeClr val="dk1"/>
                </a:solidFill>
                <a:latin typeface="Calibri"/>
                <a:ea typeface="Calibri"/>
                <a:cs typeface="Calibri"/>
                <a:sym typeface="Calibri"/>
              </a:rPr>
              <a:t>교육기업에</a:t>
            </a:r>
            <a:r>
              <a:rPr lang="ko-KR" altLang="en-US" sz="900" dirty="0">
                <a:solidFill>
                  <a:schemeClr val="dk1"/>
                </a:solidFill>
                <a:latin typeface="Calibri"/>
                <a:ea typeface="Calibri"/>
                <a:cs typeface="Calibri"/>
                <a:sym typeface="Calibri"/>
              </a:rPr>
              <a:t> </a:t>
            </a:r>
            <a:r>
              <a:rPr lang="en-US" altLang="ko-KR" sz="900" dirty="0">
                <a:solidFill>
                  <a:schemeClr val="dk1"/>
                </a:solidFill>
                <a:latin typeface="Calibri"/>
                <a:ea typeface="Calibri"/>
                <a:cs typeface="Calibri"/>
                <a:sym typeface="Calibri"/>
              </a:rPr>
              <a:t>API</a:t>
            </a:r>
            <a:r>
              <a:rPr lang="ko-KR" altLang="en-US" sz="900" dirty="0">
                <a:solidFill>
                  <a:schemeClr val="dk1"/>
                </a:solidFill>
                <a:latin typeface="Calibri"/>
                <a:ea typeface="Calibri"/>
                <a:cs typeface="Calibri"/>
                <a:sym typeface="Calibri"/>
              </a:rPr>
              <a:t>형태로 제공 및 </a:t>
            </a:r>
            <a:r>
              <a:rPr lang="ko-KR" altLang="en-US" sz="900" dirty="0" err="1">
                <a:solidFill>
                  <a:schemeClr val="dk1"/>
                </a:solidFill>
                <a:latin typeface="Calibri"/>
                <a:ea typeface="Calibri"/>
                <a:cs typeface="Calibri"/>
                <a:sym typeface="Calibri"/>
              </a:rPr>
              <a:t>포팅</a:t>
            </a:r>
            <a:endParaRPr lang="en-US" altLang="ko-KR" sz="900" dirty="0">
              <a:solidFill>
                <a:schemeClr val="dk1"/>
              </a:solidFill>
              <a:latin typeface="Calibri"/>
              <a:ea typeface="Calibri"/>
              <a:cs typeface="Calibri"/>
              <a:sym typeface="Calibri"/>
            </a:endParaRPr>
          </a:p>
          <a:p>
            <a:pPr algn="just" eaLnBrk="0" fontAlgn="base" hangingPunct="0">
              <a:lnSpc>
                <a:spcPct val="150000"/>
              </a:lnSpc>
            </a:pPr>
            <a:r>
              <a:rPr lang="ko-KR" sz="1000" b="1" dirty="0">
                <a:solidFill>
                  <a:schemeClr val="dk1"/>
                </a:solidFill>
                <a:latin typeface="Calibri"/>
                <a:ea typeface="Calibri"/>
                <a:cs typeface="Calibri"/>
                <a:sym typeface="Calibri"/>
              </a:rPr>
              <a:t>2. </a:t>
            </a:r>
            <a:r>
              <a:rPr lang="ko-KR" altLang="en-US" sz="1000" b="1" dirty="0">
                <a:solidFill>
                  <a:schemeClr val="dk1"/>
                </a:solidFill>
                <a:latin typeface="Calibri"/>
                <a:ea typeface="Calibri"/>
                <a:cs typeface="Calibri"/>
                <a:sym typeface="Calibri"/>
              </a:rPr>
              <a:t>데이터 처리 및 최적화</a:t>
            </a:r>
            <a:endParaRPr lang="en-US" altLang="ko-KR" sz="1000" b="1" dirty="0">
              <a:solidFill>
                <a:schemeClr val="dk1"/>
              </a:solidFill>
              <a:latin typeface="Calibri"/>
              <a:ea typeface="Calibri"/>
              <a:cs typeface="Calibri"/>
              <a:sym typeface="Calibri"/>
            </a:endParaRPr>
          </a:p>
          <a:p>
            <a:pPr algn="just" eaLnBrk="0" fontAlgn="base" hangingPunct="0">
              <a:lnSpc>
                <a:spcPct val="150000"/>
              </a:lnSpc>
            </a:pPr>
            <a:r>
              <a:rPr lang="en-US" altLang="ko-KR" sz="900" dirty="0">
                <a:solidFill>
                  <a:schemeClr val="dk1"/>
                </a:solidFill>
                <a:latin typeface="Calibri"/>
                <a:ea typeface="Calibri"/>
                <a:cs typeface="Calibri"/>
                <a:sym typeface="Calibri"/>
              </a:rPr>
              <a:t>    </a:t>
            </a:r>
            <a:r>
              <a:rPr lang="ko-KR" sz="900" dirty="0">
                <a:solidFill>
                  <a:schemeClr val="dk1"/>
                </a:solidFill>
                <a:latin typeface="Calibri"/>
                <a:ea typeface="Calibri"/>
                <a:cs typeface="Calibri"/>
                <a:sym typeface="Calibri"/>
              </a:rPr>
              <a:t>- </a:t>
            </a:r>
            <a:r>
              <a:rPr lang="ko-KR" altLang="en-US" sz="900" dirty="0">
                <a:solidFill>
                  <a:schemeClr val="dk1"/>
                </a:solidFill>
                <a:latin typeface="Calibri"/>
                <a:ea typeface="Calibri"/>
                <a:cs typeface="Calibri"/>
                <a:sym typeface="Calibri"/>
              </a:rPr>
              <a:t>약 </a:t>
            </a:r>
            <a:r>
              <a:rPr lang="en-US" altLang="ko-KR" sz="900" dirty="0">
                <a:solidFill>
                  <a:schemeClr val="dk1"/>
                </a:solidFill>
                <a:latin typeface="Calibri"/>
                <a:ea typeface="Calibri"/>
                <a:cs typeface="Calibri"/>
                <a:sym typeface="Calibri"/>
              </a:rPr>
              <a:t>14</a:t>
            </a:r>
            <a:r>
              <a:rPr lang="ko-KR" altLang="en-US" sz="900" dirty="0">
                <a:solidFill>
                  <a:schemeClr val="dk1"/>
                </a:solidFill>
                <a:latin typeface="Calibri"/>
                <a:ea typeface="Calibri"/>
                <a:cs typeface="Calibri"/>
                <a:sym typeface="Calibri"/>
              </a:rPr>
              <a:t>만개의 데이터 셋 구축 및 이상치 처리</a:t>
            </a:r>
            <a:endParaRPr lang="en-US" altLang="ko-KR" sz="9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US" altLang="ko-KR" sz="900" dirty="0">
                <a:solidFill>
                  <a:schemeClr val="dk1"/>
                </a:solidFill>
                <a:latin typeface="Calibri"/>
                <a:ea typeface="Calibri"/>
                <a:cs typeface="Calibri"/>
                <a:sym typeface="Calibri"/>
              </a:rPr>
              <a:t>    </a:t>
            </a:r>
            <a:r>
              <a:rPr lang="ko-KR" sz="900" dirty="0">
                <a:solidFill>
                  <a:schemeClr val="dk1"/>
                </a:solidFill>
                <a:latin typeface="Calibri"/>
                <a:ea typeface="Calibri"/>
                <a:cs typeface="Calibri"/>
                <a:sym typeface="Calibri"/>
              </a:rPr>
              <a:t>- </a:t>
            </a:r>
            <a:r>
              <a:rPr lang="ko-KR" altLang="en-US" sz="900" dirty="0" err="1">
                <a:solidFill>
                  <a:schemeClr val="dk1"/>
                </a:solidFill>
                <a:latin typeface="Calibri"/>
                <a:ea typeface="Calibri"/>
                <a:cs typeface="Calibri"/>
                <a:sym typeface="Calibri"/>
              </a:rPr>
              <a:t>벌크형</a:t>
            </a:r>
            <a:r>
              <a:rPr lang="ko-KR" altLang="en-US" sz="900" dirty="0">
                <a:solidFill>
                  <a:schemeClr val="dk1"/>
                </a:solidFill>
                <a:latin typeface="Calibri"/>
                <a:ea typeface="Calibri"/>
                <a:cs typeface="Calibri"/>
                <a:sym typeface="Calibri"/>
              </a:rPr>
              <a:t> 데이터 파이프라인 구성으로 데이터 처리 시간 단축 </a:t>
            </a:r>
            <a:endParaRPr lang="en-US" altLang="ko-KR" sz="900" dirty="0">
              <a:solidFill>
                <a:schemeClr val="dk1"/>
              </a:solidFill>
              <a:latin typeface="Calibri"/>
              <a:ea typeface="Calibri"/>
              <a:cs typeface="Calibri"/>
              <a:sym typeface="Calibri"/>
            </a:endParaRPr>
          </a:p>
          <a:p>
            <a:pPr algn="just">
              <a:lnSpc>
                <a:spcPct val="150000"/>
              </a:lnSpc>
            </a:pPr>
            <a:r>
              <a:rPr lang="en-US" altLang="ko-KR" sz="900" b="1" dirty="0">
                <a:solidFill>
                  <a:schemeClr val="dk1"/>
                </a:solidFill>
                <a:latin typeface="Calibri"/>
                <a:ea typeface="Calibri"/>
                <a:cs typeface="Calibri"/>
                <a:sym typeface="Calibri"/>
              </a:rPr>
              <a:t>3</a:t>
            </a:r>
            <a:r>
              <a:rPr lang="ko-KR" altLang="ko-KR" sz="900" b="1" dirty="0">
                <a:solidFill>
                  <a:schemeClr val="dk1"/>
                </a:solidFill>
                <a:latin typeface="Calibri"/>
                <a:ea typeface="Calibri"/>
                <a:cs typeface="Calibri"/>
                <a:sym typeface="Calibri"/>
              </a:rPr>
              <a:t>. </a:t>
            </a:r>
            <a:r>
              <a:rPr lang="ko-KR" altLang="en-US" sz="900" b="1" dirty="0">
                <a:solidFill>
                  <a:schemeClr val="dk1"/>
                </a:solidFill>
                <a:latin typeface="Calibri"/>
                <a:ea typeface="Calibri"/>
                <a:cs typeface="Calibri"/>
                <a:sym typeface="Calibri"/>
              </a:rPr>
              <a:t>모델 기획</a:t>
            </a:r>
            <a:endParaRPr lang="en-US" altLang="ko-KR" sz="900" b="1" dirty="0">
              <a:solidFill>
                <a:schemeClr val="dk1"/>
              </a:solidFill>
              <a:latin typeface="Calibri"/>
              <a:ea typeface="Calibri"/>
              <a:cs typeface="Calibri"/>
              <a:sym typeface="Calibri"/>
            </a:endParaRPr>
          </a:p>
          <a:p>
            <a:pPr algn="just">
              <a:lnSpc>
                <a:spcPct val="150000"/>
              </a:lnSpc>
            </a:pPr>
            <a:r>
              <a:rPr lang="en-US" altLang="ko-KR" sz="900" dirty="0">
                <a:solidFill>
                  <a:schemeClr val="dk1"/>
                </a:solidFill>
                <a:latin typeface="Calibri"/>
                <a:ea typeface="Calibri"/>
                <a:cs typeface="Calibri"/>
                <a:sym typeface="Calibri"/>
              </a:rPr>
              <a:t>    </a:t>
            </a:r>
            <a:r>
              <a:rPr lang="ko-KR" altLang="ko-KR" sz="900" dirty="0">
                <a:solidFill>
                  <a:schemeClr val="dk1"/>
                </a:solidFill>
                <a:latin typeface="Calibri"/>
                <a:ea typeface="Calibri"/>
                <a:cs typeface="Calibri"/>
                <a:sym typeface="Calibri"/>
              </a:rPr>
              <a:t>- </a:t>
            </a:r>
            <a:r>
              <a:rPr lang="ko-KR" altLang="en-US" sz="900" dirty="0" err="1">
                <a:solidFill>
                  <a:schemeClr val="dk1"/>
                </a:solidFill>
                <a:latin typeface="Calibri"/>
                <a:ea typeface="Calibri"/>
                <a:cs typeface="Calibri"/>
                <a:sym typeface="Calibri"/>
              </a:rPr>
              <a:t>챗</a:t>
            </a:r>
            <a:r>
              <a:rPr lang="ko-KR" altLang="en-US" sz="900" dirty="0">
                <a:solidFill>
                  <a:schemeClr val="dk1"/>
                </a:solidFill>
                <a:latin typeface="Calibri"/>
                <a:ea typeface="Calibri"/>
                <a:cs typeface="Calibri"/>
                <a:sym typeface="Calibri"/>
              </a:rPr>
              <a:t> </a:t>
            </a:r>
            <a:r>
              <a:rPr lang="en-US" altLang="ko-KR" sz="900" dirty="0" err="1">
                <a:solidFill>
                  <a:schemeClr val="dk1"/>
                </a:solidFill>
                <a:latin typeface="Calibri"/>
                <a:ea typeface="Calibri"/>
                <a:cs typeface="Calibri"/>
                <a:sym typeface="Calibri"/>
              </a:rPr>
              <a:t>gpt</a:t>
            </a:r>
            <a:r>
              <a:rPr lang="ko-KR" altLang="en-US" sz="900" dirty="0">
                <a:solidFill>
                  <a:schemeClr val="dk1"/>
                </a:solidFill>
                <a:latin typeface="Calibri"/>
                <a:ea typeface="Calibri"/>
                <a:cs typeface="Calibri"/>
                <a:sym typeface="Calibri"/>
              </a:rPr>
              <a:t>와 달리 답의 일관성을 보장하며 사용자의 신뢰도를 향상</a:t>
            </a:r>
            <a:endParaRPr lang="en-US" altLang="ko-KR" sz="900" dirty="0">
              <a:solidFill>
                <a:schemeClr val="dk1"/>
              </a:solidFill>
              <a:latin typeface="Calibri"/>
              <a:ea typeface="Calibri"/>
              <a:cs typeface="Calibri"/>
              <a:sym typeface="Calibri"/>
            </a:endParaRPr>
          </a:p>
          <a:p>
            <a:pPr algn="just">
              <a:lnSpc>
                <a:spcPct val="150000"/>
              </a:lnSpc>
            </a:pPr>
            <a:r>
              <a:rPr lang="en-US" altLang="ko-KR" sz="900" dirty="0">
                <a:solidFill>
                  <a:schemeClr val="dk1"/>
                </a:solidFill>
                <a:latin typeface="Calibri"/>
                <a:ea typeface="Calibri"/>
                <a:cs typeface="Calibri"/>
                <a:sym typeface="Calibri"/>
              </a:rPr>
              <a:t>    - input</a:t>
            </a:r>
            <a:r>
              <a:rPr lang="ko-KR" altLang="en-US" sz="900" dirty="0">
                <a:solidFill>
                  <a:schemeClr val="dk1"/>
                </a:solidFill>
                <a:latin typeface="Calibri"/>
                <a:ea typeface="Calibri"/>
                <a:cs typeface="Calibri"/>
                <a:sym typeface="Calibri"/>
              </a:rPr>
              <a:t>을 배치로 </a:t>
            </a:r>
            <a:r>
              <a:rPr lang="ko-KR" altLang="en-US" sz="900" dirty="0" err="1">
                <a:solidFill>
                  <a:schemeClr val="dk1"/>
                </a:solidFill>
                <a:latin typeface="Calibri"/>
                <a:ea typeface="Calibri"/>
                <a:cs typeface="Calibri"/>
                <a:sym typeface="Calibri"/>
              </a:rPr>
              <a:t>추론속도를</a:t>
            </a:r>
            <a:r>
              <a:rPr lang="ko-KR" altLang="en-US" sz="900" dirty="0">
                <a:solidFill>
                  <a:schemeClr val="dk1"/>
                </a:solidFill>
                <a:latin typeface="Calibri"/>
                <a:ea typeface="Calibri"/>
                <a:cs typeface="Calibri"/>
                <a:sym typeface="Calibri"/>
              </a:rPr>
              <a:t> 최적화 하여 </a:t>
            </a:r>
            <a:r>
              <a:rPr lang="ko-KR" altLang="en-US" sz="900" dirty="0" err="1">
                <a:solidFill>
                  <a:schemeClr val="dk1"/>
                </a:solidFill>
                <a:latin typeface="Calibri"/>
                <a:ea typeface="Calibri"/>
                <a:cs typeface="Calibri"/>
                <a:sym typeface="Calibri"/>
              </a:rPr>
              <a:t>포팅</a:t>
            </a:r>
            <a:endParaRPr lang="en-US" altLang="ko-KR" sz="900" dirty="0">
              <a:solidFill>
                <a:schemeClr val="dk1"/>
              </a:solidFill>
              <a:latin typeface="Calibri"/>
              <a:ea typeface="Calibri"/>
              <a:cs typeface="Calibri"/>
              <a:sym typeface="Calibri"/>
            </a:endParaRPr>
          </a:p>
        </p:txBody>
      </p:sp>
      <p:pic>
        <p:nvPicPr>
          <p:cNvPr id="5" name="그림 4"/>
          <p:cNvPicPr>
            <a:picLocks noChangeAspect="1"/>
          </p:cNvPicPr>
          <p:nvPr/>
        </p:nvPicPr>
        <p:blipFill>
          <a:blip r:embed="rId4"/>
          <a:stretch>
            <a:fillRect/>
          </a:stretch>
        </p:blipFill>
        <p:spPr>
          <a:xfrm>
            <a:off x="9753126" y="5121907"/>
            <a:ext cx="2714245" cy="2289905"/>
          </a:xfrm>
          <a:prstGeom prst="rect">
            <a:avLst/>
          </a:prstGeom>
        </p:spPr>
      </p:pic>
      <p:pic>
        <p:nvPicPr>
          <p:cNvPr id="6" name="그림 5"/>
          <p:cNvPicPr>
            <a:picLocks noChangeAspect="1"/>
          </p:cNvPicPr>
          <p:nvPr/>
        </p:nvPicPr>
        <p:blipFill>
          <a:blip r:embed="rId5"/>
          <a:stretch>
            <a:fillRect/>
          </a:stretch>
        </p:blipFill>
        <p:spPr>
          <a:xfrm>
            <a:off x="1697591" y="4601818"/>
            <a:ext cx="5616833" cy="2631397"/>
          </a:xfrm>
          <a:prstGeom prst="rect">
            <a:avLst/>
          </a:prstGeom>
        </p:spPr>
      </p:pic>
      <p:pic>
        <p:nvPicPr>
          <p:cNvPr id="28" name="_x249200448">
            <a:extLst>
              <a:ext uri="{FF2B5EF4-FFF2-40B4-BE49-F238E27FC236}">
                <a16:creationId xmlns:a16="http://schemas.microsoft.com/office/drawing/2014/main" id="{BCEB34D6-A2A5-14DB-8063-90BE6130FE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0499" y="3477804"/>
            <a:ext cx="2957545" cy="1500078"/>
          </a:xfrm>
          <a:prstGeom prst="rect">
            <a:avLst/>
          </a:prstGeom>
          <a:noFill/>
          <a:extLst>
            <a:ext uri="{909E8E84-426E-40DD-AFC4-6F175D3DCCD1}">
              <a14:hiddenFill xmlns:a14="http://schemas.microsoft.com/office/drawing/2010/main">
                <a:solidFill>
                  <a:srgbClr val="FFFFFF"/>
                </a:solidFill>
              </a14:hiddenFill>
            </a:ext>
          </a:extLst>
        </p:spPr>
      </p:pic>
      <p:pic>
        <p:nvPicPr>
          <p:cNvPr id="29" name="그림 28">
            <a:extLst>
              <a:ext uri="{FF2B5EF4-FFF2-40B4-BE49-F238E27FC236}">
                <a16:creationId xmlns:a16="http://schemas.microsoft.com/office/drawing/2014/main" id="{5856A481-41A5-8BD0-C7F3-201C06196879}"/>
              </a:ext>
            </a:extLst>
          </p:cNvPr>
          <p:cNvPicPr>
            <a:picLocks noChangeAspect="1"/>
          </p:cNvPicPr>
          <p:nvPr/>
        </p:nvPicPr>
        <p:blipFill>
          <a:blip r:embed="rId7"/>
          <a:stretch>
            <a:fillRect/>
          </a:stretch>
        </p:blipFill>
        <p:spPr>
          <a:xfrm>
            <a:off x="9831384" y="3261962"/>
            <a:ext cx="6038850" cy="537846"/>
          </a:xfrm>
          <a:prstGeom prst="rect">
            <a:avLst/>
          </a:prstGeom>
        </p:spPr>
      </p:pic>
      <p:pic>
        <p:nvPicPr>
          <p:cNvPr id="30" name="그림 29">
            <a:extLst>
              <a:ext uri="{FF2B5EF4-FFF2-40B4-BE49-F238E27FC236}">
                <a16:creationId xmlns:a16="http://schemas.microsoft.com/office/drawing/2014/main" id="{D79590C6-723C-198F-11DD-B413898B19D1}"/>
              </a:ext>
            </a:extLst>
          </p:cNvPr>
          <p:cNvPicPr>
            <a:picLocks noChangeAspect="1"/>
          </p:cNvPicPr>
          <p:nvPr/>
        </p:nvPicPr>
        <p:blipFill>
          <a:blip r:embed="rId8"/>
          <a:stretch>
            <a:fillRect/>
          </a:stretch>
        </p:blipFill>
        <p:spPr>
          <a:xfrm>
            <a:off x="13641415" y="2062477"/>
            <a:ext cx="2581275" cy="1138798"/>
          </a:xfrm>
          <a:prstGeom prst="rect">
            <a:avLst/>
          </a:prstGeom>
        </p:spPr>
      </p:pic>
      <p:pic>
        <p:nvPicPr>
          <p:cNvPr id="31" name="그림 30">
            <a:extLst>
              <a:ext uri="{FF2B5EF4-FFF2-40B4-BE49-F238E27FC236}">
                <a16:creationId xmlns:a16="http://schemas.microsoft.com/office/drawing/2014/main" id="{51758A0B-CE81-B783-9708-8108AA2CD58D}"/>
              </a:ext>
            </a:extLst>
          </p:cNvPr>
          <p:cNvPicPr>
            <a:picLocks noChangeAspect="1"/>
          </p:cNvPicPr>
          <p:nvPr/>
        </p:nvPicPr>
        <p:blipFill>
          <a:blip r:embed="rId9"/>
          <a:stretch>
            <a:fillRect/>
          </a:stretch>
        </p:blipFill>
        <p:spPr>
          <a:xfrm>
            <a:off x="9753126" y="2305951"/>
            <a:ext cx="3790950" cy="734706"/>
          </a:xfrm>
          <a:prstGeom prst="rect">
            <a:avLst/>
          </a:prstGeom>
        </p:spPr>
      </p:pic>
      <p:pic>
        <p:nvPicPr>
          <p:cNvPr id="8" name="그림 7"/>
          <p:cNvPicPr>
            <a:picLocks noChangeAspect="1"/>
          </p:cNvPicPr>
          <p:nvPr/>
        </p:nvPicPr>
        <p:blipFill>
          <a:blip r:embed="rId10"/>
          <a:stretch>
            <a:fillRect/>
          </a:stretch>
        </p:blipFill>
        <p:spPr>
          <a:xfrm>
            <a:off x="13154770" y="5161985"/>
            <a:ext cx="2970245" cy="2247753"/>
          </a:xfrm>
          <a:prstGeom prst="rect">
            <a:avLst/>
          </a:prstGeom>
        </p:spPr>
      </p:pic>
    </p:spTree>
    <p:extLst>
      <p:ext uri="{BB962C8B-B14F-4D97-AF65-F5344CB8AC3E}">
        <p14:creationId xmlns:p14="http://schemas.microsoft.com/office/powerpoint/2010/main" val="4182464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a:stretch/>
        </p:blipFill>
        <p:spPr>
          <a:xfrm>
            <a:off x="5906362" y="5653763"/>
            <a:ext cx="2194678" cy="1303251"/>
          </a:xfrm>
          <a:prstGeom prst="rect">
            <a:avLst/>
          </a:prstGeom>
          <a:noFill/>
          <a:ln>
            <a:noFill/>
          </a:ln>
        </p:spPr>
      </p:pic>
      <p:sp>
        <p:nvSpPr>
          <p:cNvPr id="89" name="Google Shape;89;p13"/>
          <p:cNvSpPr txBox="1"/>
          <p:nvPr/>
        </p:nvSpPr>
        <p:spPr>
          <a:xfrm>
            <a:off x="487363" y="261676"/>
            <a:ext cx="16238537" cy="518283"/>
          </a:xfrm>
          <a:prstGeom prst="rect">
            <a:avLst/>
          </a:prstGeom>
          <a:solidFill>
            <a:srgbClr val="0F395B"/>
          </a:solidFill>
          <a:ln w="9525" cap="flat" cmpd="sng">
            <a:solidFill>
              <a:srgbClr val="103B5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400" b="1">
              <a:solidFill>
                <a:schemeClr val="lt1"/>
              </a:solidFill>
              <a:latin typeface="Calibri"/>
              <a:ea typeface="Calibri"/>
              <a:cs typeface="Calibri"/>
              <a:sym typeface="Calibri"/>
            </a:endParaRPr>
          </a:p>
        </p:txBody>
      </p:sp>
      <p:sp>
        <p:nvSpPr>
          <p:cNvPr id="90" name="Google Shape;90;p13"/>
          <p:cNvSpPr/>
          <p:nvPr/>
        </p:nvSpPr>
        <p:spPr>
          <a:xfrm>
            <a:off x="869112" y="1083602"/>
            <a:ext cx="7384190" cy="395925"/>
          </a:xfrm>
          <a:prstGeom prst="roundRect">
            <a:avLst>
              <a:gd name="adj" fmla="val 7143"/>
            </a:avLst>
          </a:prstGeom>
          <a:solidFill>
            <a:srgbClr val="D0CECE">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1" name="Google Shape;91;p13"/>
          <p:cNvGrpSpPr/>
          <p:nvPr/>
        </p:nvGrpSpPr>
        <p:grpSpPr>
          <a:xfrm>
            <a:off x="0" y="0"/>
            <a:ext cx="17610138" cy="9906004"/>
            <a:chOff x="-10796913" y="237463"/>
            <a:chExt cx="11867221" cy="6572030"/>
          </a:xfrm>
        </p:grpSpPr>
        <p:sp>
          <p:nvSpPr>
            <p:cNvPr id="92" name="Google Shape;92;p13"/>
            <p:cNvSpPr/>
            <p:nvPr/>
          </p:nvSpPr>
          <p:spPr>
            <a:xfrm rot="10800000" flipH="1">
              <a:off x="-10796913" y="237463"/>
              <a:ext cx="11087179" cy="1300855"/>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3" name="Google Shape;93;p13"/>
            <p:cNvSpPr/>
            <p:nvPr/>
          </p:nvSpPr>
          <p:spPr>
            <a:xfrm rot="10800000" flipH="1">
              <a:off x="-10796797" y="237464"/>
              <a:ext cx="5336657" cy="22192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4" name="Google Shape;94;p13"/>
            <p:cNvSpPr/>
            <p:nvPr/>
          </p:nvSpPr>
          <p:spPr>
            <a:xfrm flipH="1">
              <a:off x="-10796795" y="5771379"/>
              <a:ext cx="11867103" cy="10381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95" name="Google Shape;95;p13"/>
            <p:cNvSpPr/>
            <p:nvPr/>
          </p:nvSpPr>
          <p:spPr>
            <a:xfrm flipH="1">
              <a:off x="-2539137" y="4856978"/>
              <a:ext cx="3609444" cy="19525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grpSp>
      <p:sp>
        <p:nvSpPr>
          <p:cNvPr id="96" name="Google Shape;96;p13"/>
          <p:cNvSpPr/>
          <p:nvPr/>
        </p:nvSpPr>
        <p:spPr>
          <a:xfrm>
            <a:off x="982853" y="1151647"/>
            <a:ext cx="6404551" cy="283487"/>
          </a:xfrm>
          <a:prstGeom prst="roundRect">
            <a:avLst>
              <a:gd name="adj" fmla="val 6011"/>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1100">
                <a:solidFill>
                  <a:schemeClr val="lt1"/>
                </a:solidFill>
                <a:latin typeface="Calibri"/>
                <a:ea typeface="Calibri"/>
                <a:cs typeface="Calibri"/>
                <a:sym typeface="Calibri"/>
              </a:rPr>
              <a:t>💡 </a:t>
            </a:r>
            <a:r>
              <a:rPr lang="ko-KR" sz="1100" b="1">
                <a:solidFill>
                  <a:schemeClr val="dk1"/>
                </a:solidFill>
                <a:latin typeface="Calibri"/>
                <a:ea typeface="Calibri"/>
                <a:cs typeface="Calibri"/>
                <a:sym typeface="Calibri"/>
              </a:rPr>
              <a:t>프로젝트 요약 : 가상화폐의 거래소 간 가격 차이를 이용하여 자동화된 차익거래 시스템 개발</a:t>
            </a:r>
            <a:endParaRPr sz="1100">
              <a:solidFill>
                <a:schemeClr val="dk1"/>
              </a:solidFill>
              <a:latin typeface="Calibri"/>
              <a:ea typeface="Calibri"/>
              <a:cs typeface="Calibri"/>
              <a:sym typeface="Calibri"/>
            </a:endParaRPr>
          </a:p>
        </p:txBody>
      </p:sp>
      <p:sp>
        <p:nvSpPr>
          <p:cNvPr id="97" name="Google Shape;97;p13"/>
          <p:cNvSpPr txBox="1"/>
          <p:nvPr/>
        </p:nvSpPr>
        <p:spPr>
          <a:xfrm>
            <a:off x="812800" y="7366000"/>
            <a:ext cx="7815399" cy="146399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dirty="0">
                <a:solidFill>
                  <a:schemeClr val="dk1"/>
                </a:solidFill>
                <a:latin typeface="Calibri"/>
                <a:ea typeface="Calibri"/>
                <a:cs typeface="Calibri"/>
                <a:sym typeface="Calibri"/>
              </a:rPr>
              <a:t>프로젝트 설명</a:t>
            </a:r>
            <a:endParaRPr sz="1051" b="1"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dirty="0">
                <a:solidFill>
                  <a:schemeClr val="dk1"/>
                </a:solidFill>
                <a:latin typeface="Calibri"/>
                <a:ea typeface="Calibri"/>
                <a:cs typeface="Calibri"/>
                <a:sym typeface="Calibri"/>
              </a:rPr>
              <a:t>해당 프로젝트는 </a:t>
            </a:r>
            <a:r>
              <a:rPr lang="ko-KR" sz="1000" dirty="0" err="1">
                <a:solidFill>
                  <a:schemeClr val="dk1"/>
                </a:solidFill>
                <a:latin typeface="Calibri"/>
                <a:ea typeface="Calibri"/>
                <a:cs typeface="Calibri"/>
                <a:sym typeface="Calibri"/>
              </a:rPr>
              <a:t>가상화폐</a:t>
            </a:r>
            <a:r>
              <a:rPr lang="ko-KR" sz="1000" dirty="0">
                <a:solidFill>
                  <a:schemeClr val="dk1"/>
                </a:solidFill>
                <a:latin typeface="Calibri"/>
                <a:ea typeface="Calibri"/>
                <a:cs typeface="Calibri"/>
                <a:sym typeface="Calibri"/>
              </a:rPr>
              <a:t> 시장의 특성상 거래소 간 가격 차이가 발생하며, 이를 활용해 통계적 </a:t>
            </a:r>
            <a:r>
              <a:rPr lang="ko-KR" sz="1000" dirty="0" err="1">
                <a:solidFill>
                  <a:schemeClr val="dk1"/>
                </a:solidFill>
                <a:latin typeface="Calibri"/>
                <a:ea typeface="Calibri"/>
                <a:cs typeface="Calibri"/>
                <a:sym typeface="Calibri"/>
              </a:rPr>
              <a:t>or</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무위험</a:t>
            </a:r>
            <a:r>
              <a:rPr lang="ko-KR" sz="1000" dirty="0">
                <a:solidFill>
                  <a:schemeClr val="dk1"/>
                </a:solidFill>
                <a:latin typeface="Calibri"/>
                <a:ea typeface="Calibri"/>
                <a:cs typeface="Calibri"/>
                <a:sym typeface="Calibri"/>
              </a:rPr>
              <a:t> 차익거래를	 실현할 수 있는 가능성에서 출발했습니다. 특히 국내와 해외 거래소 간 발생하는 "김치 </a:t>
            </a:r>
            <a:r>
              <a:rPr lang="ko-KR" sz="1000" dirty="0" err="1">
                <a:solidFill>
                  <a:schemeClr val="dk1"/>
                </a:solidFill>
                <a:latin typeface="Calibri"/>
                <a:ea typeface="Calibri"/>
                <a:cs typeface="Calibri"/>
                <a:sym typeface="Calibri"/>
              </a:rPr>
              <a:t>프리미엄"은</a:t>
            </a:r>
            <a:r>
              <a:rPr lang="ko-KR" sz="1000" dirty="0">
                <a:solidFill>
                  <a:schemeClr val="dk1"/>
                </a:solidFill>
                <a:latin typeface="Calibri"/>
                <a:ea typeface="Calibri"/>
                <a:cs typeface="Calibri"/>
                <a:sym typeface="Calibri"/>
              </a:rPr>
              <a:t> 한국 </a:t>
            </a:r>
            <a:r>
              <a:rPr lang="ko-KR" sz="1000" dirty="0" err="1">
                <a:solidFill>
                  <a:schemeClr val="dk1"/>
                </a:solidFill>
                <a:latin typeface="Calibri"/>
                <a:ea typeface="Calibri"/>
                <a:cs typeface="Calibri"/>
                <a:sym typeface="Calibri"/>
              </a:rPr>
              <a:t>가상화폐</a:t>
            </a:r>
            <a:r>
              <a:rPr lang="ko-KR" sz="1000" dirty="0">
                <a:solidFill>
                  <a:schemeClr val="dk1"/>
                </a:solidFill>
                <a:latin typeface="Calibri"/>
                <a:ea typeface="Calibri"/>
                <a:cs typeface="Calibri"/>
                <a:sym typeface="Calibri"/>
              </a:rPr>
              <a:t> 시장에서 국제 시장 대비 가격이 높게 형성되는 현상으로, 차익거래 기회를 제공하는 주요 요인입니다. 이에 </a:t>
            </a:r>
            <a:r>
              <a:rPr lang="ko-KR" sz="1000" dirty="0" err="1">
                <a:solidFill>
                  <a:schemeClr val="dk1"/>
                </a:solidFill>
                <a:latin typeface="Calibri"/>
                <a:ea typeface="Calibri"/>
                <a:cs typeface="Calibri"/>
                <a:sym typeface="Calibri"/>
              </a:rPr>
              <a:t>가상화폐</a:t>
            </a:r>
            <a:r>
              <a:rPr lang="ko-KR" sz="1000" dirty="0">
                <a:solidFill>
                  <a:schemeClr val="dk1"/>
                </a:solidFill>
                <a:latin typeface="Calibri"/>
                <a:ea typeface="Calibri"/>
                <a:cs typeface="Calibri"/>
                <a:sym typeface="Calibri"/>
              </a:rPr>
              <a:t> 시장에서 차익거래의 효율성과 안정성을 증대시키기 위해 자동화 된 시스템과 데이터 분석으로 최적화된 수치들로 하여금 시장의 비효율성이 발생할 경우 안정적인 수익 창출 기회를 제공합니다.</a:t>
            </a:r>
            <a:endParaRPr sz="1000" dirty="0">
              <a:solidFill>
                <a:schemeClr val="dk1"/>
              </a:solidFill>
              <a:latin typeface="Calibri"/>
              <a:ea typeface="Calibri"/>
              <a:cs typeface="Calibri"/>
              <a:sym typeface="Calibri"/>
            </a:endParaRPr>
          </a:p>
        </p:txBody>
      </p:sp>
      <p:sp>
        <p:nvSpPr>
          <p:cNvPr id="98" name="Google Shape;98;p13"/>
          <p:cNvSpPr txBox="1"/>
          <p:nvPr/>
        </p:nvSpPr>
        <p:spPr>
          <a:xfrm>
            <a:off x="9127310" y="968150"/>
            <a:ext cx="7598590" cy="76681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ko-KR" sz="1051" b="1">
                <a:solidFill>
                  <a:schemeClr val="dk1"/>
                </a:solidFill>
                <a:latin typeface="Calibri"/>
                <a:ea typeface="Calibri"/>
                <a:cs typeface="Calibri"/>
                <a:sym typeface="Calibri"/>
              </a:rPr>
              <a:t>개발 관련 설명</a:t>
            </a:r>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두 개의 주요 거래소에서 현/선물의 호가 데이터를 실시간으로 수집하여 거래수수료 대비 최적 수익의 가상화폐를 찾는 알고리즘을 개발하였습니다. (가격 변동의 리스크는 Hedge로 해결함)</a:t>
            </a:r>
            <a:endParaRPr sz="1000">
              <a:solidFill>
                <a:schemeClr val="dk1"/>
              </a:solidFill>
              <a:latin typeface="Calibri"/>
              <a:ea typeface="Calibri"/>
              <a:cs typeface="Calibri"/>
              <a:sym typeface="Calibri"/>
            </a:endParaRPr>
          </a:p>
        </p:txBody>
      </p:sp>
      <p:sp>
        <p:nvSpPr>
          <p:cNvPr id="99" name="Google Shape;99;p13"/>
          <p:cNvSpPr txBox="1"/>
          <p:nvPr/>
        </p:nvSpPr>
        <p:spPr>
          <a:xfrm>
            <a:off x="579844" y="261675"/>
            <a:ext cx="8644842" cy="5182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200" b="1">
                <a:solidFill>
                  <a:schemeClr val="lt1"/>
                </a:solidFill>
                <a:latin typeface="Calibri"/>
                <a:ea typeface="Calibri"/>
                <a:cs typeface="Calibri"/>
                <a:sym typeface="Calibri"/>
              </a:rPr>
              <a:t>프로젝트명</a:t>
            </a:r>
            <a:endParaRPr sz="1200" b="1">
              <a:solidFill>
                <a:schemeClr val="lt1"/>
              </a:solidFill>
              <a:latin typeface="Calibri"/>
              <a:ea typeface="Calibri"/>
              <a:cs typeface="Calibri"/>
              <a:sym typeface="Calibri"/>
            </a:endParaRPr>
          </a:p>
          <a:p>
            <a:pPr marL="285744" marR="0" lvl="0" indent="-285744" algn="l" rtl="0">
              <a:lnSpc>
                <a:spcPct val="150000"/>
              </a:lnSpc>
              <a:spcBef>
                <a:spcPts val="0"/>
              </a:spcBef>
              <a:spcAft>
                <a:spcPts val="0"/>
              </a:spcAft>
              <a:buClr>
                <a:schemeClr val="lt1"/>
              </a:buClr>
              <a:buSzPts val="1200"/>
              <a:buFont typeface="Noto Sans Symbols"/>
              <a:buChar char="❑"/>
            </a:pPr>
            <a:r>
              <a:rPr lang="ko-KR" sz="1200" b="1">
                <a:solidFill>
                  <a:schemeClr val="lt1"/>
                </a:solidFill>
                <a:latin typeface="Calibri"/>
                <a:ea typeface="Calibri"/>
                <a:cs typeface="Calibri"/>
                <a:sym typeface="Calibri"/>
              </a:rPr>
              <a:t>Hedging을 사용한 가상화폐 무위험 차익거래 프로그램 저작권 등록 및 수익 실현</a:t>
            </a:r>
            <a:endParaRPr/>
          </a:p>
        </p:txBody>
      </p:sp>
      <p:sp>
        <p:nvSpPr>
          <p:cNvPr id="100" name="Google Shape;100;p13"/>
          <p:cNvSpPr txBox="1"/>
          <p:nvPr/>
        </p:nvSpPr>
        <p:spPr>
          <a:xfrm>
            <a:off x="9309100" y="7898646"/>
            <a:ext cx="7416800" cy="103870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100" b="1" dirty="0">
                <a:solidFill>
                  <a:schemeClr val="dk1"/>
                </a:solidFill>
                <a:latin typeface="Calibri"/>
                <a:ea typeface="Calibri"/>
                <a:cs typeface="Calibri"/>
                <a:sym typeface="Calibri"/>
              </a:rPr>
              <a:t>주요 성과</a:t>
            </a:r>
            <a:endParaRPr sz="1100" b="1"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dirty="0" err="1">
                <a:solidFill>
                  <a:schemeClr val="dk1"/>
                </a:solidFill>
                <a:latin typeface="Calibri"/>
                <a:ea typeface="Calibri"/>
                <a:cs typeface="Calibri"/>
                <a:sym typeface="Calibri"/>
              </a:rPr>
              <a:t>무위험</a:t>
            </a:r>
            <a:r>
              <a:rPr lang="ko-KR" sz="1000" dirty="0">
                <a:solidFill>
                  <a:schemeClr val="dk1"/>
                </a:solidFill>
                <a:latin typeface="Calibri"/>
                <a:ea typeface="Calibri"/>
                <a:cs typeface="Calibri"/>
                <a:sym typeface="Calibri"/>
              </a:rPr>
              <a:t> 차익거래 자동 매매 프로그램 개발 및 개발 프로그램에 대한 </a:t>
            </a:r>
            <a:r>
              <a:rPr lang="ko-KR" sz="1000" b="1" dirty="0">
                <a:solidFill>
                  <a:schemeClr val="dk1"/>
                </a:solidFill>
                <a:latin typeface="Calibri"/>
                <a:ea typeface="Calibri"/>
                <a:cs typeface="Calibri"/>
                <a:sym typeface="Calibri"/>
              </a:rPr>
              <a:t>저작권</a:t>
            </a:r>
            <a:r>
              <a:rPr lang="ko-KR" sz="1000" dirty="0">
                <a:solidFill>
                  <a:schemeClr val="dk1"/>
                </a:solidFill>
                <a:latin typeface="Calibri"/>
                <a:ea typeface="Calibri"/>
                <a:cs typeface="Calibri"/>
                <a:sym typeface="Calibri"/>
              </a:rPr>
              <a:t> 등록 (등록번호 : C-2021-040732)</a:t>
            </a:r>
            <a:endParaRPr sz="1600" dirty="0"/>
          </a:p>
          <a:p>
            <a:pPr marL="0" marR="0" lvl="0" indent="0" algn="just" rtl="0">
              <a:lnSpc>
                <a:spcPct val="150000"/>
              </a:lnSpc>
              <a:spcBef>
                <a:spcPts val="0"/>
              </a:spcBef>
              <a:spcAft>
                <a:spcPts val="0"/>
              </a:spcAft>
              <a:buNone/>
            </a:pPr>
            <a:r>
              <a:rPr lang="ko-KR" sz="1000" dirty="0" err="1">
                <a:solidFill>
                  <a:schemeClr val="dk1"/>
                </a:solidFill>
                <a:latin typeface="Calibri"/>
                <a:ea typeface="Calibri"/>
                <a:cs typeface="Calibri"/>
                <a:sym typeface="Calibri"/>
              </a:rPr>
              <a:t>지능정보</a:t>
            </a:r>
            <a:r>
              <a:rPr lang="ko-KR" sz="1000" dirty="0">
                <a:solidFill>
                  <a:schemeClr val="dk1"/>
                </a:solidFill>
                <a:latin typeface="Calibri"/>
                <a:ea typeface="Calibri"/>
                <a:cs typeface="Calibri"/>
                <a:sym typeface="Calibri"/>
              </a:rPr>
              <a:t> 시스템 학회 논문 발표 및 김치프리미엄과 환율 변동 예측을 활용한 </a:t>
            </a:r>
            <a:r>
              <a:rPr lang="ko-KR" sz="1000" dirty="0" err="1">
                <a:solidFill>
                  <a:schemeClr val="dk1"/>
                </a:solidFill>
                <a:latin typeface="Calibri"/>
                <a:ea typeface="Calibri"/>
                <a:cs typeface="Calibri"/>
                <a:sym typeface="Calibri"/>
              </a:rPr>
              <a:t>가상화폐의</a:t>
            </a:r>
            <a:r>
              <a:rPr lang="ko-KR" sz="1000" dirty="0">
                <a:solidFill>
                  <a:schemeClr val="dk1"/>
                </a:solidFill>
                <a:latin typeface="Calibri"/>
                <a:ea typeface="Calibri"/>
                <a:cs typeface="Calibri"/>
                <a:sym typeface="Calibri"/>
              </a:rPr>
              <a:t> 통계적 차익거래 연구</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논문 등재</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한국산학기술학회논문지</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vol</a:t>
            </a:r>
            <a:r>
              <a:rPr lang="ko-KR" sz="1000" dirty="0">
                <a:solidFill>
                  <a:schemeClr val="dk1"/>
                </a:solidFill>
                <a:latin typeface="Calibri"/>
                <a:ea typeface="Calibri"/>
                <a:cs typeface="Calibri"/>
                <a:sym typeface="Calibri"/>
              </a:rPr>
              <a:t>. 24, </a:t>
            </a:r>
            <a:r>
              <a:rPr lang="ko-KR" sz="1000" dirty="0" err="1">
                <a:solidFill>
                  <a:schemeClr val="dk1"/>
                </a:solidFill>
                <a:latin typeface="Calibri"/>
                <a:ea typeface="Calibri"/>
                <a:cs typeface="Calibri"/>
                <a:sym typeface="Calibri"/>
              </a:rPr>
              <a:t>no</a:t>
            </a:r>
            <a:r>
              <a:rPr lang="ko-KR" sz="1000" dirty="0">
                <a:solidFill>
                  <a:schemeClr val="dk1"/>
                </a:solidFill>
                <a:latin typeface="Calibri"/>
                <a:ea typeface="Calibri"/>
                <a:cs typeface="Calibri"/>
                <a:sym typeface="Calibri"/>
              </a:rPr>
              <a:t>. 10, </a:t>
            </a:r>
            <a:r>
              <a:rPr lang="ko-KR" sz="1000" dirty="0" err="1">
                <a:solidFill>
                  <a:schemeClr val="dk1"/>
                </a:solidFill>
                <a:latin typeface="Calibri"/>
                <a:ea typeface="Calibri"/>
                <a:cs typeface="Calibri"/>
                <a:sym typeface="Calibri"/>
              </a:rPr>
              <a:t>pp</a:t>
            </a:r>
            <a:r>
              <a:rPr lang="ko-KR" sz="1000" dirty="0">
                <a:solidFill>
                  <a:schemeClr val="dk1"/>
                </a:solidFill>
                <a:latin typeface="Calibri"/>
                <a:ea typeface="Calibri"/>
                <a:cs typeface="Calibri"/>
                <a:sym typeface="Calibri"/>
              </a:rPr>
              <a:t>. 354-363, 2023.))</a:t>
            </a:r>
            <a:endParaRPr sz="1600" dirty="0"/>
          </a:p>
        </p:txBody>
      </p:sp>
      <p:sp>
        <p:nvSpPr>
          <p:cNvPr id="101" name="Google Shape;101;p13"/>
          <p:cNvSpPr txBox="1"/>
          <p:nvPr/>
        </p:nvSpPr>
        <p:spPr>
          <a:xfrm>
            <a:off x="9127310" y="4324840"/>
            <a:ext cx="7598590" cy="75507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이후, 데이터 분석을 통해 프리미엄과 환율에 대한 내적 타당도를 저해하는 통계적 회귀 현상을 파악하였고, 선형회귀 방정식을 수립해 통계적 차익거래를 실행합니다. </a:t>
            </a:r>
            <a:endParaRPr sz="1000">
              <a:solidFill>
                <a:schemeClr val="dk1"/>
              </a:solidFill>
              <a:latin typeface="Calibri"/>
              <a:ea typeface="Calibri"/>
              <a:cs typeface="Calibri"/>
              <a:sym typeface="Calibri"/>
            </a:endParaRPr>
          </a:p>
        </p:txBody>
      </p:sp>
      <p:sp>
        <p:nvSpPr>
          <p:cNvPr id="102" name="Google Shape;102;p13"/>
          <p:cNvSpPr txBox="1"/>
          <p:nvPr/>
        </p:nvSpPr>
        <p:spPr>
          <a:xfrm>
            <a:off x="4931578" y="1495636"/>
            <a:ext cx="3535454" cy="195068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dirty="0">
                <a:solidFill>
                  <a:schemeClr val="dk1"/>
                </a:solidFill>
                <a:latin typeface="Calibri"/>
                <a:ea typeface="Calibri"/>
                <a:cs typeface="Calibri"/>
                <a:sym typeface="Calibri"/>
              </a:rPr>
              <a:t>[프로젝트 세부 사항]</a:t>
            </a:r>
            <a:endParaRPr sz="1051" b="1"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프로젝트 기간 :</a:t>
            </a:r>
            <a:r>
              <a:rPr lang="ko-KR" sz="1000" dirty="0">
                <a:solidFill>
                  <a:schemeClr val="dk1"/>
                </a:solidFill>
                <a:latin typeface="Calibri"/>
                <a:ea typeface="Calibri"/>
                <a:cs typeface="Calibri"/>
                <a:sym typeface="Calibri"/>
              </a:rPr>
              <a:t> 2021.02.01 ~ 2023.06.30</a:t>
            </a:r>
            <a:endParaRPr dirty="0"/>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개발 인원 :</a:t>
            </a:r>
            <a:r>
              <a:rPr lang="ko-KR" sz="1000" dirty="0">
                <a:solidFill>
                  <a:schemeClr val="dk1"/>
                </a:solidFill>
                <a:latin typeface="Calibri"/>
                <a:ea typeface="Calibri"/>
                <a:cs typeface="Calibri"/>
                <a:sym typeface="Calibri"/>
              </a:rPr>
              <a:t> 1명</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연계/주관기업 : </a:t>
            </a:r>
            <a:r>
              <a:rPr lang="ko-KR" sz="1000" dirty="0">
                <a:solidFill>
                  <a:schemeClr val="dk1"/>
                </a:solidFill>
                <a:latin typeface="Calibri"/>
                <a:ea typeface="Calibri"/>
                <a:cs typeface="Calibri"/>
                <a:sym typeface="Calibri"/>
              </a:rPr>
              <a:t>개인 연구 프로젝트</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담당 업무 : </a:t>
            </a:r>
            <a:r>
              <a:rPr lang="ko-KR" sz="1000" dirty="0">
                <a:solidFill>
                  <a:schemeClr val="dk1"/>
                </a:solidFill>
                <a:latin typeface="Calibri"/>
                <a:ea typeface="Calibri"/>
                <a:cs typeface="Calibri"/>
                <a:sym typeface="Calibri"/>
              </a:rPr>
              <a:t>프로그램 구상 및 개발, 유지보수</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기술 스택 : </a:t>
            </a:r>
            <a:r>
              <a:rPr lang="ko-KR" sz="1000" dirty="0" err="1">
                <a:solidFill>
                  <a:schemeClr val="dk1"/>
                </a:solidFill>
                <a:latin typeface="Calibri"/>
                <a:ea typeface="Calibri"/>
                <a:cs typeface="Calibri"/>
                <a:sym typeface="Calibri"/>
              </a:rPr>
              <a:t>Python</a:t>
            </a:r>
            <a:r>
              <a:rPr lang="ko-KR" sz="1000" dirty="0">
                <a:solidFill>
                  <a:schemeClr val="dk1"/>
                </a:solidFill>
                <a:latin typeface="Calibri"/>
                <a:ea typeface="Calibri"/>
                <a:cs typeface="Calibri"/>
                <a:sym typeface="Calibri"/>
              </a:rPr>
              <a:t> , </a:t>
            </a:r>
            <a:r>
              <a:rPr lang="ko-KR" sz="1000" dirty="0" err="1">
                <a:solidFill>
                  <a:schemeClr val="dk1"/>
                </a:solidFill>
                <a:latin typeface="Calibri"/>
                <a:ea typeface="Calibri"/>
                <a:cs typeface="Calibri"/>
                <a:sym typeface="Calibri"/>
              </a:rPr>
              <a:t>Rest</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api</a:t>
            </a:r>
            <a:r>
              <a:rPr lang="ko-KR" sz="1000" dirty="0">
                <a:solidFill>
                  <a:schemeClr val="dk1"/>
                </a:solidFill>
                <a:latin typeface="Calibri"/>
                <a:ea typeface="Calibri"/>
                <a:cs typeface="Calibri"/>
                <a:sym typeface="Calibri"/>
              </a:rPr>
              <a:t> , </a:t>
            </a:r>
            <a:r>
              <a:rPr lang="ko-KR" sz="1000" dirty="0" err="1">
                <a:solidFill>
                  <a:schemeClr val="dk1"/>
                </a:solidFill>
                <a:latin typeface="Calibri"/>
                <a:ea typeface="Calibri"/>
                <a:cs typeface="Calibri"/>
                <a:sym typeface="Calibri"/>
              </a:rPr>
              <a:t>Websoket</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Fastapi</a:t>
            </a:r>
            <a:endParaRP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오픈소스 &amp; 라이브러리 :</a:t>
            </a:r>
            <a:r>
              <a:rPr lang="ko-KR" sz="1000" dirty="0" err="1">
                <a:solidFill>
                  <a:schemeClr val="dk1"/>
                </a:solidFill>
                <a:latin typeface="Calibri"/>
                <a:ea typeface="Calibri"/>
                <a:cs typeface="Calibri"/>
                <a:sym typeface="Calibri"/>
              </a:rPr>
              <a:t>pytorch</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TensorFlow</a:t>
            </a:r>
            <a:r>
              <a:rPr lang="ko-KR" sz="1000" dirty="0">
                <a:solidFill>
                  <a:schemeClr val="dk1"/>
                </a:solidFill>
                <a:latin typeface="Calibri"/>
                <a:ea typeface="Calibri"/>
                <a:cs typeface="Calibri"/>
                <a:sym typeface="Calibri"/>
              </a:rPr>
              <a:t>/</a:t>
            </a:r>
            <a:r>
              <a:rPr lang="ko-KR" sz="1000" dirty="0" err="1">
                <a:solidFill>
                  <a:schemeClr val="dk1"/>
                </a:solidFill>
                <a:latin typeface="Calibri"/>
                <a:ea typeface="Calibri"/>
                <a:cs typeface="Calibri"/>
                <a:sym typeface="Calibri"/>
              </a:rPr>
              <a:t>Keras</a:t>
            </a:r>
            <a:r>
              <a:rPr lang="ko-KR" sz="1000" dirty="0">
                <a:solidFill>
                  <a:schemeClr val="dk1"/>
                </a:solidFill>
                <a:latin typeface="Calibri"/>
                <a:ea typeface="Calibri"/>
                <a:cs typeface="Calibri"/>
                <a:sym typeface="Calibri"/>
              </a:rPr>
              <a:t>, </a:t>
            </a:r>
            <a:endParaRPr lang="en-US" altLang="ko-KR" sz="10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US" alt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hashlib</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math</a:t>
            </a:r>
            <a:r>
              <a:rPr lang="ko-KR" sz="1000" dirty="0">
                <a:solidFill>
                  <a:schemeClr val="dk1"/>
                </a:solidFill>
                <a:latin typeface="Calibri"/>
                <a:ea typeface="Calibri"/>
                <a:cs typeface="Calibri"/>
                <a:sym typeface="Calibri"/>
              </a:rPr>
              <a:t>, </a:t>
            </a:r>
            <a:r>
              <a:rPr lang="ko-KR" sz="1000">
                <a:solidFill>
                  <a:schemeClr val="dk1"/>
                </a:solidFill>
                <a:latin typeface="Calibri"/>
                <a:ea typeface="Calibri"/>
                <a:cs typeface="Calibri"/>
                <a:sym typeface="Calibri"/>
              </a:rPr>
              <a:t>sklearn</a:t>
            </a:r>
            <a:endParaRPr sz="1000" dirty="0">
              <a:solidFill>
                <a:schemeClr val="dk1"/>
              </a:solidFill>
              <a:latin typeface="Calibri"/>
              <a:ea typeface="Calibri"/>
              <a:cs typeface="Calibri"/>
              <a:sym typeface="Calibri"/>
            </a:endParaRPr>
          </a:p>
        </p:txBody>
      </p:sp>
      <p:sp>
        <p:nvSpPr>
          <p:cNvPr id="103" name="Google Shape;103;p13"/>
          <p:cNvSpPr txBox="1"/>
          <p:nvPr/>
        </p:nvSpPr>
        <p:spPr>
          <a:xfrm>
            <a:off x="803314" y="1503382"/>
            <a:ext cx="4207616" cy="243175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dirty="0">
                <a:solidFill>
                  <a:schemeClr val="dk1"/>
                </a:solidFill>
                <a:latin typeface="Calibri"/>
                <a:ea typeface="Calibri"/>
                <a:cs typeface="Calibri"/>
                <a:sym typeface="Calibri"/>
              </a:rPr>
              <a:t>[주요 업무]</a:t>
            </a:r>
            <a:endParaRPr sz="1051"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1. 통계적 알고리즘 개발</a:t>
            </a:r>
            <a:r>
              <a:rPr lang="ko-KR" sz="900" dirty="0">
                <a:solidFill>
                  <a:schemeClr val="dk1"/>
                </a:solidFill>
                <a:latin typeface="Calibri"/>
                <a:ea typeface="Calibri"/>
                <a:cs typeface="Calibri"/>
                <a:sym typeface="Calibri"/>
              </a:rPr>
              <a:t> </a:t>
            </a:r>
            <a:endParaRPr sz="9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dirty="0">
                <a:solidFill>
                  <a:schemeClr val="dk1"/>
                </a:solidFill>
                <a:latin typeface="Calibri"/>
                <a:ea typeface="Calibri"/>
                <a:cs typeface="Calibri"/>
                <a:sym typeface="Calibri"/>
              </a:rPr>
              <a:t>    - 두 개의 주요 거래소(</a:t>
            </a:r>
            <a:r>
              <a:rPr lang="ko-KR" sz="900" dirty="0" err="1">
                <a:solidFill>
                  <a:schemeClr val="dk1"/>
                </a:solidFill>
                <a:latin typeface="Calibri"/>
                <a:ea typeface="Calibri"/>
                <a:cs typeface="Calibri"/>
                <a:sym typeface="Calibri"/>
              </a:rPr>
              <a:t>업비트</a:t>
            </a:r>
            <a:r>
              <a:rPr lang="ko-KR" sz="900" dirty="0">
                <a:solidFill>
                  <a:schemeClr val="dk1"/>
                </a:solidFill>
                <a:latin typeface="Calibri"/>
                <a:ea typeface="Calibri"/>
                <a:cs typeface="Calibri"/>
                <a:sym typeface="Calibri"/>
              </a:rPr>
              <a:t>, </a:t>
            </a:r>
            <a:r>
              <a:rPr lang="ko-KR" sz="900" dirty="0" err="1">
                <a:solidFill>
                  <a:schemeClr val="dk1"/>
                </a:solidFill>
                <a:latin typeface="Calibri"/>
                <a:ea typeface="Calibri"/>
                <a:cs typeface="Calibri"/>
                <a:sym typeface="Calibri"/>
              </a:rPr>
              <a:t>바이낸스</a:t>
            </a:r>
            <a:r>
              <a:rPr lang="ko-KR" sz="900" dirty="0">
                <a:solidFill>
                  <a:schemeClr val="dk1"/>
                </a:solidFill>
                <a:latin typeface="Calibri"/>
                <a:ea typeface="Calibri"/>
                <a:cs typeface="Calibri"/>
                <a:sym typeface="Calibri"/>
              </a:rPr>
              <a:t>)에서 현물/선물의 호가 데이터를 </a:t>
            </a:r>
            <a:endParaRPr sz="9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dirty="0">
                <a:solidFill>
                  <a:schemeClr val="dk1"/>
                </a:solidFill>
                <a:latin typeface="Calibri"/>
                <a:ea typeface="Calibri"/>
                <a:cs typeface="Calibri"/>
                <a:sym typeface="Calibri"/>
              </a:rPr>
              <a:t>      실시간으로 수집</a:t>
            </a:r>
            <a:endParaRPr sz="9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dirty="0">
                <a:solidFill>
                  <a:schemeClr val="dk1"/>
                </a:solidFill>
                <a:latin typeface="Calibri"/>
                <a:ea typeface="Calibri"/>
                <a:cs typeface="Calibri"/>
                <a:sym typeface="Calibri"/>
              </a:rPr>
              <a:t>    - 거래 수수료 대비 수익을 통해 최적 수익(</a:t>
            </a:r>
            <a:r>
              <a:rPr lang="ko-KR" sz="900" dirty="0" err="1">
                <a:solidFill>
                  <a:schemeClr val="dk1"/>
                </a:solidFill>
                <a:latin typeface="Calibri"/>
                <a:ea typeface="Calibri"/>
                <a:cs typeface="Calibri"/>
                <a:sym typeface="Calibri"/>
              </a:rPr>
              <a:t>가상화폐</a:t>
            </a:r>
            <a:r>
              <a:rPr lang="ko-KR" sz="900" dirty="0">
                <a:solidFill>
                  <a:schemeClr val="dk1"/>
                </a:solidFill>
                <a:latin typeface="Calibri"/>
                <a:ea typeface="Calibri"/>
                <a:cs typeface="Calibri"/>
                <a:sym typeface="Calibri"/>
              </a:rPr>
              <a:t>)을 찾는 알고리즘 개발</a:t>
            </a:r>
            <a:endParaRPr sz="9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dirty="0">
                <a:solidFill>
                  <a:schemeClr val="dk1"/>
                </a:solidFill>
                <a:latin typeface="Calibri"/>
                <a:ea typeface="Calibri"/>
                <a:cs typeface="Calibri"/>
                <a:sym typeface="Calibri"/>
              </a:rPr>
              <a:t>2. 차익거래 프로그래밍 개발</a:t>
            </a:r>
            <a:endParaRPr dirty="0"/>
          </a:p>
          <a:p>
            <a:pPr marL="0" marR="0" lvl="0" indent="0" algn="just" rtl="0">
              <a:lnSpc>
                <a:spcPct val="150000"/>
              </a:lnSpc>
              <a:spcBef>
                <a:spcPts val="0"/>
              </a:spcBef>
              <a:spcAft>
                <a:spcPts val="0"/>
              </a:spcAft>
              <a:buNone/>
            </a:pPr>
            <a:r>
              <a:rPr lang="ko-KR" sz="900" dirty="0">
                <a:solidFill>
                  <a:schemeClr val="dk1"/>
                </a:solidFill>
                <a:latin typeface="Calibri"/>
                <a:ea typeface="Calibri"/>
                <a:cs typeface="Calibri"/>
                <a:sym typeface="Calibri"/>
              </a:rPr>
              <a:t>    - 거래소 서버 다운 위험을 대비한 자동 저장(</a:t>
            </a:r>
            <a:r>
              <a:rPr lang="ko-KR" sz="900" dirty="0" err="1">
                <a:solidFill>
                  <a:schemeClr val="dk1"/>
                </a:solidFill>
                <a:latin typeface="Calibri"/>
                <a:ea typeface="Calibri"/>
                <a:cs typeface="Calibri"/>
                <a:sym typeface="Calibri"/>
              </a:rPr>
              <a:t>pickle</a:t>
            </a:r>
            <a:r>
              <a:rPr lang="ko-KR" sz="900" dirty="0">
                <a:solidFill>
                  <a:schemeClr val="dk1"/>
                </a:solidFill>
                <a:latin typeface="Calibri"/>
                <a:ea typeface="Calibri"/>
                <a:cs typeface="Calibri"/>
                <a:sym typeface="Calibri"/>
              </a:rPr>
              <a:t> </a:t>
            </a:r>
            <a:r>
              <a:rPr lang="ko-KR" sz="900" dirty="0" err="1">
                <a:solidFill>
                  <a:schemeClr val="dk1"/>
                </a:solidFill>
                <a:latin typeface="Calibri"/>
                <a:ea typeface="Calibri"/>
                <a:cs typeface="Calibri"/>
                <a:sym typeface="Calibri"/>
              </a:rPr>
              <a:t>file</a:t>
            </a:r>
            <a:r>
              <a:rPr lang="ko-KR" sz="900" dirty="0">
                <a:solidFill>
                  <a:schemeClr val="dk1"/>
                </a:solidFill>
                <a:latin typeface="Calibri"/>
                <a:ea typeface="Calibri"/>
                <a:cs typeface="Calibri"/>
                <a:sym typeface="Calibri"/>
              </a:rPr>
              <a:t> 형태), </a:t>
            </a:r>
            <a:endParaRPr dirty="0"/>
          </a:p>
          <a:p>
            <a:pPr marL="0" marR="0" lvl="0" indent="0" algn="just" rtl="0">
              <a:lnSpc>
                <a:spcPct val="150000"/>
              </a:lnSpc>
              <a:spcBef>
                <a:spcPts val="0"/>
              </a:spcBef>
              <a:spcAft>
                <a:spcPts val="0"/>
              </a:spcAft>
              <a:buNone/>
            </a:pPr>
            <a:r>
              <a:rPr lang="ko-KR" sz="900" dirty="0">
                <a:solidFill>
                  <a:schemeClr val="dk1"/>
                </a:solidFill>
                <a:latin typeface="Calibri"/>
                <a:ea typeface="Calibri"/>
                <a:cs typeface="Calibri"/>
                <a:sym typeface="Calibri"/>
              </a:rPr>
              <a:t>    - </a:t>
            </a:r>
            <a:r>
              <a:rPr lang="ko-KR" sz="900" dirty="0" err="1">
                <a:solidFill>
                  <a:schemeClr val="dk1"/>
                </a:solidFill>
                <a:latin typeface="Calibri"/>
                <a:ea typeface="Calibri"/>
                <a:cs typeface="Calibri"/>
                <a:sym typeface="Calibri"/>
              </a:rPr>
              <a:t>push</a:t>
            </a:r>
            <a:r>
              <a:rPr lang="ko-KR" sz="900" dirty="0">
                <a:solidFill>
                  <a:schemeClr val="dk1"/>
                </a:solidFill>
                <a:latin typeface="Calibri"/>
                <a:ea typeface="Calibri"/>
                <a:cs typeface="Calibri"/>
                <a:sym typeface="Calibri"/>
              </a:rPr>
              <a:t> </a:t>
            </a:r>
            <a:r>
              <a:rPr lang="ko-KR" sz="900" dirty="0" err="1">
                <a:solidFill>
                  <a:schemeClr val="dk1"/>
                </a:solidFill>
                <a:latin typeface="Calibri"/>
                <a:ea typeface="Calibri"/>
                <a:cs typeface="Calibri"/>
                <a:sym typeface="Calibri"/>
              </a:rPr>
              <a:t>알람</a:t>
            </a:r>
            <a:r>
              <a:rPr lang="ko-KR" sz="900" dirty="0">
                <a:solidFill>
                  <a:schemeClr val="dk1"/>
                </a:solidFill>
                <a:latin typeface="Calibri"/>
                <a:ea typeface="Calibri"/>
                <a:cs typeface="Calibri"/>
                <a:sym typeface="Calibri"/>
              </a:rPr>
              <a:t> 기능 개발</a:t>
            </a:r>
            <a:endParaRPr sz="9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dirty="0">
                <a:solidFill>
                  <a:schemeClr val="dk1"/>
                </a:solidFill>
                <a:latin typeface="Calibri"/>
                <a:ea typeface="Calibri"/>
                <a:cs typeface="Calibri"/>
                <a:sym typeface="Calibri"/>
              </a:rPr>
              <a:t>    - 시세 변동 리스크를 </a:t>
            </a:r>
            <a:r>
              <a:rPr lang="ko-KR" sz="900" dirty="0" err="1">
                <a:solidFill>
                  <a:schemeClr val="dk1"/>
                </a:solidFill>
                <a:latin typeface="Calibri"/>
                <a:ea typeface="Calibri"/>
                <a:cs typeface="Calibri"/>
                <a:sym typeface="Calibri"/>
              </a:rPr>
              <a:t>hedge</a:t>
            </a:r>
            <a:r>
              <a:rPr lang="ko-KR" sz="900" dirty="0">
                <a:solidFill>
                  <a:schemeClr val="dk1"/>
                </a:solidFill>
                <a:latin typeface="Calibri"/>
                <a:ea typeface="Calibri"/>
                <a:cs typeface="Calibri"/>
                <a:sym typeface="Calibri"/>
              </a:rPr>
              <a:t> 하기 위한 </a:t>
            </a:r>
            <a:r>
              <a:rPr lang="ko-KR" sz="900" dirty="0" err="1">
                <a:solidFill>
                  <a:schemeClr val="dk1"/>
                </a:solidFill>
                <a:latin typeface="Calibri"/>
                <a:ea typeface="Calibri"/>
                <a:cs typeface="Calibri"/>
                <a:sym typeface="Calibri"/>
              </a:rPr>
              <a:t>python</a:t>
            </a:r>
            <a:r>
              <a:rPr lang="ko-KR" sz="900" dirty="0">
                <a:solidFill>
                  <a:schemeClr val="dk1"/>
                </a:solidFill>
                <a:latin typeface="Calibri"/>
                <a:ea typeface="Calibri"/>
                <a:cs typeface="Calibri"/>
                <a:sym typeface="Calibri"/>
              </a:rPr>
              <a:t> 프로그램 개발.</a:t>
            </a:r>
            <a:endParaRPr dirty="0"/>
          </a:p>
          <a:p>
            <a:pPr marL="0" marR="0" lvl="0" indent="0" algn="just" rtl="0">
              <a:lnSpc>
                <a:spcPct val="150000"/>
              </a:lnSpc>
              <a:spcBef>
                <a:spcPts val="0"/>
              </a:spcBef>
              <a:spcAft>
                <a:spcPts val="0"/>
              </a:spcAft>
              <a:buNone/>
            </a:pPr>
            <a:r>
              <a:rPr lang="ko-KR" sz="900" dirty="0">
                <a:solidFill>
                  <a:schemeClr val="dk1"/>
                </a:solidFill>
                <a:latin typeface="Calibri"/>
                <a:ea typeface="Calibri"/>
                <a:cs typeface="Calibri"/>
                <a:sym typeface="Calibri"/>
              </a:rPr>
              <a:t>    - 사용자 API </a:t>
            </a:r>
            <a:r>
              <a:rPr lang="ko-KR" sz="900" dirty="0" err="1">
                <a:solidFill>
                  <a:schemeClr val="dk1"/>
                </a:solidFill>
                <a:latin typeface="Calibri"/>
                <a:ea typeface="Calibri"/>
                <a:cs typeface="Calibri"/>
                <a:sym typeface="Calibri"/>
              </a:rPr>
              <a:t>KEY를</a:t>
            </a:r>
            <a:r>
              <a:rPr lang="ko-KR" sz="900" dirty="0">
                <a:solidFill>
                  <a:schemeClr val="dk1"/>
                </a:solidFill>
                <a:latin typeface="Calibri"/>
                <a:ea typeface="Calibri"/>
                <a:cs typeface="Calibri"/>
                <a:sym typeface="Calibri"/>
              </a:rPr>
              <a:t> 이용한 편의성 프로그램 개발(</a:t>
            </a:r>
            <a:r>
              <a:rPr lang="ko-KR" sz="900" dirty="0" err="1">
                <a:solidFill>
                  <a:schemeClr val="dk1"/>
                </a:solidFill>
                <a:latin typeface="Calibri"/>
                <a:ea typeface="Calibri"/>
                <a:cs typeface="Calibri"/>
                <a:sym typeface="Calibri"/>
              </a:rPr>
              <a:t>python</a:t>
            </a:r>
            <a:r>
              <a:rPr lang="ko-KR" sz="900" dirty="0">
                <a:solidFill>
                  <a:schemeClr val="dk1"/>
                </a:solidFill>
                <a:latin typeface="Calibri"/>
                <a:ea typeface="Calibri"/>
                <a:cs typeface="Calibri"/>
                <a:sym typeface="Calibri"/>
              </a:rPr>
              <a:t>)</a:t>
            </a:r>
            <a:endParaRPr dirty="0"/>
          </a:p>
          <a:p>
            <a:pPr marL="0" marR="0" lvl="0" indent="0" algn="just" rtl="0">
              <a:lnSpc>
                <a:spcPct val="150000"/>
              </a:lnSpc>
              <a:spcBef>
                <a:spcPts val="0"/>
              </a:spcBef>
              <a:spcAft>
                <a:spcPts val="0"/>
              </a:spcAft>
              <a:buNone/>
            </a:pPr>
            <a:r>
              <a:rPr lang="ko-KR" sz="900" dirty="0">
                <a:solidFill>
                  <a:schemeClr val="dk1"/>
                </a:solidFill>
                <a:latin typeface="Calibri"/>
                <a:ea typeface="Calibri"/>
                <a:cs typeface="Calibri"/>
                <a:sym typeface="Calibri"/>
              </a:rPr>
              <a:t>    - </a:t>
            </a:r>
            <a:r>
              <a:rPr lang="ko-KR" sz="900" dirty="0" err="1">
                <a:solidFill>
                  <a:schemeClr val="dk1"/>
                </a:solidFill>
                <a:latin typeface="Calibri"/>
                <a:ea typeface="Calibri"/>
                <a:cs typeface="Calibri"/>
                <a:sym typeface="Calibri"/>
              </a:rPr>
              <a:t>텔레그렘</a:t>
            </a:r>
            <a:r>
              <a:rPr lang="ko-KR" sz="900" dirty="0">
                <a:solidFill>
                  <a:schemeClr val="dk1"/>
                </a:solidFill>
                <a:latin typeface="Calibri"/>
                <a:ea typeface="Calibri"/>
                <a:cs typeface="Calibri"/>
                <a:sym typeface="Calibri"/>
              </a:rPr>
              <a:t> </a:t>
            </a:r>
            <a:r>
              <a:rPr lang="ko-KR" sz="900" dirty="0" err="1">
                <a:solidFill>
                  <a:schemeClr val="dk1"/>
                </a:solidFill>
                <a:latin typeface="Calibri"/>
                <a:ea typeface="Calibri"/>
                <a:cs typeface="Calibri"/>
                <a:sym typeface="Calibri"/>
              </a:rPr>
              <a:t>API를</a:t>
            </a:r>
            <a:r>
              <a:rPr lang="ko-KR" sz="900" dirty="0">
                <a:solidFill>
                  <a:schemeClr val="dk1"/>
                </a:solidFill>
                <a:latin typeface="Calibri"/>
                <a:ea typeface="Calibri"/>
                <a:cs typeface="Calibri"/>
                <a:sym typeface="Calibri"/>
              </a:rPr>
              <a:t> 이용하여 사용자 </a:t>
            </a:r>
            <a:r>
              <a:rPr lang="ko-KR" sz="900" dirty="0" err="1">
                <a:solidFill>
                  <a:schemeClr val="dk1"/>
                </a:solidFill>
                <a:latin typeface="Calibri"/>
                <a:ea typeface="Calibri"/>
                <a:cs typeface="Calibri"/>
                <a:sym typeface="Calibri"/>
              </a:rPr>
              <a:t>App내</a:t>
            </a:r>
            <a:r>
              <a:rPr lang="ko-KR" sz="900" dirty="0">
                <a:solidFill>
                  <a:schemeClr val="dk1"/>
                </a:solidFill>
                <a:latin typeface="Calibri"/>
                <a:ea typeface="Calibri"/>
                <a:cs typeface="Calibri"/>
                <a:sym typeface="Calibri"/>
              </a:rPr>
              <a:t> </a:t>
            </a:r>
            <a:r>
              <a:rPr lang="ko-KR" sz="900" dirty="0" err="1">
                <a:solidFill>
                  <a:schemeClr val="dk1"/>
                </a:solidFill>
                <a:latin typeface="Calibri"/>
                <a:ea typeface="Calibri"/>
                <a:cs typeface="Calibri"/>
                <a:sym typeface="Calibri"/>
              </a:rPr>
              <a:t>push</a:t>
            </a:r>
            <a:r>
              <a:rPr lang="ko-KR" sz="900" dirty="0">
                <a:solidFill>
                  <a:schemeClr val="dk1"/>
                </a:solidFill>
                <a:latin typeface="Calibri"/>
                <a:ea typeface="Calibri"/>
                <a:cs typeface="Calibri"/>
                <a:sym typeface="Calibri"/>
              </a:rPr>
              <a:t> </a:t>
            </a:r>
            <a:r>
              <a:rPr lang="ko-KR" sz="900" dirty="0" err="1">
                <a:solidFill>
                  <a:schemeClr val="dk1"/>
                </a:solidFill>
                <a:latin typeface="Calibri"/>
                <a:ea typeface="Calibri"/>
                <a:cs typeface="Calibri"/>
                <a:sym typeface="Calibri"/>
              </a:rPr>
              <a:t>알람</a:t>
            </a:r>
            <a:r>
              <a:rPr lang="ko-KR" sz="900" dirty="0">
                <a:solidFill>
                  <a:schemeClr val="dk1"/>
                </a:solidFill>
                <a:latin typeface="Calibri"/>
                <a:ea typeface="Calibri"/>
                <a:cs typeface="Calibri"/>
                <a:sym typeface="Calibri"/>
              </a:rPr>
              <a:t> 기능 개발(</a:t>
            </a:r>
            <a:r>
              <a:rPr lang="ko-KR" sz="900" dirty="0" err="1">
                <a:solidFill>
                  <a:schemeClr val="dk1"/>
                </a:solidFill>
                <a:latin typeface="Calibri"/>
                <a:ea typeface="Calibri"/>
                <a:cs typeface="Calibri"/>
                <a:sym typeface="Calibri"/>
              </a:rPr>
              <a:t>python</a:t>
            </a:r>
            <a:r>
              <a:rPr lang="ko-KR" sz="900" dirty="0">
                <a:solidFill>
                  <a:schemeClr val="dk1"/>
                </a:solidFill>
                <a:latin typeface="Calibri"/>
                <a:ea typeface="Calibri"/>
                <a:cs typeface="Calibri"/>
                <a:sym typeface="Calibri"/>
              </a:rPr>
              <a:t>)</a:t>
            </a:r>
            <a:endParaRPr dirty="0"/>
          </a:p>
        </p:txBody>
      </p:sp>
      <p:pic>
        <p:nvPicPr>
          <p:cNvPr id="104" name="Google Shape;104;p13"/>
          <p:cNvPicPr preferRelativeResize="0"/>
          <p:nvPr/>
        </p:nvPicPr>
        <p:blipFill rotWithShape="1">
          <a:blip r:embed="rId4">
            <a:alphaModFix/>
          </a:blip>
          <a:srcRect/>
          <a:stretch/>
        </p:blipFill>
        <p:spPr>
          <a:xfrm>
            <a:off x="783761" y="4267388"/>
            <a:ext cx="4921408" cy="2569792"/>
          </a:xfrm>
          <a:prstGeom prst="rect">
            <a:avLst/>
          </a:prstGeom>
          <a:noFill/>
          <a:ln>
            <a:noFill/>
          </a:ln>
        </p:spPr>
      </p:pic>
      <p:pic>
        <p:nvPicPr>
          <p:cNvPr id="105" name="Google Shape;105;p13"/>
          <p:cNvPicPr preferRelativeResize="0"/>
          <p:nvPr/>
        </p:nvPicPr>
        <p:blipFill rotWithShape="1">
          <a:blip r:embed="rId5">
            <a:alphaModFix/>
          </a:blip>
          <a:srcRect/>
          <a:stretch/>
        </p:blipFill>
        <p:spPr>
          <a:xfrm>
            <a:off x="5852667" y="3964476"/>
            <a:ext cx="2194678" cy="1463991"/>
          </a:xfrm>
          <a:prstGeom prst="rect">
            <a:avLst/>
          </a:prstGeom>
          <a:noFill/>
          <a:ln>
            <a:noFill/>
          </a:ln>
        </p:spPr>
      </p:pic>
      <p:pic>
        <p:nvPicPr>
          <p:cNvPr id="106" name="Google Shape;106;p13"/>
          <p:cNvPicPr preferRelativeResize="0"/>
          <p:nvPr/>
        </p:nvPicPr>
        <p:blipFill rotWithShape="1">
          <a:blip r:embed="rId6">
            <a:alphaModFix/>
          </a:blip>
          <a:srcRect/>
          <a:stretch/>
        </p:blipFill>
        <p:spPr>
          <a:xfrm>
            <a:off x="9422363" y="1711704"/>
            <a:ext cx="5663213" cy="2687361"/>
          </a:xfrm>
          <a:prstGeom prst="rect">
            <a:avLst/>
          </a:prstGeom>
          <a:noFill/>
          <a:ln>
            <a:noFill/>
          </a:ln>
        </p:spPr>
      </p:pic>
      <p:pic>
        <p:nvPicPr>
          <p:cNvPr id="107" name="Google Shape;107;p13"/>
          <p:cNvPicPr preferRelativeResize="0"/>
          <p:nvPr/>
        </p:nvPicPr>
        <p:blipFill rotWithShape="1">
          <a:blip r:embed="rId7">
            <a:alphaModFix/>
          </a:blip>
          <a:srcRect/>
          <a:stretch/>
        </p:blipFill>
        <p:spPr>
          <a:xfrm>
            <a:off x="9440824" y="5066981"/>
            <a:ext cx="6873988" cy="32839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p:nvPr/>
        </p:nvSpPr>
        <p:spPr>
          <a:xfrm>
            <a:off x="487363" y="261676"/>
            <a:ext cx="16238537" cy="518283"/>
          </a:xfrm>
          <a:prstGeom prst="rect">
            <a:avLst/>
          </a:prstGeom>
          <a:solidFill>
            <a:srgbClr val="0F395B"/>
          </a:solidFill>
          <a:ln w="9525" cap="flat" cmpd="sng">
            <a:solidFill>
              <a:srgbClr val="103B5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400" b="1">
              <a:solidFill>
                <a:schemeClr val="lt1"/>
              </a:solidFill>
              <a:latin typeface="Calibri"/>
              <a:ea typeface="Calibri"/>
              <a:cs typeface="Calibri"/>
              <a:sym typeface="Calibri"/>
            </a:endParaRPr>
          </a:p>
        </p:txBody>
      </p:sp>
      <p:sp>
        <p:nvSpPr>
          <p:cNvPr id="113" name="Google Shape;113;p14"/>
          <p:cNvSpPr/>
          <p:nvPr/>
        </p:nvSpPr>
        <p:spPr>
          <a:xfrm>
            <a:off x="884238" y="1074978"/>
            <a:ext cx="7384190" cy="395925"/>
          </a:xfrm>
          <a:prstGeom prst="roundRect">
            <a:avLst>
              <a:gd name="adj" fmla="val 7143"/>
            </a:avLst>
          </a:prstGeom>
          <a:solidFill>
            <a:srgbClr val="D0CECE">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14" name="Google Shape;114;p14"/>
          <p:cNvGrpSpPr/>
          <p:nvPr/>
        </p:nvGrpSpPr>
        <p:grpSpPr>
          <a:xfrm>
            <a:off x="0" y="0"/>
            <a:ext cx="17610138" cy="9906004"/>
            <a:chOff x="-10796913" y="237463"/>
            <a:chExt cx="11867221" cy="6572030"/>
          </a:xfrm>
        </p:grpSpPr>
        <p:sp>
          <p:nvSpPr>
            <p:cNvPr id="115" name="Google Shape;115;p14"/>
            <p:cNvSpPr/>
            <p:nvPr/>
          </p:nvSpPr>
          <p:spPr>
            <a:xfrm rot="10800000" flipH="1">
              <a:off x="-10796913" y="237463"/>
              <a:ext cx="11087179" cy="1300855"/>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16" name="Google Shape;116;p14"/>
            <p:cNvSpPr/>
            <p:nvPr/>
          </p:nvSpPr>
          <p:spPr>
            <a:xfrm rot="10800000" flipH="1">
              <a:off x="-10796797" y="237464"/>
              <a:ext cx="5336657" cy="22192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17" name="Google Shape;117;p14"/>
            <p:cNvSpPr/>
            <p:nvPr/>
          </p:nvSpPr>
          <p:spPr>
            <a:xfrm flipH="1">
              <a:off x="-10796795" y="5771379"/>
              <a:ext cx="11867103" cy="10381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18" name="Google Shape;118;p14"/>
            <p:cNvSpPr/>
            <p:nvPr/>
          </p:nvSpPr>
          <p:spPr>
            <a:xfrm flipH="1">
              <a:off x="-2539137" y="4856978"/>
              <a:ext cx="3609444" cy="19525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grpSp>
      <p:sp>
        <p:nvSpPr>
          <p:cNvPr id="119" name="Google Shape;119;p14"/>
          <p:cNvSpPr/>
          <p:nvPr/>
        </p:nvSpPr>
        <p:spPr>
          <a:xfrm>
            <a:off x="982853" y="1151647"/>
            <a:ext cx="7675372" cy="283487"/>
          </a:xfrm>
          <a:prstGeom prst="roundRect">
            <a:avLst>
              <a:gd name="adj" fmla="val 6011"/>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1100">
                <a:solidFill>
                  <a:schemeClr val="lt1"/>
                </a:solidFill>
                <a:latin typeface="Calibri"/>
                <a:ea typeface="Calibri"/>
                <a:cs typeface="Calibri"/>
                <a:sym typeface="Calibri"/>
              </a:rPr>
              <a:t>💡 </a:t>
            </a:r>
            <a:r>
              <a:rPr lang="ko-KR" sz="1100" b="1">
                <a:solidFill>
                  <a:schemeClr val="dk1"/>
                </a:solidFill>
                <a:latin typeface="Calibri"/>
                <a:ea typeface="Calibri"/>
                <a:cs typeface="Calibri"/>
                <a:sym typeface="Calibri"/>
              </a:rPr>
              <a:t>프로젝트 요약 : 박물관 OCR 기반 크롤링 및 설명 웹사이트 서비스 제공</a:t>
            </a:r>
            <a:endParaRPr sz="1100">
              <a:solidFill>
                <a:schemeClr val="dk1"/>
              </a:solidFill>
              <a:latin typeface="Calibri"/>
              <a:ea typeface="Calibri"/>
              <a:cs typeface="Calibri"/>
              <a:sym typeface="Calibri"/>
            </a:endParaRPr>
          </a:p>
        </p:txBody>
      </p:sp>
      <p:sp>
        <p:nvSpPr>
          <p:cNvPr id="120" name="Google Shape;120;p14"/>
          <p:cNvSpPr txBox="1"/>
          <p:nvPr/>
        </p:nvSpPr>
        <p:spPr>
          <a:xfrm>
            <a:off x="579844" y="261675"/>
            <a:ext cx="8644842" cy="5182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200" b="1">
                <a:solidFill>
                  <a:schemeClr val="lt1"/>
                </a:solidFill>
                <a:latin typeface="Calibri"/>
                <a:ea typeface="Calibri"/>
                <a:cs typeface="Calibri"/>
                <a:sym typeface="Calibri"/>
              </a:rPr>
              <a:t>프로젝트명</a:t>
            </a:r>
            <a:endParaRPr sz="1200" b="1">
              <a:solidFill>
                <a:schemeClr val="lt1"/>
              </a:solidFill>
              <a:latin typeface="Calibri"/>
              <a:ea typeface="Calibri"/>
              <a:cs typeface="Calibri"/>
              <a:sym typeface="Calibri"/>
            </a:endParaRPr>
          </a:p>
          <a:p>
            <a:pPr marL="285744" marR="0" lvl="0" indent="-285744" algn="l" rtl="0">
              <a:lnSpc>
                <a:spcPct val="150000"/>
              </a:lnSpc>
              <a:spcBef>
                <a:spcPts val="0"/>
              </a:spcBef>
              <a:spcAft>
                <a:spcPts val="0"/>
              </a:spcAft>
              <a:buClr>
                <a:schemeClr val="lt1"/>
              </a:buClr>
              <a:buSzPts val="1200"/>
              <a:buFont typeface="Noto Sans Symbols"/>
              <a:buChar char="❑"/>
            </a:pPr>
            <a:r>
              <a:rPr lang="ko-KR" sz="1200" b="1">
                <a:solidFill>
                  <a:schemeClr val="lt1"/>
                </a:solidFill>
                <a:latin typeface="Calibri"/>
                <a:ea typeface="Calibri"/>
                <a:cs typeface="Calibri"/>
                <a:sym typeface="Calibri"/>
              </a:rPr>
              <a:t>KAIST &amp; GOORM AI 딥러닝 지식을 활용하여 전이학습 및 사전학습 언어 모델의 효율성을 검증, 실제 웹서비스에 적용</a:t>
            </a:r>
            <a:endParaRPr/>
          </a:p>
        </p:txBody>
      </p:sp>
      <p:sp>
        <p:nvSpPr>
          <p:cNvPr id="121" name="Google Shape;121;p14"/>
          <p:cNvSpPr txBox="1"/>
          <p:nvPr/>
        </p:nvSpPr>
        <p:spPr>
          <a:xfrm>
            <a:off x="9127310" y="4324840"/>
            <a:ext cx="7598590" cy="75507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0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ko-KR" sz="1000">
                <a:solidFill>
                  <a:schemeClr val="dk1"/>
                </a:solidFill>
                <a:latin typeface="Calibri"/>
                <a:ea typeface="Calibri"/>
                <a:cs typeface="Calibri"/>
                <a:sym typeface="Calibri"/>
              </a:rPr>
              <a:t>검색 결과의 제목과 내용들과 해당 작품과 가장 연관성 있는 자료를 보여주도록 유도하는 과정입니다.참조문장과 생성문장의 문맥 벡터를 구해 코사인 유사도를 이용하여 문장간 유사도를 추출해 냅니다. </a:t>
            </a:r>
            <a:endParaRPr/>
          </a:p>
        </p:txBody>
      </p:sp>
      <p:sp>
        <p:nvSpPr>
          <p:cNvPr id="122" name="Google Shape;122;p14"/>
          <p:cNvSpPr txBox="1"/>
          <p:nvPr/>
        </p:nvSpPr>
        <p:spPr>
          <a:xfrm>
            <a:off x="4931578" y="1494233"/>
            <a:ext cx="4341600" cy="207608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Calibri"/>
                <a:ea typeface="Calibri"/>
                <a:cs typeface="Calibri"/>
                <a:sym typeface="Calibri"/>
              </a:rPr>
              <a:t>[프로젝트 세부 사항]</a:t>
            </a:r>
            <a:endParaRPr sz="1051" b="1">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프로젝트 기간 :</a:t>
            </a:r>
            <a:r>
              <a:rPr lang="ko-KR" sz="1000">
                <a:solidFill>
                  <a:schemeClr val="dk1"/>
                </a:solidFill>
                <a:latin typeface="Calibri"/>
                <a:ea typeface="Calibri"/>
                <a:cs typeface="Calibri"/>
                <a:sym typeface="Calibri"/>
              </a:rPr>
              <a:t> 2022.07.08 ~ 2022.11.03</a:t>
            </a:r>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개발 인원 :</a:t>
            </a:r>
            <a:r>
              <a:rPr lang="ko-KR" sz="1000">
                <a:solidFill>
                  <a:schemeClr val="dk1"/>
                </a:solidFill>
                <a:latin typeface="Calibri"/>
                <a:ea typeface="Calibri"/>
                <a:cs typeface="Calibri"/>
                <a:sym typeface="Calibri"/>
              </a:rPr>
              <a:t> 3명[팀장]</a:t>
            </a:r>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연계/주관기업 : </a:t>
            </a:r>
            <a:r>
              <a:rPr lang="ko-KR" sz="1000">
                <a:solidFill>
                  <a:schemeClr val="dk1"/>
                </a:solidFill>
                <a:latin typeface="Calibri"/>
                <a:ea typeface="Calibri"/>
                <a:cs typeface="Calibri"/>
                <a:sym typeface="Calibri"/>
              </a:rPr>
              <a:t>KAIST AI 대학원 주재걸 교수 연구실 &amp; groom</a:t>
            </a:r>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담당 업무 : </a:t>
            </a:r>
            <a:r>
              <a:rPr lang="ko-KR" sz="1000">
                <a:solidFill>
                  <a:schemeClr val="dk1"/>
                </a:solidFill>
                <a:latin typeface="Calibri"/>
                <a:ea typeface="Calibri"/>
                <a:cs typeface="Calibri"/>
                <a:sym typeface="Calibri"/>
              </a:rPr>
              <a:t>프로젝트 총괄 및 데이터 전처리, AI 모델 통합</a:t>
            </a: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기술 스택 : </a:t>
            </a:r>
            <a:r>
              <a:rPr lang="ko-KR" sz="1000">
                <a:solidFill>
                  <a:schemeClr val="dk1"/>
                </a:solidFill>
                <a:latin typeface="Calibri"/>
                <a:ea typeface="Calibri"/>
                <a:cs typeface="Calibri"/>
                <a:sym typeface="Calibri"/>
              </a:rPr>
              <a:t>Pandas, Scrapy ,Anaconda, Pytorch, Python ,Numpy ,</a:t>
            </a:r>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                   Selenium, OCR, html, css</a:t>
            </a:r>
            <a:endParaRPr sz="1000">
              <a:solidFill>
                <a:schemeClr val="dk1"/>
              </a:solidFill>
              <a:latin typeface="Calibri"/>
              <a:ea typeface="Calibri"/>
              <a:cs typeface="Calibri"/>
              <a:sym typeface="Calibri"/>
            </a:endParaRPr>
          </a:p>
          <a:p>
            <a:pPr marL="0" marR="0" lvl="0" indent="0" algn="l" rtl="0">
              <a:spcBef>
                <a:spcPts val="0"/>
              </a:spcBef>
              <a:spcAft>
                <a:spcPts val="0"/>
              </a:spcAft>
              <a:buNone/>
            </a:pPr>
            <a:r>
              <a:rPr lang="ko-KR" sz="1000" b="1">
                <a:solidFill>
                  <a:schemeClr val="dk1"/>
                </a:solidFill>
                <a:latin typeface="Calibri"/>
                <a:ea typeface="Calibri"/>
                <a:cs typeface="Calibri"/>
                <a:sym typeface="Calibri"/>
              </a:rPr>
              <a:t>오픈소스 &amp; 라이브러리 : </a:t>
            </a:r>
            <a:r>
              <a:rPr lang="ko-KR" sz="1000">
                <a:solidFill>
                  <a:schemeClr val="dk1"/>
                </a:solidFill>
                <a:latin typeface="Calibri"/>
                <a:ea typeface="Calibri"/>
                <a:cs typeface="Calibri"/>
                <a:sym typeface="Calibri"/>
              </a:rPr>
              <a:t>numpy, sklearn, transformers, itertools</a:t>
            </a: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endParaRPr sz="1000">
              <a:solidFill>
                <a:schemeClr val="dk1"/>
              </a:solidFill>
              <a:latin typeface="Calibri"/>
              <a:ea typeface="Calibri"/>
              <a:cs typeface="Calibri"/>
              <a:sym typeface="Calibri"/>
            </a:endParaRPr>
          </a:p>
        </p:txBody>
      </p:sp>
      <p:sp>
        <p:nvSpPr>
          <p:cNvPr id="123" name="Google Shape;123;p14"/>
          <p:cNvSpPr txBox="1"/>
          <p:nvPr/>
        </p:nvSpPr>
        <p:spPr>
          <a:xfrm>
            <a:off x="803314" y="1502278"/>
            <a:ext cx="4341840" cy="201625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Calibri"/>
                <a:ea typeface="Calibri"/>
                <a:cs typeface="Calibri"/>
                <a:sym typeface="Calibri"/>
              </a:rPr>
              <a:t>[주요 업무]</a:t>
            </a:r>
            <a:endParaRPr sz="1051">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1. 선형 대수 및 파이토치 기반 딥러닝 학습</a:t>
            </a:r>
            <a:endParaRPr sz="1000" b="1">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다양한 사전학습 언어 모델(BERT, GPT-2)의 성능을 Word2Vec 비교</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전이학습(Transfer Learning)의 개념 및 방법 학습</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2. OCR 이용한 실시간 Image to Text Web 서비스 구축 </a:t>
            </a:r>
            <a:r>
              <a:rPr lang="ko-KR"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자동 Text summarization 기능 구현 </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KeyBERT 모델로 텍스트를 키워드로 변환 및 분석</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추출된 키워드로 Web crawling을 수행</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Cosine Similarity 기법을 사용하여 관련성이 높은 top5개의 web link 추출</a:t>
            </a:r>
            <a:endParaRPr sz="900">
              <a:solidFill>
                <a:schemeClr val="dk1"/>
              </a:solidFill>
              <a:latin typeface="Calibri"/>
              <a:ea typeface="Calibri"/>
              <a:cs typeface="Calibri"/>
              <a:sym typeface="Calibri"/>
            </a:endParaRPr>
          </a:p>
        </p:txBody>
      </p:sp>
      <p:pic>
        <p:nvPicPr>
          <p:cNvPr id="124" name="Google Shape;124;p14"/>
          <p:cNvPicPr preferRelativeResize="0"/>
          <p:nvPr/>
        </p:nvPicPr>
        <p:blipFill rotWithShape="1">
          <a:blip r:embed="rId3">
            <a:alphaModFix/>
          </a:blip>
          <a:srcRect/>
          <a:stretch/>
        </p:blipFill>
        <p:spPr>
          <a:xfrm>
            <a:off x="5733428" y="3881112"/>
            <a:ext cx="2623522" cy="1506555"/>
          </a:xfrm>
          <a:prstGeom prst="rect">
            <a:avLst/>
          </a:prstGeom>
          <a:noFill/>
          <a:ln>
            <a:noFill/>
          </a:ln>
        </p:spPr>
      </p:pic>
      <p:grpSp>
        <p:nvGrpSpPr>
          <p:cNvPr id="125" name="Google Shape;125;p14"/>
          <p:cNvGrpSpPr/>
          <p:nvPr/>
        </p:nvGrpSpPr>
        <p:grpSpPr>
          <a:xfrm>
            <a:off x="5733428" y="5698465"/>
            <a:ext cx="2924797" cy="1446487"/>
            <a:chOff x="4285168" y="547097"/>
            <a:chExt cx="4483330" cy="4463516"/>
          </a:xfrm>
        </p:grpSpPr>
        <p:pic>
          <p:nvPicPr>
            <p:cNvPr id="126" name="Google Shape;126;p14"/>
            <p:cNvPicPr preferRelativeResize="0"/>
            <p:nvPr/>
          </p:nvPicPr>
          <p:blipFill rotWithShape="1">
            <a:blip r:embed="rId4">
              <a:alphaModFix/>
            </a:blip>
            <a:srcRect/>
            <a:stretch/>
          </p:blipFill>
          <p:spPr>
            <a:xfrm>
              <a:off x="4285168" y="547097"/>
              <a:ext cx="4483330" cy="2178162"/>
            </a:xfrm>
            <a:prstGeom prst="rect">
              <a:avLst/>
            </a:prstGeom>
            <a:noFill/>
            <a:ln>
              <a:noFill/>
            </a:ln>
          </p:spPr>
        </p:pic>
        <p:pic>
          <p:nvPicPr>
            <p:cNvPr id="127" name="Google Shape;127;p14"/>
            <p:cNvPicPr preferRelativeResize="0"/>
            <p:nvPr/>
          </p:nvPicPr>
          <p:blipFill rotWithShape="1">
            <a:blip r:embed="rId5">
              <a:alphaModFix/>
            </a:blip>
            <a:srcRect/>
            <a:stretch/>
          </p:blipFill>
          <p:spPr>
            <a:xfrm>
              <a:off x="4389948" y="3219821"/>
              <a:ext cx="4273770" cy="1790792"/>
            </a:xfrm>
            <a:prstGeom prst="rect">
              <a:avLst/>
            </a:prstGeom>
            <a:noFill/>
            <a:ln>
              <a:noFill/>
            </a:ln>
          </p:spPr>
        </p:pic>
        <p:sp>
          <p:nvSpPr>
            <p:cNvPr id="128" name="Google Shape;128;p14"/>
            <p:cNvSpPr/>
            <p:nvPr/>
          </p:nvSpPr>
          <p:spPr>
            <a:xfrm>
              <a:off x="5896947" y="2900532"/>
              <a:ext cx="1191827" cy="144016"/>
            </a:xfrm>
            <a:prstGeom prst="downArrow">
              <a:avLst>
                <a:gd name="adj1" fmla="val 50000"/>
                <a:gd name="adj2" fmla="val 50000"/>
              </a:avLst>
            </a:prstGeom>
            <a:solidFill>
              <a:srgbClr val="0F3A5C"/>
            </a:solidFill>
            <a:ln w="12700" cap="flat" cmpd="sng">
              <a:solidFill>
                <a:srgbClr val="0F3A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63">
                <a:solidFill>
                  <a:schemeClr val="lt1"/>
                </a:solidFill>
                <a:latin typeface="Calibri"/>
                <a:ea typeface="Calibri"/>
                <a:cs typeface="Calibri"/>
                <a:sym typeface="Calibri"/>
              </a:endParaRPr>
            </a:p>
          </p:txBody>
        </p:sp>
      </p:grpSp>
      <p:pic>
        <p:nvPicPr>
          <p:cNvPr id="129" name="Google Shape;129;p14"/>
          <p:cNvPicPr preferRelativeResize="0"/>
          <p:nvPr/>
        </p:nvPicPr>
        <p:blipFill rotWithShape="1">
          <a:blip r:embed="rId6">
            <a:alphaModFix/>
          </a:blip>
          <a:srcRect/>
          <a:stretch/>
        </p:blipFill>
        <p:spPr>
          <a:xfrm>
            <a:off x="857464" y="4080210"/>
            <a:ext cx="4341600" cy="2716707"/>
          </a:xfrm>
          <a:prstGeom prst="rect">
            <a:avLst/>
          </a:prstGeom>
          <a:noFill/>
          <a:ln>
            <a:noFill/>
          </a:ln>
        </p:spPr>
      </p:pic>
      <p:sp>
        <p:nvSpPr>
          <p:cNvPr id="130" name="Google Shape;130;p14"/>
          <p:cNvSpPr txBox="1"/>
          <p:nvPr/>
        </p:nvSpPr>
        <p:spPr>
          <a:xfrm>
            <a:off x="823817" y="7443841"/>
            <a:ext cx="7801071" cy="123315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Calibri"/>
                <a:ea typeface="Calibri"/>
                <a:cs typeface="Calibri"/>
                <a:sym typeface="Calibri"/>
              </a:rPr>
              <a:t>프로젝트 설명</a:t>
            </a: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해당 프로젝트는 외국인이 방문한 국가에서 언어 장벽으로 인해 웹사이트나 박물관 설명 텍스트를 이해하기 어려운 문제를 해결하기 위해 시작되었습니다. OCR 기술을 활용해 이미지에서 텍스트를 추출하고, 구글 번역 API를 통해 원하는 언어로 번역한 후, 가장 관련성 높은 상위 5개의 웹 링크를 제공하며 해당 내용을 요약하고 번역된 결과를 보여주는 서비스를 개발하였습니다. 사용자는 언어적 장벽을 넘어 문화적 콘텐츠를 쉽게 이해하고 탐색할 수 있게 되었으며, 프로젝트는 사용자 중심의 정보 제공 서비스를 하는것에 중점을 두었습니다.</a:t>
            </a:r>
            <a:endParaRPr/>
          </a:p>
        </p:txBody>
      </p:sp>
      <p:sp>
        <p:nvSpPr>
          <p:cNvPr id="131" name="Google Shape;131;p14"/>
          <p:cNvSpPr txBox="1"/>
          <p:nvPr/>
        </p:nvSpPr>
        <p:spPr>
          <a:xfrm>
            <a:off x="9127309" y="959759"/>
            <a:ext cx="7598589" cy="76681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ko-KR" sz="1051" b="1">
                <a:solidFill>
                  <a:schemeClr val="dk1"/>
                </a:solidFill>
                <a:latin typeface="Calibri"/>
                <a:ea typeface="Calibri"/>
                <a:cs typeface="Calibri"/>
                <a:sym typeface="Calibri"/>
              </a:rPr>
              <a:t>개발 관련 설명</a:t>
            </a:r>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 먼저 유물과 관련된 설명을 사진을 찍어서 웹 사이트에 전송하면 OCR을 이용해 텍스트를 추출하고 해당 국가의 언어로 번역을 해주고, ketbert로 키워드를 추출하여 관련 검색결과를 보여줍니다.</a:t>
            </a:r>
            <a:endParaRPr sz="1000">
              <a:solidFill>
                <a:schemeClr val="dk1"/>
              </a:solidFill>
              <a:latin typeface="Calibri"/>
              <a:ea typeface="Calibri"/>
              <a:cs typeface="Calibri"/>
              <a:sym typeface="Calibri"/>
            </a:endParaRPr>
          </a:p>
        </p:txBody>
      </p:sp>
      <p:pic>
        <p:nvPicPr>
          <p:cNvPr id="132" name="Google Shape;132;p14"/>
          <p:cNvPicPr preferRelativeResize="0"/>
          <p:nvPr/>
        </p:nvPicPr>
        <p:blipFill rotWithShape="1">
          <a:blip r:embed="rId7">
            <a:alphaModFix/>
          </a:blip>
          <a:srcRect/>
          <a:stretch/>
        </p:blipFill>
        <p:spPr>
          <a:xfrm>
            <a:off x="9942792" y="5332474"/>
            <a:ext cx="5697257" cy="2033525"/>
          </a:xfrm>
          <a:prstGeom prst="rect">
            <a:avLst/>
          </a:prstGeom>
          <a:noFill/>
          <a:ln>
            <a:noFill/>
          </a:ln>
        </p:spPr>
      </p:pic>
      <p:pic>
        <p:nvPicPr>
          <p:cNvPr id="133" name="Google Shape;133;p14"/>
          <p:cNvPicPr preferRelativeResize="0"/>
          <p:nvPr/>
        </p:nvPicPr>
        <p:blipFill rotWithShape="1">
          <a:blip r:embed="rId8">
            <a:alphaModFix/>
          </a:blip>
          <a:srcRect/>
          <a:stretch/>
        </p:blipFill>
        <p:spPr>
          <a:xfrm>
            <a:off x="10076559" y="1784467"/>
            <a:ext cx="5365151" cy="2272463"/>
          </a:xfrm>
          <a:prstGeom prst="rect">
            <a:avLst/>
          </a:prstGeom>
          <a:noFill/>
          <a:ln>
            <a:noFill/>
          </a:ln>
        </p:spPr>
      </p:pic>
      <p:sp>
        <p:nvSpPr>
          <p:cNvPr id="25" name="Google Shape;158;p15"/>
          <p:cNvSpPr txBox="1"/>
          <p:nvPr/>
        </p:nvSpPr>
        <p:spPr>
          <a:xfrm>
            <a:off x="9309100" y="7685879"/>
            <a:ext cx="6495376" cy="923289"/>
          </a:xfrm>
          <a:prstGeom prst="rect">
            <a:avLst/>
          </a:prstGeom>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b="1" dirty="0">
                <a:solidFill>
                  <a:schemeClr val="dk1"/>
                </a:solidFill>
                <a:latin typeface="Malgun Gothic"/>
                <a:ea typeface="Malgun Gothic"/>
                <a:cs typeface="Malgun Gothic"/>
                <a:sym typeface="Calibri"/>
              </a:rPr>
              <a:t>주요 성과</a:t>
            </a:r>
            <a:endParaRPr b="1" dirty="0">
              <a:solidFill>
                <a:schemeClr val="dk1"/>
              </a:solidFill>
              <a:latin typeface="Malgun Gothic"/>
              <a:ea typeface="Malgun Gothic"/>
              <a:cs typeface="Malgun Gothic"/>
              <a:sym typeface="Calibri"/>
            </a:endParaRPr>
          </a:p>
          <a:p>
            <a:pPr lvl="0" algn="just">
              <a:lnSpc>
                <a:spcPct val="150000"/>
              </a:lnSpc>
            </a:pPr>
            <a:r>
              <a:rPr lang="ko-KR" altLang="en-US" sz="1100" dirty="0">
                <a:solidFill>
                  <a:schemeClr val="dk1"/>
                </a:solidFill>
                <a:latin typeface="Calibri"/>
                <a:ea typeface="Calibri"/>
                <a:cs typeface="Calibri"/>
                <a:sym typeface="Calibri"/>
              </a:rPr>
              <a:t>“문장의 긍정</a:t>
            </a:r>
            <a:r>
              <a:rPr lang="en-US" altLang="ko-KR" sz="1100" dirty="0">
                <a:solidFill>
                  <a:schemeClr val="dk1"/>
                </a:solidFill>
                <a:latin typeface="Calibri"/>
                <a:ea typeface="Calibri"/>
                <a:cs typeface="Calibri"/>
                <a:sym typeface="Calibri"/>
              </a:rPr>
              <a:t>, </a:t>
            </a:r>
            <a:r>
              <a:rPr lang="ko-KR" altLang="en-US" sz="1100" dirty="0">
                <a:solidFill>
                  <a:schemeClr val="dk1"/>
                </a:solidFill>
                <a:latin typeface="Calibri"/>
                <a:ea typeface="Calibri"/>
                <a:cs typeface="Calibri"/>
                <a:sym typeface="Calibri"/>
              </a:rPr>
              <a:t>부정 판단 모델“ 및 “질의 응답 모델“ 제작</a:t>
            </a:r>
          </a:p>
          <a:p>
            <a:pPr lvl="0" algn="just">
              <a:lnSpc>
                <a:spcPct val="150000"/>
              </a:lnSpc>
            </a:pPr>
            <a:r>
              <a:rPr lang="ko-KR" altLang="en-US" sz="1100" dirty="0">
                <a:solidFill>
                  <a:schemeClr val="dk1"/>
                </a:solidFill>
                <a:latin typeface="Calibri"/>
                <a:ea typeface="Calibri"/>
                <a:cs typeface="Calibri"/>
                <a:sym typeface="Calibri"/>
              </a:rPr>
              <a:t>“박물관 </a:t>
            </a:r>
            <a:r>
              <a:rPr lang="en-US" altLang="ko-KR" sz="1100" dirty="0">
                <a:solidFill>
                  <a:schemeClr val="dk1"/>
                </a:solidFill>
                <a:latin typeface="Calibri"/>
                <a:ea typeface="Calibri"/>
                <a:cs typeface="Calibri"/>
                <a:sym typeface="Calibri"/>
              </a:rPr>
              <a:t>OCR </a:t>
            </a:r>
            <a:r>
              <a:rPr lang="ko-KR" altLang="en-US" sz="1100" dirty="0">
                <a:solidFill>
                  <a:schemeClr val="dk1"/>
                </a:solidFill>
                <a:latin typeface="Calibri"/>
                <a:ea typeface="Calibri"/>
                <a:cs typeface="Calibri"/>
                <a:sym typeface="Calibri"/>
              </a:rPr>
              <a:t>기반 </a:t>
            </a:r>
            <a:r>
              <a:rPr lang="ko-KR" altLang="en-US" sz="1100" dirty="0" err="1">
                <a:solidFill>
                  <a:schemeClr val="dk1"/>
                </a:solidFill>
                <a:latin typeface="Calibri"/>
                <a:ea typeface="Calibri"/>
                <a:cs typeface="Calibri"/>
                <a:sym typeface="Calibri"/>
              </a:rPr>
              <a:t>크롤링</a:t>
            </a:r>
            <a:r>
              <a:rPr lang="ko-KR" altLang="en-US" sz="1100" dirty="0">
                <a:solidFill>
                  <a:schemeClr val="dk1"/>
                </a:solidFill>
                <a:latin typeface="Calibri"/>
                <a:ea typeface="Calibri"/>
                <a:cs typeface="Calibri"/>
                <a:sym typeface="Calibri"/>
              </a:rPr>
              <a:t> 및 설명 웹사이트 서비스 제공“ 제작</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5"/>
          <p:cNvSpPr txBox="1"/>
          <p:nvPr/>
        </p:nvSpPr>
        <p:spPr>
          <a:xfrm>
            <a:off x="487363" y="261676"/>
            <a:ext cx="16238537" cy="518283"/>
          </a:xfrm>
          <a:prstGeom prst="rect">
            <a:avLst/>
          </a:prstGeom>
          <a:solidFill>
            <a:srgbClr val="0F395B"/>
          </a:solidFill>
          <a:ln w="9525" cap="flat" cmpd="sng">
            <a:solidFill>
              <a:srgbClr val="103B5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400" b="1">
              <a:solidFill>
                <a:schemeClr val="lt1"/>
              </a:solidFill>
              <a:latin typeface="Calibri"/>
              <a:ea typeface="Calibri"/>
              <a:cs typeface="Calibri"/>
              <a:sym typeface="Calibri"/>
            </a:endParaRPr>
          </a:p>
        </p:txBody>
      </p:sp>
      <p:sp>
        <p:nvSpPr>
          <p:cNvPr id="140" name="Google Shape;140;p15"/>
          <p:cNvSpPr/>
          <p:nvPr/>
        </p:nvSpPr>
        <p:spPr>
          <a:xfrm>
            <a:off x="884238" y="1074978"/>
            <a:ext cx="7384190" cy="395925"/>
          </a:xfrm>
          <a:prstGeom prst="roundRect">
            <a:avLst>
              <a:gd name="adj" fmla="val 7143"/>
            </a:avLst>
          </a:prstGeom>
          <a:solidFill>
            <a:srgbClr val="D0CECE">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41" name="Google Shape;141;p15"/>
          <p:cNvGrpSpPr/>
          <p:nvPr/>
        </p:nvGrpSpPr>
        <p:grpSpPr>
          <a:xfrm>
            <a:off x="0" y="-4"/>
            <a:ext cx="17610138" cy="9906004"/>
            <a:chOff x="-10796913" y="237463"/>
            <a:chExt cx="11867221" cy="6572030"/>
          </a:xfrm>
        </p:grpSpPr>
        <p:sp>
          <p:nvSpPr>
            <p:cNvPr id="142" name="Google Shape;142;p15"/>
            <p:cNvSpPr/>
            <p:nvPr/>
          </p:nvSpPr>
          <p:spPr>
            <a:xfrm rot="10800000" flipH="1">
              <a:off x="-10796913" y="237463"/>
              <a:ext cx="11087179" cy="1300855"/>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43" name="Google Shape;143;p15"/>
            <p:cNvSpPr/>
            <p:nvPr/>
          </p:nvSpPr>
          <p:spPr>
            <a:xfrm rot="10800000" flipH="1">
              <a:off x="-10796797" y="237464"/>
              <a:ext cx="5336657" cy="22192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44" name="Google Shape;144;p15"/>
            <p:cNvSpPr/>
            <p:nvPr/>
          </p:nvSpPr>
          <p:spPr>
            <a:xfrm flipH="1">
              <a:off x="-10796795" y="5771379"/>
              <a:ext cx="11867103" cy="10381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45" name="Google Shape;145;p15"/>
            <p:cNvSpPr/>
            <p:nvPr/>
          </p:nvSpPr>
          <p:spPr>
            <a:xfrm flipH="1">
              <a:off x="-2539137" y="4856978"/>
              <a:ext cx="3609444" cy="19525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grpSp>
      <p:sp>
        <p:nvSpPr>
          <p:cNvPr id="146" name="Google Shape;146;p15"/>
          <p:cNvSpPr/>
          <p:nvPr/>
        </p:nvSpPr>
        <p:spPr>
          <a:xfrm>
            <a:off x="982853" y="1151647"/>
            <a:ext cx="7675372" cy="283487"/>
          </a:xfrm>
          <a:prstGeom prst="roundRect">
            <a:avLst>
              <a:gd name="adj" fmla="val 6011"/>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1100">
                <a:solidFill>
                  <a:schemeClr val="lt1"/>
                </a:solidFill>
                <a:latin typeface="Calibri"/>
                <a:ea typeface="Calibri"/>
                <a:cs typeface="Calibri"/>
                <a:sym typeface="Calibri"/>
              </a:rPr>
              <a:t>💡 </a:t>
            </a:r>
            <a:r>
              <a:rPr lang="ko-KR" sz="1100" b="1">
                <a:solidFill>
                  <a:schemeClr val="dk1"/>
                </a:solidFill>
                <a:latin typeface="Calibri"/>
                <a:ea typeface="Calibri"/>
                <a:cs typeface="Calibri"/>
                <a:sym typeface="Calibri"/>
              </a:rPr>
              <a:t>프로젝트 요약 : 전기 자동차 데이터 BI tool을 활용한 구성요소 시각화 및 부하(고장) 예측</a:t>
            </a:r>
            <a:endParaRPr sz="1100">
              <a:solidFill>
                <a:schemeClr val="dk1"/>
              </a:solidFill>
              <a:latin typeface="Calibri"/>
              <a:ea typeface="Calibri"/>
              <a:cs typeface="Calibri"/>
              <a:sym typeface="Calibri"/>
            </a:endParaRPr>
          </a:p>
        </p:txBody>
      </p:sp>
      <p:sp>
        <p:nvSpPr>
          <p:cNvPr id="147" name="Google Shape;147;p15"/>
          <p:cNvSpPr txBox="1"/>
          <p:nvPr/>
        </p:nvSpPr>
        <p:spPr>
          <a:xfrm>
            <a:off x="579844" y="261675"/>
            <a:ext cx="8644842" cy="5182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200" b="1">
                <a:solidFill>
                  <a:schemeClr val="lt1"/>
                </a:solidFill>
                <a:latin typeface="Calibri"/>
                <a:ea typeface="Calibri"/>
                <a:cs typeface="Calibri"/>
                <a:sym typeface="Calibri"/>
              </a:rPr>
              <a:t>프로젝트명</a:t>
            </a:r>
            <a:endParaRPr sz="1200" b="1">
              <a:solidFill>
                <a:schemeClr val="lt1"/>
              </a:solidFill>
              <a:latin typeface="Calibri"/>
              <a:ea typeface="Calibri"/>
              <a:cs typeface="Calibri"/>
              <a:sym typeface="Calibri"/>
            </a:endParaRPr>
          </a:p>
          <a:p>
            <a:pPr marL="285744" marR="0" lvl="0" indent="-285744" algn="l" rtl="0">
              <a:lnSpc>
                <a:spcPct val="150000"/>
              </a:lnSpc>
              <a:spcBef>
                <a:spcPts val="0"/>
              </a:spcBef>
              <a:spcAft>
                <a:spcPts val="0"/>
              </a:spcAft>
              <a:buClr>
                <a:schemeClr val="lt1"/>
              </a:buClr>
              <a:buSzPts val="1200"/>
              <a:buFont typeface="Noto Sans Symbols"/>
              <a:buChar char="❑"/>
            </a:pPr>
            <a:r>
              <a:rPr lang="ko-KR" sz="1200" b="1">
                <a:solidFill>
                  <a:schemeClr val="lt1"/>
                </a:solidFill>
                <a:latin typeface="Calibri"/>
                <a:ea typeface="Calibri"/>
                <a:cs typeface="Calibri"/>
                <a:sym typeface="Calibri"/>
              </a:rPr>
              <a:t>Katech 서비스 플랫폼 개발</a:t>
            </a:r>
            <a:endParaRPr/>
          </a:p>
        </p:txBody>
      </p:sp>
      <p:sp>
        <p:nvSpPr>
          <p:cNvPr id="148" name="Google Shape;148;p15"/>
          <p:cNvSpPr txBox="1"/>
          <p:nvPr/>
        </p:nvSpPr>
        <p:spPr>
          <a:xfrm>
            <a:off x="9127310" y="4324840"/>
            <a:ext cx="7598590" cy="75507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GPS 데이터 분석을 통해 자동차의 이동 패턴, 주요 충전 지점 등을 파악하였고, Scoring 알고리즘을 기반으로 차량 별, 운행 별 Scoring_table생성하였습니다.</a:t>
            </a:r>
            <a:endParaRPr sz="1000">
              <a:solidFill>
                <a:schemeClr val="dk1"/>
              </a:solidFill>
              <a:latin typeface="Calibri"/>
              <a:ea typeface="Calibri"/>
              <a:cs typeface="Calibri"/>
              <a:sym typeface="Calibri"/>
            </a:endParaRPr>
          </a:p>
        </p:txBody>
      </p:sp>
      <p:sp>
        <p:nvSpPr>
          <p:cNvPr id="149" name="Google Shape;149;p15"/>
          <p:cNvSpPr txBox="1"/>
          <p:nvPr/>
        </p:nvSpPr>
        <p:spPr>
          <a:xfrm>
            <a:off x="4933937" y="1492752"/>
            <a:ext cx="4341840" cy="169482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Calibri"/>
                <a:ea typeface="Calibri"/>
                <a:cs typeface="Calibri"/>
                <a:sym typeface="Calibri"/>
              </a:rPr>
              <a:t>[프로젝트 세부 사항]</a:t>
            </a:r>
            <a:endParaRPr sz="1051" b="1">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프로젝트 기간 :</a:t>
            </a:r>
            <a:r>
              <a:rPr lang="ko-KR" sz="1000">
                <a:solidFill>
                  <a:schemeClr val="dk1"/>
                </a:solidFill>
                <a:latin typeface="Calibri"/>
                <a:ea typeface="Calibri"/>
                <a:cs typeface="Calibri"/>
                <a:sym typeface="Calibri"/>
              </a:rPr>
              <a:t> 2021.03.01 ~ 2021.06.30</a:t>
            </a:r>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개발 인원 :</a:t>
            </a:r>
            <a:r>
              <a:rPr lang="ko-KR" sz="1000">
                <a:solidFill>
                  <a:schemeClr val="dk1"/>
                </a:solidFill>
                <a:latin typeface="Calibri"/>
                <a:ea typeface="Calibri"/>
                <a:cs typeface="Calibri"/>
                <a:sym typeface="Calibri"/>
              </a:rPr>
              <a:t> 3명</a:t>
            </a: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연계/주관기업 : </a:t>
            </a:r>
            <a:r>
              <a:rPr lang="ko-KR" sz="1000">
                <a:solidFill>
                  <a:schemeClr val="dk1"/>
                </a:solidFill>
                <a:latin typeface="Calibri"/>
                <a:ea typeface="Calibri"/>
                <a:cs typeface="Calibri"/>
                <a:sym typeface="Calibri"/>
              </a:rPr>
              <a:t>Katech(한국자동차 연구원)</a:t>
            </a: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담당 업무 : </a:t>
            </a:r>
            <a:r>
              <a:rPr lang="ko-KR" sz="1000">
                <a:solidFill>
                  <a:schemeClr val="dk1"/>
                </a:solidFill>
                <a:latin typeface="Calibri"/>
                <a:ea typeface="Calibri"/>
                <a:cs typeface="Calibri"/>
                <a:sym typeface="Calibri"/>
              </a:rPr>
              <a:t>AI모델과 Integer Programming을 통한 최적 알고리즘 개발 </a:t>
            </a: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기술 스택 : </a:t>
            </a:r>
            <a:r>
              <a:rPr lang="ko-KR" sz="1000">
                <a:solidFill>
                  <a:schemeClr val="dk1"/>
                </a:solidFill>
                <a:latin typeface="Calibri"/>
                <a:ea typeface="Calibri"/>
                <a:cs typeface="Calibri"/>
                <a:sym typeface="Calibri"/>
              </a:rPr>
              <a:t>R studio, Tableau, Python, DNN, LSTM</a:t>
            </a: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오픈소스 &amp; 라이브러리 :</a:t>
            </a:r>
            <a:r>
              <a:rPr lang="ko-KR" sz="1000" b="1">
                <a:solidFill>
                  <a:srgbClr val="000000"/>
                </a:solidFill>
                <a:latin typeface="Calibri"/>
                <a:ea typeface="Calibri"/>
                <a:cs typeface="Calibri"/>
                <a:sym typeface="Calibri"/>
              </a:rPr>
              <a:t> </a:t>
            </a:r>
            <a:r>
              <a:rPr lang="ko-KR" sz="1000">
                <a:solidFill>
                  <a:srgbClr val="000000"/>
                </a:solidFill>
                <a:latin typeface="Calibri"/>
                <a:ea typeface="Calibri"/>
                <a:cs typeface="Calibri"/>
                <a:sym typeface="Calibri"/>
              </a:rPr>
              <a:t>numDeriv, nls2, MASS, </a:t>
            </a:r>
            <a:r>
              <a:rPr lang="ko-KR" sz="1000">
                <a:solidFill>
                  <a:schemeClr val="dk1"/>
                </a:solidFill>
                <a:latin typeface="Calibri"/>
                <a:ea typeface="Calibri"/>
                <a:cs typeface="Calibri"/>
                <a:sym typeface="Calibri"/>
              </a:rPr>
              <a:t>tidyr, caret</a:t>
            </a:r>
            <a:endParaRPr sz="1000">
              <a:solidFill>
                <a:srgbClr val="000000"/>
              </a:solidFill>
              <a:latin typeface="Calibri"/>
              <a:ea typeface="Calibri"/>
              <a:cs typeface="Calibri"/>
              <a:sym typeface="Calibri"/>
            </a:endParaRPr>
          </a:p>
        </p:txBody>
      </p:sp>
      <p:sp>
        <p:nvSpPr>
          <p:cNvPr id="150" name="Google Shape;150;p15"/>
          <p:cNvSpPr txBox="1"/>
          <p:nvPr/>
        </p:nvSpPr>
        <p:spPr>
          <a:xfrm>
            <a:off x="803314" y="1491011"/>
            <a:ext cx="4341840" cy="243175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Calibri"/>
                <a:ea typeface="Calibri"/>
                <a:cs typeface="Calibri"/>
                <a:sym typeface="Calibri"/>
              </a:rPr>
              <a:t>[주요 업무]</a:t>
            </a:r>
            <a:endParaRPr sz="1051">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1. Scoreing 알고리즘 개발</a:t>
            </a:r>
            <a:endParaRPr sz="1000" b="1">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GPS 데이터 분석을 통해 자동차의 이동 패턴, 주요 충전 지점 등을 파악.   </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Factor Labeling 알고리즘을 활용하여 운행 정보 데이터 가공 및 </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데이터 마트 구축.</a:t>
            </a:r>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CDF를 기반으로 하는 Scoring알고리즘 개발</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Scoring 알고리즘을 기반으로 차량 별, 운행 별 Scoring_table생성</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b="1">
                <a:solidFill>
                  <a:schemeClr val="dk1"/>
                </a:solidFill>
                <a:latin typeface="Calibri"/>
                <a:ea typeface="Calibri"/>
                <a:cs typeface="Calibri"/>
                <a:sym typeface="Calibri"/>
              </a:rPr>
              <a:t>2. 정보 제공 UI 툴 제작</a:t>
            </a:r>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차량 운행 정보 데이터 기반의 의사결정 지원</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예상 고장 차량 지표를 통한 차량 부품 재고에 유동적인 대처 가능</a:t>
            </a:r>
            <a:endParaRPr sz="9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900">
                <a:solidFill>
                  <a:schemeClr val="dk1"/>
                </a:solidFill>
                <a:latin typeface="Calibri"/>
                <a:ea typeface="Calibri"/>
                <a:cs typeface="Calibri"/>
                <a:sym typeface="Calibri"/>
              </a:rPr>
              <a:t>    - 차량 위치 모니터링을 통한 차량 위치 정보 파악 </a:t>
            </a:r>
            <a:endParaRPr sz="900">
              <a:solidFill>
                <a:schemeClr val="dk1"/>
              </a:solidFill>
              <a:latin typeface="Calibri"/>
              <a:ea typeface="Calibri"/>
              <a:cs typeface="Calibri"/>
              <a:sym typeface="Calibri"/>
            </a:endParaRPr>
          </a:p>
        </p:txBody>
      </p:sp>
      <p:pic>
        <p:nvPicPr>
          <p:cNvPr id="151" name="Google Shape;151;p15"/>
          <p:cNvPicPr preferRelativeResize="0"/>
          <p:nvPr/>
        </p:nvPicPr>
        <p:blipFill rotWithShape="1">
          <a:blip r:embed="rId3">
            <a:alphaModFix/>
          </a:blip>
          <a:srcRect/>
          <a:stretch/>
        </p:blipFill>
        <p:spPr>
          <a:xfrm>
            <a:off x="833343" y="3922767"/>
            <a:ext cx="4900085" cy="2943325"/>
          </a:xfrm>
          <a:prstGeom prst="rect">
            <a:avLst/>
          </a:prstGeom>
          <a:noFill/>
          <a:ln>
            <a:noFill/>
          </a:ln>
        </p:spPr>
      </p:pic>
      <p:pic>
        <p:nvPicPr>
          <p:cNvPr id="152" name="Google Shape;152;p15"/>
          <p:cNvPicPr preferRelativeResize="0"/>
          <p:nvPr/>
        </p:nvPicPr>
        <p:blipFill rotWithShape="1">
          <a:blip r:embed="rId4">
            <a:alphaModFix/>
          </a:blip>
          <a:srcRect/>
          <a:stretch/>
        </p:blipFill>
        <p:spPr>
          <a:xfrm>
            <a:off x="6047618" y="3923887"/>
            <a:ext cx="2542251" cy="1443043"/>
          </a:xfrm>
          <a:prstGeom prst="rect">
            <a:avLst/>
          </a:prstGeom>
          <a:noFill/>
          <a:ln>
            <a:noFill/>
          </a:ln>
        </p:spPr>
      </p:pic>
      <p:pic>
        <p:nvPicPr>
          <p:cNvPr id="153" name="Google Shape;153;p15"/>
          <p:cNvPicPr preferRelativeResize="0"/>
          <p:nvPr/>
        </p:nvPicPr>
        <p:blipFill rotWithShape="1">
          <a:blip r:embed="rId5">
            <a:alphaModFix/>
          </a:blip>
          <a:srcRect/>
          <a:stretch/>
        </p:blipFill>
        <p:spPr>
          <a:xfrm>
            <a:off x="6047618" y="5533957"/>
            <a:ext cx="2542251" cy="1423057"/>
          </a:xfrm>
          <a:prstGeom prst="rect">
            <a:avLst/>
          </a:prstGeom>
          <a:noFill/>
          <a:ln>
            <a:noFill/>
          </a:ln>
        </p:spPr>
      </p:pic>
      <p:sp>
        <p:nvSpPr>
          <p:cNvPr id="154" name="Google Shape;154;p15"/>
          <p:cNvSpPr txBox="1"/>
          <p:nvPr/>
        </p:nvSpPr>
        <p:spPr>
          <a:xfrm>
            <a:off x="812801" y="7432574"/>
            <a:ext cx="7812088" cy="123315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Calibri"/>
                <a:ea typeface="Calibri"/>
                <a:cs typeface="Calibri"/>
                <a:sym typeface="Calibri"/>
              </a:rPr>
              <a:t>프로젝트 설명</a:t>
            </a:r>
            <a:endParaRPr sz="1051" b="1">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본 프로젝트는  Katech에서 초소형 전기자동차의 데이터들을 가지고 시각화 및 고장 예측을 원하였습니다. 이에 우선 시각화를 위해 데이터들을 다방면에서 분석 및 가공하여 차량의 이동 정보(GPS), 예상 고장 차량 지표 등을 만들고 시각화 하였습니다. 이에 차량의 위치와 급가속 급정거 운행거리등을 가지고 개인의 운전 점수를 알 수 있게 하였고 개인의 운행 습관을 고칠 수도 있게 하였으며, 각각의 차량의 고장원인이 어떤 것이 높을지 예측 할 수 있게 하였습니다.</a:t>
            </a:r>
            <a:endParaRPr/>
          </a:p>
        </p:txBody>
      </p:sp>
      <p:sp>
        <p:nvSpPr>
          <p:cNvPr id="155" name="Google Shape;155;p15"/>
          <p:cNvSpPr txBox="1"/>
          <p:nvPr/>
        </p:nvSpPr>
        <p:spPr>
          <a:xfrm>
            <a:off x="9127309" y="964767"/>
            <a:ext cx="7598590" cy="76681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ko-KR" sz="1051" b="1">
                <a:solidFill>
                  <a:schemeClr val="dk1"/>
                </a:solidFill>
                <a:latin typeface="Calibri"/>
                <a:ea typeface="Calibri"/>
                <a:cs typeface="Calibri"/>
                <a:sym typeface="Calibri"/>
              </a:rPr>
              <a:t>개발 관련 설명</a:t>
            </a:r>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 전기자동차의 Row data를 기술통계 후 Z-score를 통해 결측치를 제거하고, 기업 요구사항에 맞게 데이터 마트, Factor Labeling table을 활용하여 Meta 데이터(Count table) 생성하였습니다.</a:t>
            </a:r>
            <a:endParaRPr sz="1000">
              <a:solidFill>
                <a:schemeClr val="dk1"/>
              </a:solidFill>
              <a:latin typeface="Calibri"/>
              <a:ea typeface="Calibri"/>
              <a:cs typeface="Calibri"/>
              <a:sym typeface="Calibri"/>
            </a:endParaRPr>
          </a:p>
        </p:txBody>
      </p:sp>
      <p:pic>
        <p:nvPicPr>
          <p:cNvPr id="156" name="Google Shape;156;p15"/>
          <p:cNvPicPr preferRelativeResize="0"/>
          <p:nvPr/>
        </p:nvPicPr>
        <p:blipFill rotWithShape="1">
          <a:blip r:embed="rId6">
            <a:alphaModFix/>
          </a:blip>
          <a:srcRect/>
          <a:stretch/>
        </p:blipFill>
        <p:spPr>
          <a:xfrm>
            <a:off x="9942791" y="1907702"/>
            <a:ext cx="5697257" cy="2417135"/>
          </a:xfrm>
          <a:prstGeom prst="rect">
            <a:avLst/>
          </a:prstGeom>
          <a:noFill/>
          <a:ln>
            <a:noFill/>
          </a:ln>
        </p:spPr>
      </p:pic>
      <p:pic>
        <p:nvPicPr>
          <p:cNvPr id="157" name="Google Shape;157;p15"/>
          <p:cNvPicPr preferRelativeResize="0"/>
          <p:nvPr/>
        </p:nvPicPr>
        <p:blipFill rotWithShape="1">
          <a:blip r:embed="rId7">
            <a:alphaModFix/>
          </a:blip>
          <a:srcRect/>
          <a:stretch/>
        </p:blipFill>
        <p:spPr>
          <a:xfrm>
            <a:off x="10476561" y="5121114"/>
            <a:ext cx="4900085" cy="2173573"/>
          </a:xfrm>
          <a:prstGeom prst="rect">
            <a:avLst/>
          </a:prstGeom>
          <a:noFill/>
          <a:ln>
            <a:noFill/>
          </a:ln>
        </p:spPr>
      </p:pic>
      <p:sp>
        <p:nvSpPr>
          <p:cNvPr id="158" name="Google Shape;158;p15"/>
          <p:cNvSpPr txBox="1"/>
          <p:nvPr/>
        </p:nvSpPr>
        <p:spPr>
          <a:xfrm>
            <a:off x="9325649" y="7685879"/>
            <a:ext cx="6495376" cy="923289"/>
          </a:xfrm>
          <a:prstGeom prst="rect">
            <a:avLst/>
          </a:prstGeom>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b="1" dirty="0">
                <a:solidFill>
                  <a:schemeClr val="dk1"/>
                </a:solidFill>
                <a:latin typeface="Malgun Gothic"/>
                <a:ea typeface="Malgun Gothic"/>
                <a:cs typeface="Malgun Gothic"/>
                <a:sym typeface="Calibri"/>
              </a:rPr>
              <a:t>주요 성과</a:t>
            </a:r>
            <a:endParaRPr b="1" dirty="0">
              <a:solidFill>
                <a:schemeClr val="dk1"/>
              </a:solidFill>
              <a:latin typeface="Malgun Gothic"/>
              <a:ea typeface="Malgun Gothic"/>
              <a:cs typeface="Malgun Gothic"/>
              <a:sym typeface="Calibri"/>
            </a:endParaRPr>
          </a:p>
          <a:p>
            <a:pPr marL="0" marR="0" lvl="0" indent="0" algn="just" rtl="0">
              <a:lnSpc>
                <a:spcPct val="150000"/>
              </a:lnSpc>
              <a:spcBef>
                <a:spcPts val="0"/>
              </a:spcBef>
              <a:spcAft>
                <a:spcPts val="0"/>
              </a:spcAft>
              <a:buNone/>
            </a:pPr>
            <a:r>
              <a:rPr lang="ko-KR" sz="1100" dirty="0" err="1">
                <a:solidFill>
                  <a:schemeClr val="dk1"/>
                </a:solidFill>
                <a:latin typeface="Calibri"/>
                <a:ea typeface="Calibri"/>
                <a:cs typeface="Calibri"/>
                <a:sym typeface="Calibri"/>
              </a:rPr>
              <a:t>Katech</a:t>
            </a:r>
            <a:r>
              <a:rPr lang="ko-KR" sz="1100" dirty="0">
                <a:solidFill>
                  <a:schemeClr val="dk1"/>
                </a:solidFill>
                <a:latin typeface="Calibri"/>
                <a:ea typeface="Calibri"/>
                <a:cs typeface="Calibri"/>
                <a:sym typeface="Calibri"/>
              </a:rPr>
              <a:t> 초소형 전기차 </a:t>
            </a:r>
            <a:r>
              <a:rPr lang="ko-KR" sz="1100" dirty="0" err="1">
                <a:solidFill>
                  <a:schemeClr val="dk1"/>
                </a:solidFill>
                <a:latin typeface="Calibri"/>
                <a:ea typeface="Calibri"/>
                <a:cs typeface="Calibri"/>
                <a:sym typeface="Calibri"/>
              </a:rPr>
              <a:t>운행기록</a:t>
            </a:r>
            <a:r>
              <a:rPr lang="ko-KR" sz="1100" dirty="0">
                <a:solidFill>
                  <a:schemeClr val="dk1"/>
                </a:solidFill>
                <a:latin typeface="Calibri"/>
                <a:ea typeface="Calibri"/>
                <a:cs typeface="Calibri"/>
                <a:sym typeface="Calibri"/>
              </a:rPr>
              <a:t> </a:t>
            </a:r>
            <a:r>
              <a:rPr lang="ko-KR" sz="1100" dirty="0" err="1">
                <a:solidFill>
                  <a:schemeClr val="dk1"/>
                </a:solidFill>
                <a:latin typeface="Calibri"/>
                <a:ea typeface="Calibri"/>
                <a:cs typeface="Calibri"/>
                <a:sym typeface="Calibri"/>
              </a:rPr>
              <a:t>Scoring</a:t>
            </a:r>
            <a:r>
              <a:rPr lang="ko-KR" sz="1100" dirty="0">
                <a:solidFill>
                  <a:schemeClr val="dk1"/>
                </a:solidFill>
                <a:latin typeface="Calibri"/>
                <a:ea typeface="Calibri"/>
                <a:cs typeface="Calibri"/>
                <a:sym typeface="Calibri"/>
              </a:rPr>
              <a:t> 알고리즘 개발</a:t>
            </a:r>
            <a:endParaRPr sz="1100"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100" dirty="0" err="1">
                <a:solidFill>
                  <a:schemeClr val="dk1"/>
                </a:solidFill>
                <a:latin typeface="Calibri"/>
                <a:ea typeface="Calibri"/>
                <a:cs typeface="Calibri"/>
                <a:sym typeface="Calibri"/>
              </a:rPr>
              <a:t>Katech</a:t>
            </a:r>
            <a:r>
              <a:rPr lang="ko-KR" sz="1100" dirty="0">
                <a:solidFill>
                  <a:schemeClr val="dk1"/>
                </a:solidFill>
                <a:latin typeface="Calibri"/>
                <a:ea typeface="Calibri"/>
                <a:cs typeface="Calibri"/>
                <a:sym typeface="Calibri"/>
              </a:rPr>
              <a:t> 초소형 전기차 실증 데이터를 활용한 서비스 플랫폼 개발</a:t>
            </a:r>
            <a:endParaRPr sz="1100"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6"/>
          <p:cNvSpPr txBox="1"/>
          <p:nvPr/>
        </p:nvSpPr>
        <p:spPr>
          <a:xfrm>
            <a:off x="487363" y="261676"/>
            <a:ext cx="16238537" cy="518283"/>
          </a:xfrm>
          <a:prstGeom prst="rect">
            <a:avLst/>
          </a:prstGeom>
          <a:solidFill>
            <a:srgbClr val="0F395B"/>
          </a:solidFill>
          <a:ln w="9525" cap="flat" cmpd="sng">
            <a:solidFill>
              <a:srgbClr val="103B5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400" b="1">
              <a:solidFill>
                <a:schemeClr val="lt1"/>
              </a:solidFill>
              <a:latin typeface="Calibri"/>
              <a:ea typeface="Calibri"/>
              <a:cs typeface="Calibri"/>
              <a:sym typeface="Calibri"/>
            </a:endParaRPr>
          </a:p>
        </p:txBody>
      </p:sp>
      <p:sp>
        <p:nvSpPr>
          <p:cNvPr id="164" name="Google Shape;164;p16"/>
          <p:cNvSpPr/>
          <p:nvPr/>
        </p:nvSpPr>
        <p:spPr>
          <a:xfrm>
            <a:off x="884238" y="1074978"/>
            <a:ext cx="7384190" cy="395925"/>
          </a:xfrm>
          <a:prstGeom prst="roundRect">
            <a:avLst>
              <a:gd name="adj" fmla="val 7143"/>
            </a:avLst>
          </a:prstGeom>
          <a:solidFill>
            <a:srgbClr val="D0CECE">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65" name="Google Shape;165;p16"/>
          <p:cNvGrpSpPr/>
          <p:nvPr/>
        </p:nvGrpSpPr>
        <p:grpSpPr>
          <a:xfrm>
            <a:off x="0" y="0"/>
            <a:ext cx="17610138" cy="9906004"/>
            <a:chOff x="-10796913" y="237463"/>
            <a:chExt cx="11867221" cy="6572030"/>
          </a:xfrm>
        </p:grpSpPr>
        <p:sp>
          <p:nvSpPr>
            <p:cNvPr id="166" name="Google Shape;166;p16"/>
            <p:cNvSpPr/>
            <p:nvPr/>
          </p:nvSpPr>
          <p:spPr>
            <a:xfrm rot="10800000" flipH="1">
              <a:off x="-10796913" y="237463"/>
              <a:ext cx="11087179" cy="1300855"/>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67" name="Google Shape;167;p16"/>
            <p:cNvSpPr/>
            <p:nvPr/>
          </p:nvSpPr>
          <p:spPr>
            <a:xfrm rot="10800000" flipH="1">
              <a:off x="-10796797" y="237464"/>
              <a:ext cx="5336657" cy="22192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68" name="Google Shape;168;p16"/>
            <p:cNvSpPr/>
            <p:nvPr/>
          </p:nvSpPr>
          <p:spPr>
            <a:xfrm flipH="1">
              <a:off x="-10796795" y="5771379"/>
              <a:ext cx="11867103" cy="10381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69" name="Google Shape;169;p16"/>
            <p:cNvSpPr/>
            <p:nvPr/>
          </p:nvSpPr>
          <p:spPr>
            <a:xfrm flipH="1">
              <a:off x="-2539137" y="4856978"/>
              <a:ext cx="3609444" cy="19525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grpSp>
      <p:sp>
        <p:nvSpPr>
          <p:cNvPr id="170" name="Google Shape;170;p16"/>
          <p:cNvSpPr/>
          <p:nvPr/>
        </p:nvSpPr>
        <p:spPr>
          <a:xfrm>
            <a:off x="982853" y="1151647"/>
            <a:ext cx="7675372" cy="283487"/>
          </a:xfrm>
          <a:prstGeom prst="roundRect">
            <a:avLst>
              <a:gd name="adj" fmla="val 6011"/>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1100">
                <a:solidFill>
                  <a:schemeClr val="lt1"/>
                </a:solidFill>
                <a:latin typeface="Calibri"/>
                <a:ea typeface="Calibri"/>
                <a:cs typeface="Calibri"/>
                <a:sym typeface="Calibri"/>
              </a:rPr>
              <a:t>💡 </a:t>
            </a:r>
            <a:r>
              <a:rPr lang="ko-KR" sz="1100" b="1">
                <a:solidFill>
                  <a:schemeClr val="dk1"/>
                </a:solidFill>
                <a:latin typeface="Calibri"/>
                <a:ea typeface="Calibri"/>
                <a:cs typeface="Calibri"/>
                <a:sym typeface="Calibri"/>
              </a:rPr>
              <a:t>프로젝트 요약 : 기업 내 사용 중인 공기식 기화기의 효율적인 운영을 위한 최적화 방안 모색</a:t>
            </a:r>
            <a:endParaRPr sz="1100">
              <a:solidFill>
                <a:schemeClr val="dk1"/>
              </a:solidFill>
              <a:latin typeface="Calibri"/>
              <a:ea typeface="Calibri"/>
              <a:cs typeface="Calibri"/>
              <a:sym typeface="Calibri"/>
            </a:endParaRPr>
          </a:p>
        </p:txBody>
      </p:sp>
      <p:sp>
        <p:nvSpPr>
          <p:cNvPr id="171" name="Google Shape;171;p16"/>
          <p:cNvSpPr txBox="1"/>
          <p:nvPr/>
        </p:nvSpPr>
        <p:spPr>
          <a:xfrm>
            <a:off x="579844" y="261675"/>
            <a:ext cx="8644842" cy="5182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200" b="1">
                <a:solidFill>
                  <a:schemeClr val="lt1"/>
                </a:solidFill>
                <a:latin typeface="Calibri"/>
                <a:ea typeface="Calibri"/>
                <a:cs typeface="Calibri"/>
                <a:sym typeface="Calibri"/>
              </a:rPr>
              <a:t>프로젝트명</a:t>
            </a:r>
            <a:endParaRPr sz="1200" b="1">
              <a:solidFill>
                <a:schemeClr val="lt1"/>
              </a:solidFill>
              <a:latin typeface="Calibri"/>
              <a:ea typeface="Calibri"/>
              <a:cs typeface="Calibri"/>
              <a:sym typeface="Calibri"/>
            </a:endParaRPr>
          </a:p>
          <a:p>
            <a:pPr marL="285744" marR="0" lvl="0" indent="-285744" algn="l" rtl="0">
              <a:lnSpc>
                <a:spcPct val="150000"/>
              </a:lnSpc>
              <a:spcBef>
                <a:spcPts val="0"/>
              </a:spcBef>
              <a:spcAft>
                <a:spcPts val="0"/>
              </a:spcAft>
              <a:buClr>
                <a:schemeClr val="lt1"/>
              </a:buClr>
              <a:buSzPts val="1200"/>
              <a:buFont typeface="Noto Sans Symbols"/>
              <a:buChar char="❑"/>
            </a:pPr>
            <a:r>
              <a:rPr lang="ko-KR" sz="1200" b="1">
                <a:solidFill>
                  <a:schemeClr val="lt1"/>
                </a:solidFill>
                <a:latin typeface="Calibri"/>
                <a:ea typeface="Calibri"/>
                <a:cs typeface="Calibri"/>
                <a:sym typeface="Calibri"/>
              </a:rPr>
              <a:t>공기식 기화기 에너지 사용 효율화와 안정적 설비 운용을 위한 인공지능 시스템 개발 </a:t>
            </a:r>
            <a:endParaRPr/>
          </a:p>
        </p:txBody>
      </p:sp>
      <p:sp>
        <p:nvSpPr>
          <p:cNvPr id="172" name="Google Shape;172;p16"/>
          <p:cNvSpPr txBox="1"/>
          <p:nvPr/>
        </p:nvSpPr>
        <p:spPr>
          <a:xfrm>
            <a:off x="9127310" y="4324840"/>
            <a:ext cx="7598590" cy="75507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공기식 기화기 효율 향상을 위한 자동 운영 시스템을 만들기 위해 Integer Programming 모델을 이용하여 실시간으로 변화하는 대기 상태에 대한 최적의 운영 대수와 팬 회전수를 지정하는 알고리즘을 개발하였습니다. </a:t>
            </a:r>
            <a:endParaRPr sz="1000">
              <a:solidFill>
                <a:schemeClr val="dk1"/>
              </a:solidFill>
              <a:latin typeface="Calibri"/>
              <a:ea typeface="Calibri"/>
              <a:cs typeface="Calibri"/>
              <a:sym typeface="Calibri"/>
            </a:endParaRPr>
          </a:p>
        </p:txBody>
      </p:sp>
      <p:sp>
        <p:nvSpPr>
          <p:cNvPr id="173" name="Google Shape;173;p16"/>
          <p:cNvSpPr txBox="1"/>
          <p:nvPr/>
        </p:nvSpPr>
        <p:spPr>
          <a:xfrm>
            <a:off x="812801" y="7432574"/>
            <a:ext cx="7812088" cy="147534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100" b="1" dirty="0">
                <a:solidFill>
                  <a:schemeClr val="dk1"/>
                </a:solidFill>
                <a:latin typeface="Calibri"/>
                <a:ea typeface="Calibri"/>
                <a:cs typeface="Calibri"/>
                <a:sym typeface="Calibri"/>
              </a:rPr>
              <a:t>프로젝트 설명</a:t>
            </a:r>
            <a:endParaRPr sz="1100" b="1"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dirty="0">
                <a:solidFill>
                  <a:schemeClr val="dk1"/>
                </a:solidFill>
                <a:latin typeface="Calibri"/>
                <a:ea typeface="Calibri"/>
                <a:cs typeface="Calibri"/>
                <a:sym typeface="Calibri"/>
              </a:rPr>
              <a:t>본 프로젝트는 기업 내 공기식 기화기의 효율적인 운영을 최적화하기 위해 시작되었습니다. 공기식 기화기는 한국에서 세계 최초로 시도하는 신사업이였기 </a:t>
            </a:r>
            <a:r>
              <a:rPr lang="ko-KR" sz="1000" dirty="0" err="1">
                <a:solidFill>
                  <a:schemeClr val="dk1"/>
                </a:solidFill>
                <a:latin typeface="Calibri"/>
                <a:ea typeface="Calibri"/>
                <a:cs typeface="Calibri"/>
                <a:sym typeface="Calibri"/>
              </a:rPr>
              <a:t>떄문에</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해수식</a:t>
            </a:r>
            <a:r>
              <a:rPr lang="ko-KR" sz="1000" dirty="0">
                <a:solidFill>
                  <a:schemeClr val="dk1"/>
                </a:solidFill>
                <a:latin typeface="Calibri"/>
                <a:ea typeface="Calibri"/>
                <a:cs typeface="Calibri"/>
                <a:sym typeface="Calibri"/>
              </a:rPr>
              <a:t> 및 </a:t>
            </a:r>
            <a:r>
              <a:rPr lang="ko-KR" sz="1000" dirty="0" err="1">
                <a:solidFill>
                  <a:schemeClr val="dk1"/>
                </a:solidFill>
                <a:latin typeface="Calibri"/>
                <a:ea typeface="Calibri"/>
                <a:cs typeface="Calibri"/>
                <a:sym typeface="Calibri"/>
              </a:rPr>
              <a:t>연소식</a:t>
            </a:r>
            <a:r>
              <a:rPr lang="ko-KR" sz="1000" dirty="0">
                <a:solidFill>
                  <a:schemeClr val="dk1"/>
                </a:solidFill>
                <a:latin typeface="Calibri"/>
                <a:ea typeface="Calibri"/>
                <a:cs typeface="Calibri"/>
                <a:sym typeface="Calibri"/>
              </a:rPr>
              <a:t> 기화기에 비해 운영 경험과 데이터가 부족하며, 팬 속도와 기화 시간 등의 운영 조건이 운영자의 경험에 의존하고 있었습니다. 이를 해결하기 위해 운영의 최적화와 자동화를 위한 기술 개발이 필요했습니다. </a:t>
            </a:r>
            <a:r>
              <a:rPr lang="ko-KR" sz="1000" dirty="0" err="1">
                <a:solidFill>
                  <a:schemeClr val="dk1"/>
                </a:solidFill>
                <a:latin typeface="Calibri"/>
                <a:ea typeface="Calibri"/>
                <a:cs typeface="Calibri"/>
                <a:sym typeface="Calibri"/>
              </a:rPr>
              <a:t>설비별</a:t>
            </a:r>
            <a:r>
              <a:rPr lang="ko-KR" sz="1000" dirty="0">
                <a:solidFill>
                  <a:schemeClr val="dk1"/>
                </a:solidFill>
                <a:latin typeface="Calibri"/>
                <a:ea typeface="Calibri"/>
                <a:cs typeface="Calibri"/>
                <a:sym typeface="Calibri"/>
              </a:rPr>
              <a:t> 전력 </a:t>
            </a:r>
            <a:r>
              <a:rPr lang="ko-KR" sz="1000" dirty="0" err="1">
                <a:solidFill>
                  <a:schemeClr val="dk1"/>
                </a:solidFill>
                <a:latin typeface="Calibri"/>
                <a:ea typeface="Calibri"/>
                <a:cs typeface="Calibri"/>
                <a:sym typeface="Calibri"/>
              </a:rPr>
              <a:t>부하량을</a:t>
            </a:r>
            <a:r>
              <a:rPr lang="ko-KR" sz="1000" dirty="0">
                <a:solidFill>
                  <a:schemeClr val="dk1"/>
                </a:solidFill>
                <a:latin typeface="Calibri"/>
                <a:ea typeface="Calibri"/>
                <a:cs typeface="Calibri"/>
                <a:sym typeface="Calibri"/>
              </a:rPr>
              <a:t> </a:t>
            </a:r>
            <a:r>
              <a:rPr lang="ko-KR" sz="1000" dirty="0" err="1">
                <a:solidFill>
                  <a:schemeClr val="dk1"/>
                </a:solidFill>
                <a:latin typeface="Calibri"/>
                <a:ea typeface="Calibri"/>
                <a:cs typeface="Calibri"/>
                <a:sym typeface="Calibri"/>
              </a:rPr>
              <a:t>균등화하여</a:t>
            </a:r>
            <a:r>
              <a:rPr lang="ko-KR" sz="1000" dirty="0">
                <a:solidFill>
                  <a:schemeClr val="dk1"/>
                </a:solidFill>
                <a:latin typeface="Calibri"/>
                <a:ea typeface="Calibri"/>
                <a:cs typeface="Calibri"/>
                <a:sym typeface="Calibri"/>
              </a:rPr>
              <a:t> 설비의 안전성과 </a:t>
            </a:r>
            <a:r>
              <a:rPr lang="ko-KR" sz="1000" dirty="0" err="1">
                <a:solidFill>
                  <a:schemeClr val="dk1"/>
                </a:solidFill>
                <a:latin typeface="Calibri"/>
                <a:ea typeface="Calibri"/>
                <a:cs typeface="Calibri"/>
                <a:sym typeface="Calibri"/>
              </a:rPr>
              <a:t>강건성을</a:t>
            </a:r>
            <a:r>
              <a:rPr lang="ko-KR" sz="1000" dirty="0">
                <a:solidFill>
                  <a:schemeClr val="dk1"/>
                </a:solidFill>
                <a:latin typeface="Calibri"/>
                <a:ea typeface="Calibri"/>
                <a:cs typeface="Calibri"/>
                <a:sym typeface="Calibri"/>
              </a:rPr>
              <a:t> 증대시키고, 운영 자동화를 통해 대기 </a:t>
            </a:r>
            <a:r>
              <a:rPr lang="ko-KR" sz="1000" dirty="0" err="1">
                <a:solidFill>
                  <a:schemeClr val="dk1"/>
                </a:solidFill>
                <a:latin typeface="Calibri"/>
                <a:ea typeface="Calibri"/>
                <a:cs typeface="Calibri"/>
                <a:sym typeface="Calibri"/>
              </a:rPr>
              <a:t>온∙습도</a:t>
            </a:r>
            <a:r>
              <a:rPr lang="ko-KR" sz="1000" dirty="0">
                <a:solidFill>
                  <a:schemeClr val="dk1"/>
                </a:solidFill>
                <a:latin typeface="Calibri"/>
                <a:ea typeface="Calibri"/>
                <a:cs typeface="Calibri"/>
                <a:sym typeface="Calibri"/>
              </a:rPr>
              <a:t> 변화에 유동적으로 대처할 수 있도록 하는데 초점을 맞추었고, 결과적으로 전력 요금을 </a:t>
            </a:r>
            <a:r>
              <a:rPr lang="ko-KR" sz="1000" b="1" dirty="0">
                <a:solidFill>
                  <a:schemeClr val="dk1"/>
                </a:solidFill>
                <a:latin typeface="Calibri"/>
                <a:ea typeface="Calibri"/>
                <a:cs typeface="Calibri"/>
                <a:sym typeface="Calibri"/>
              </a:rPr>
              <a:t>48.8% </a:t>
            </a:r>
            <a:r>
              <a:rPr lang="ko-KR" sz="1000" dirty="0">
                <a:solidFill>
                  <a:schemeClr val="dk1"/>
                </a:solidFill>
                <a:latin typeface="Calibri"/>
                <a:ea typeface="Calibri"/>
                <a:cs typeface="Calibri"/>
                <a:sym typeface="Calibri"/>
              </a:rPr>
              <a:t>감소시켰습니다.</a:t>
            </a:r>
            <a:endParaRPr dirty="0"/>
          </a:p>
        </p:txBody>
      </p:sp>
      <p:sp>
        <p:nvSpPr>
          <p:cNvPr id="174" name="Google Shape;174;p16"/>
          <p:cNvSpPr txBox="1"/>
          <p:nvPr/>
        </p:nvSpPr>
        <p:spPr>
          <a:xfrm>
            <a:off x="9127309" y="964767"/>
            <a:ext cx="7598590" cy="100899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ko-KR" sz="1100" b="1">
                <a:solidFill>
                  <a:schemeClr val="dk1"/>
                </a:solidFill>
                <a:latin typeface="Calibri"/>
                <a:ea typeface="Calibri"/>
                <a:cs typeface="Calibri"/>
                <a:sym typeface="Calibri"/>
              </a:rPr>
              <a:t>개발 관련 설명</a:t>
            </a:r>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모델 스태킹을 통한 성능 향상을 하였습니다. 공기식 기화기 변수 예측AI모델 개발을 위해 상관분석과 다중선형회귀분석을 사용하여 AI 모델의 변수를 선정하고, 이를 기반으로 대기온도, 습도, 온도변화량을 예측하는 모델을 개발하여 예측 정확도를 85%=&gt;95.4%로 개선하였습니다.</a:t>
            </a:r>
            <a:endParaRPr sz="1000">
              <a:solidFill>
                <a:schemeClr val="dk1"/>
              </a:solidFill>
              <a:latin typeface="Calibri"/>
              <a:ea typeface="Calibri"/>
              <a:cs typeface="Calibri"/>
              <a:sym typeface="Calibri"/>
            </a:endParaRPr>
          </a:p>
        </p:txBody>
      </p:sp>
      <p:sp>
        <p:nvSpPr>
          <p:cNvPr id="175" name="Google Shape;175;p16"/>
          <p:cNvSpPr txBox="1"/>
          <p:nvPr/>
        </p:nvSpPr>
        <p:spPr>
          <a:xfrm>
            <a:off x="9325649" y="7685879"/>
            <a:ext cx="6495376" cy="89062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400" b="1" dirty="0">
                <a:solidFill>
                  <a:schemeClr val="dk1"/>
                </a:solidFill>
                <a:latin typeface="Malgun Gothic"/>
                <a:ea typeface="Malgun Gothic"/>
                <a:cs typeface="Malgun Gothic"/>
                <a:sym typeface="Malgun Gothic"/>
              </a:rPr>
              <a:t>주요 성과</a:t>
            </a:r>
            <a:endParaRPr sz="1400" b="1" dirty="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100" b="1" dirty="0">
                <a:solidFill>
                  <a:schemeClr val="dk1"/>
                </a:solidFill>
                <a:latin typeface="Malgun Gothic"/>
                <a:ea typeface="Malgun Gothic"/>
                <a:cs typeface="Malgun Gothic"/>
                <a:sym typeface="Malgun Gothic"/>
              </a:rPr>
              <a:t>수상</a:t>
            </a:r>
            <a:r>
              <a:rPr lang="ko-KR" sz="1100" dirty="0">
                <a:solidFill>
                  <a:schemeClr val="dk1"/>
                </a:solidFill>
                <a:latin typeface="Malgun Gothic"/>
                <a:ea typeface="Malgun Gothic"/>
                <a:cs typeface="Malgun Gothic"/>
                <a:sym typeface="Malgun Gothic"/>
              </a:rPr>
              <a:t>(2020.12) : 빅데이터 인공지능 </a:t>
            </a:r>
            <a:r>
              <a:rPr lang="ko-KR" sz="1100" dirty="0" err="1">
                <a:solidFill>
                  <a:schemeClr val="dk1"/>
                </a:solidFill>
                <a:latin typeface="Malgun Gothic"/>
                <a:ea typeface="Malgun Gothic"/>
                <a:cs typeface="Malgun Gothic"/>
                <a:sym typeface="Malgun Gothic"/>
              </a:rPr>
              <a:t>스타트업</a:t>
            </a:r>
            <a:r>
              <a:rPr lang="ko-KR" sz="1100" dirty="0">
                <a:solidFill>
                  <a:schemeClr val="dk1"/>
                </a:solidFill>
                <a:latin typeface="Malgun Gothic"/>
                <a:ea typeface="Malgun Gothic"/>
                <a:cs typeface="Malgun Gothic"/>
                <a:sym typeface="Malgun Gothic"/>
              </a:rPr>
              <a:t> 경진대회 3등(</a:t>
            </a:r>
            <a:r>
              <a:rPr lang="ko-KR" sz="1100" b="1" dirty="0">
                <a:solidFill>
                  <a:schemeClr val="dk1"/>
                </a:solidFill>
                <a:latin typeface="Malgun Gothic"/>
                <a:ea typeface="Malgun Gothic"/>
                <a:cs typeface="Malgun Gothic"/>
                <a:sym typeface="Malgun Gothic"/>
              </a:rPr>
              <a:t>사장상</a:t>
            </a:r>
            <a:r>
              <a:rPr lang="ko-KR" sz="1100" dirty="0">
                <a:solidFill>
                  <a:schemeClr val="dk1"/>
                </a:solidFill>
                <a:latin typeface="Malgun Gothic"/>
                <a:ea typeface="Malgun Gothic"/>
                <a:cs typeface="Malgun Gothic"/>
                <a:sym typeface="Malgun Gothic"/>
              </a:rPr>
              <a:t>) </a:t>
            </a:r>
            <a:endParaRPr dirty="0"/>
          </a:p>
          <a:p>
            <a:pPr marL="0" marR="0" lvl="0" indent="0" algn="just" rtl="0">
              <a:lnSpc>
                <a:spcPct val="150000"/>
              </a:lnSpc>
              <a:spcBef>
                <a:spcPts val="0"/>
              </a:spcBef>
              <a:spcAft>
                <a:spcPts val="0"/>
              </a:spcAft>
              <a:buNone/>
            </a:pPr>
            <a:r>
              <a:rPr lang="ko-KR" sz="1100" b="1" dirty="0">
                <a:solidFill>
                  <a:schemeClr val="dk1"/>
                </a:solidFill>
                <a:latin typeface="Malgun Gothic"/>
                <a:ea typeface="Malgun Gothic"/>
                <a:cs typeface="Malgun Gothic"/>
                <a:sym typeface="Malgun Gothic"/>
              </a:rPr>
              <a:t>논문</a:t>
            </a:r>
            <a:r>
              <a:rPr lang="ko-KR" sz="1100" dirty="0">
                <a:solidFill>
                  <a:schemeClr val="dk1"/>
                </a:solidFill>
                <a:latin typeface="Malgun Gothic"/>
                <a:ea typeface="Malgun Gothic"/>
                <a:cs typeface="Malgun Gothic"/>
                <a:sym typeface="Malgun Gothic"/>
              </a:rPr>
              <a:t>(2021.06) : 기화 설비의 </a:t>
            </a:r>
            <a:r>
              <a:rPr lang="ko-KR" sz="1100" dirty="0" err="1">
                <a:solidFill>
                  <a:schemeClr val="dk1"/>
                </a:solidFill>
                <a:latin typeface="Malgun Gothic"/>
                <a:ea typeface="Malgun Gothic"/>
                <a:cs typeface="Malgun Gothic"/>
                <a:sym typeface="Malgun Gothic"/>
              </a:rPr>
              <a:t>토출</a:t>
            </a:r>
            <a:r>
              <a:rPr lang="ko-KR" sz="1100" dirty="0">
                <a:solidFill>
                  <a:schemeClr val="dk1"/>
                </a:solidFill>
                <a:latin typeface="Malgun Gothic"/>
                <a:ea typeface="Malgun Gothic"/>
                <a:cs typeface="Malgun Gothic"/>
                <a:sym typeface="Malgun Gothic"/>
              </a:rPr>
              <a:t> 온도 예측을 위한 인공지능 모델 개발 (</a:t>
            </a:r>
            <a:r>
              <a:rPr lang="ko-KR" sz="1100" dirty="0" err="1">
                <a:solidFill>
                  <a:schemeClr val="dk1"/>
                </a:solidFill>
                <a:latin typeface="Malgun Gothic"/>
                <a:ea typeface="Malgun Gothic"/>
                <a:cs typeface="Malgun Gothic"/>
                <a:sym typeface="Malgun Gothic"/>
              </a:rPr>
              <a:t>출원번호</a:t>
            </a:r>
            <a:r>
              <a:rPr lang="ko-KR" sz="1100" dirty="0">
                <a:solidFill>
                  <a:schemeClr val="dk1"/>
                </a:solidFill>
                <a:latin typeface="Malgun Gothic"/>
                <a:ea typeface="Malgun Gothic"/>
                <a:cs typeface="Malgun Gothic"/>
                <a:sym typeface="Malgun Gothic"/>
              </a:rPr>
              <a:t> : KCI_FI002731560)</a:t>
            </a:r>
            <a:endParaRPr dirty="0"/>
          </a:p>
        </p:txBody>
      </p:sp>
      <p:sp>
        <p:nvSpPr>
          <p:cNvPr id="176" name="Google Shape;176;p16"/>
          <p:cNvSpPr txBox="1"/>
          <p:nvPr/>
        </p:nvSpPr>
        <p:spPr>
          <a:xfrm>
            <a:off x="4927681" y="1501047"/>
            <a:ext cx="3730544" cy="238264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Malgun Gothic"/>
                <a:ea typeface="Malgun Gothic"/>
                <a:cs typeface="Malgun Gothic"/>
                <a:sym typeface="Malgun Gothic"/>
              </a:rPr>
              <a:t>[프로젝트 세부 사항]</a:t>
            </a:r>
            <a:endParaRPr sz="1051" b="1">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프로젝트 기간 : </a:t>
            </a:r>
            <a:r>
              <a:rPr lang="ko-KR" sz="1000">
                <a:solidFill>
                  <a:schemeClr val="dk1"/>
                </a:solidFill>
                <a:latin typeface="Malgun Gothic"/>
                <a:ea typeface="Malgun Gothic"/>
                <a:cs typeface="Malgun Gothic"/>
                <a:sym typeface="Malgun Gothic"/>
              </a:rPr>
              <a:t>2020.07.17 ~ 2020.12.03  </a:t>
            </a:r>
            <a:endParaRPr sz="10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개발 인원 :</a:t>
            </a:r>
            <a:r>
              <a:rPr lang="ko-KR" sz="1000">
                <a:solidFill>
                  <a:schemeClr val="dk1"/>
                </a:solidFill>
                <a:latin typeface="Malgun Gothic"/>
                <a:ea typeface="Malgun Gothic"/>
                <a:cs typeface="Malgun Gothic"/>
                <a:sym typeface="Malgun Gothic"/>
              </a:rPr>
              <a:t> 3명</a:t>
            </a:r>
            <a:endParaRPr sz="10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연계/주관기업 : </a:t>
            </a:r>
            <a:r>
              <a:rPr lang="ko-KR" sz="1000">
                <a:solidFill>
                  <a:schemeClr val="dk1"/>
                </a:solidFill>
                <a:latin typeface="Malgun Gothic"/>
                <a:ea typeface="Malgun Gothic"/>
                <a:cs typeface="Malgun Gothic"/>
                <a:sym typeface="Malgun Gothic"/>
              </a:rPr>
              <a:t>한국가스공사(KOGAS)</a:t>
            </a:r>
            <a:endParaRPr sz="10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담당 업무 : </a:t>
            </a:r>
            <a:r>
              <a:rPr lang="ko-KR" sz="1000">
                <a:solidFill>
                  <a:schemeClr val="dk1"/>
                </a:solidFill>
                <a:latin typeface="Malgun Gothic"/>
                <a:ea typeface="Malgun Gothic"/>
                <a:cs typeface="Malgun Gothic"/>
                <a:sym typeface="Malgun Gothic"/>
              </a:rPr>
              <a:t>AI모델과 Integer Programming을 통한 최적 알고리즘 개발 </a:t>
            </a:r>
            <a:endParaRPr sz="10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기술 스택 : </a:t>
            </a:r>
            <a:r>
              <a:rPr lang="ko-KR" sz="1000">
                <a:solidFill>
                  <a:schemeClr val="dk1"/>
                </a:solidFill>
                <a:latin typeface="Malgun Gothic"/>
                <a:ea typeface="Malgun Gothic"/>
                <a:cs typeface="Malgun Gothic"/>
                <a:sym typeface="Malgun Gothic"/>
              </a:rPr>
              <a:t>Python, Integer Programming, Deep Learning, DNN, LSTM </a:t>
            </a:r>
            <a:endParaRPr sz="10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오픈소스 &amp; 라이브러리 :</a:t>
            </a:r>
            <a:r>
              <a:rPr lang="ko-KR" sz="1000">
                <a:solidFill>
                  <a:srgbClr val="000000"/>
                </a:solidFill>
                <a:latin typeface="Malgun Gothic"/>
                <a:ea typeface="Malgun Gothic"/>
                <a:cs typeface="Malgun Gothic"/>
                <a:sym typeface="Malgun Gothic"/>
              </a:rPr>
              <a:t> Tensorflow, Keras, Scikit-learn, Pulp, Matplotlib </a:t>
            </a:r>
            <a:endParaRPr sz="1000" b="1">
              <a:solidFill>
                <a:schemeClr val="dk1"/>
              </a:solidFill>
              <a:latin typeface="Malgun Gothic"/>
              <a:ea typeface="Malgun Gothic"/>
              <a:cs typeface="Malgun Gothic"/>
              <a:sym typeface="Malgun Gothic"/>
            </a:endParaRPr>
          </a:p>
        </p:txBody>
      </p:sp>
      <p:sp>
        <p:nvSpPr>
          <p:cNvPr id="177" name="Google Shape;177;p16"/>
          <p:cNvSpPr txBox="1"/>
          <p:nvPr/>
        </p:nvSpPr>
        <p:spPr>
          <a:xfrm>
            <a:off x="803314" y="1489738"/>
            <a:ext cx="4341840" cy="224709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Malgun Gothic"/>
                <a:ea typeface="Malgun Gothic"/>
                <a:cs typeface="Malgun Gothic"/>
                <a:sym typeface="Malgun Gothic"/>
              </a:rPr>
              <a:t>[주요 업무]</a:t>
            </a:r>
            <a:endParaRPr sz="1051">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1. AAV 데이터 분석 및 전처리를 통한 기계학습용 Data Mart 구축</a:t>
            </a:r>
            <a:endParaRPr/>
          </a:p>
          <a:p>
            <a:pPr marL="0" marR="0" lvl="0" indent="0" algn="just" rtl="0">
              <a:lnSpc>
                <a:spcPct val="150000"/>
              </a:lnSpc>
              <a:spcBef>
                <a:spcPts val="0"/>
              </a:spcBef>
              <a:spcAft>
                <a:spcPts val="0"/>
              </a:spcAft>
              <a:buNone/>
            </a:pPr>
            <a:r>
              <a:rPr lang="ko-KR" sz="900">
                <a:solidFill>
                  <a:schemeClr val="dk1"/>
                </a:solidFill>
                <a:latin typeface="Malgun Gothic"/>
                <a:ea typeface="Malgun Gothic"/>
                <a:cs typeface="Malgun Gothic"/>
                <a:sym typeface="Malgun Gothic"/>
              </a:rPr>
              <a:t>    - 공기식 기화기 운영 데이터 기초 분석</a:t>
            </a:r>
            <a:endParaRPr/>
          </a:p>
          <a:p>
            <a:pPr marL="0" marR="0" lvl="0" indent="0" algn="just" rtl="0">
              <a:lnSpc>
                <a:spcPct val="150000"/>
              </a:lnSpc>
              <a:spcBef>
                <a:spcPts val="0"/>
              </a:spcBef>
              <a:spcAft>
                <a:spcPts val="0"/>
              </a:spcAft>
              <a:buNone/>
            </a:pPr>
            <a:r>
              <a:rPr lang="ko-KR" sz="900">
                <a:solidFill>
                  <a:schemeClr val="dk1"/>
                </a:solidFill>
                <a:latin typeface="Malgun Gothic"/>
                <a:ea typeface="Malgun Gothic"/>
                <a:cs typeface="Malgun Gothic"/>
                <a:sym typeface="Malgun Gothic"/>
              </a:rPr>
              <a:t>    - 기화기 운영 데이터 상관 및 회귀분석을 토대로 DNN의 Input 변수와 </a:t>
            </a:r>
            <a:endParaRPr sz="9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900">
                <a:solidFill>
                  <a:schemeClr val="dk1"/>
                </a:solidFill>
                <a:latin typeface="Malgun Gothic"/>
                <a:ea typeface="Malgun Gothic"/>
                <a:cs typeface="Malgun Gothic"/>
                <a:sym typeface="Malgun Gothic"/>
              </a:rPr>
              <a:t>      Output 변수 선정</a:t>
            </a:r>
            <a:endParaRPr sz="9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900">
                <a:solidFill>
                  <a:schemeClr val="dk1"/>
                </a:solidFill>
                <a:latin typeface="Malgun Gothic"/>
                <a:ea typeface="Malgun Gothic"/>
                <a:cs typeface="Malgun Gothic"/>
                <a:sym typeface="Malgun Gothic"/>
              </a:rPr>
              <a:t>    - 데이터 마트의 데이터 중 70%를 학습 데이터로, 30%를 평가 데이터로 </a:t>
            </a:r>
            <a:endParaRPr sz="9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900">
                <a:solidFill>
                  <a:schemeClr val="dk1"/>
                </a:solidFill>
                <a:latin typeface="Malgun Gothic"/>
                <a:ea typeface="Malgun Gothic"/>
                <a:cs typeface="Malgun Gothic"/>
                <a:sym typeface="Malgun Gothic"/>
              </a:rPr>
              <a:t>      DNN 예측 모델 생성 후 비교 및 성능 평가     </a:t>
            </a:r>
            <a:endParaRPr sz="9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2. 최초 운영 시작 시점 최적 운영기기 개수 및 팬회전수 도출을 위한</a:t>
            </a:r>
            <a:endParaRPr sz="1000" b="1">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   Integer Programming 모델 개발</a:t>
            </a:r>
            <a:endParaRPr/>
          </a:p>
          <a:p>
            <a:pPr marL="0" marR="0" lvl="0" indent="0" algn="just" rtl="0">
              <a:lnSpc>
                <a:spcPct val="150000"/>
              </a:lnSpc>
              <a:spcBef>
                <a:spcPts val="0"/>
              </a:spcBef>
              <a:spcAft>
                <a:spcPts val="0"/>
              </a:spcAft>
              <a:buNone/>
            </a:pPr>
            <a:r>
              <a:rPr lang="ko-KR" sz="900" b="1">
                <a:solidFill>
                  <a:schemeClr val="dk1"/>
                </a:solidFill>
                <a:latin typeface="Malgun Gothic"/>
                <a:ea typeface="Malgun Gothic"/>
                <a:cs typeface="Malgun Gothic"/>
                <a:sym typeface="Malgun Gothic"/>
              </a:rPr>
              <a:t>    </a:t>
            </a:r>
            <a:r>
              <a:rPr lang="ko-KR" sz="900">
                <a:solidFill>
                  <a:schemeClr val="dk1"/>
                </a:solidFill>
                <a:latin typeface="Malgun Gothic"/>
                <a:ea typeface="Malgun Gothic"/>
                <a:cs typeface="Malgun Gothic"/>
                <a:sym typeface="Malgun Gothic"/>
              </a:rPr>
              <a:t>- 최적 팬회전 수에 변화가 생기면 이를 자동으로 갱신</a:t>
            </a:r>
            <a:endParaRPr/>
          </a:p>
        </p:txBody>
      </p:sp>
      <p:pic>
        <p:nvPicPr>
          <p:cNvPr id="178" name="Google Shape;178;p16"/>
          <p:cNvPicPr preferRelativeResize="0"/>
          <p:nvPr/>
        </p:nvPicPr>
        <p:blipFill rotWithShape="1">
          <a:blip r:embed="rId3">
            <a:alphaModFix amt="93000"/>
          </a:blip>
          <a:srcRect t="6250" b="26013"/>
          <a:stretch/>
        </p:blipFill>
        <p:spPr>
          <a:xfrm>
            <a:off x="6426303" y="5382355"/>
            <a:ext cx="1800001" cy="1224001"/>
          </a:xfrm>
          <a:prstGeom prst="rect">
            <a:avLst/>
          </a:prstGeom>
          <a:noFill/>
          <a:ln>
            <a:noFill/>
          </a:ln>
        </p:spPr>
      </p:pic>
      <p:pic>
        <p:nvPicPr>
          <p:cNvPr id="179" name="Google Shape;179;p16"/>
          <p:cNvPicPr preferRelativeResize="0"/>
          <p:nvPr/>
        </p:nvPicPr>
        <p:blipFill rotWithShape="1">
          <a:blip r:embed="rId4">
            <a:alphaModFix/>
          </a:blip>
          <a:srcRect/>
          <a:stretch/>
        </p:blipFill>
        <p:spPr>
          <a:xfrm>
            <a:off x="6426302" y="3979788"/>
            <a:ext cx="1800001" cy="1224001"/>
          </a:xfrm>
          <a:prstGeom prst="rect">
            <a:avLst/>
          </a:prstGeom>
          <a:noFill/>
          <a:ln>
            <a:noFill/>
          </a:ln>
        </p:spPr>
      </p:pic>
      <p:pic>
        <p:nvPicPr>
          <p:cNvPr id="180" name="Google Shape;180;p16"/>
          <p:cNvPicPr preferRelativeResize="0"/>
          <p:nvPr/>
        </p:nvPicPr>
        <p:blipFill rotWithShape="1">
          <a:blip r:embed="rId5">
            <a:alphaModFix/>
          </a:blip>
          <a:srcRect/>
          <a:stretch/>
        </p:blipFill>
        <p:spPr>
          <a:xfrm>
            <a:off x="803314" y="3949600"/>
            <a:ext cx="5206961" cy="2656756"/>
          </a:xfrm>
          <a:prstGeom prst="rect">
            <a:avLst/>
          </a:prstGeom>
          <a:noFill/>
          <a:ln>
            <a:noFill/>
          </a:ln>
        </p:spPr>
      </p:pic>
      <p:pic>
        <p:nvPicPr>
          <p:cNvPr id="181" name="Google Shape;181;p16"/>
          <p:cNvPicPr preferRelativeResize="0"/>
          <p:nvPr/>
        </p:nvPicPr>
        <p:blipFill rotWithShape="1">
          <a:blip r:embed="rId6">
            <a:alphaModFix/>
          </a:blip>
          <a:srcRect/>
          <a:stretch/>
        </p:blipFill>
        <p:spPr>
          <a:xfrm>
            <a:off x="9574616" y="1925850"/>
            <a:ext cx="6008283" cy="2382640"/>
          </a:xfrm>
          <a:prstGeom prst="rect">
            <a:avLst/>
          </a:prstGeom>
          <a:noFill/>
          <a:ln>
            <a:noFill/>
          </a:ln>
        </p:spPr>
      </p:pic>
      <p:pic>
        <p:nvPicPr>
          <p:cNvPr id="182" name="Google Shape;182;p16"/>
          <p:cNvPicPr preferRelativeResize="0"/>
          <p:nvPr/>
        </p:nvPicPr>
        <p:blipFill rotWithShape="1">
          <a:blip r:embed="rId7">
            <a:alphaModFix/>
          </a:blip>
          <a:srcRect/>
          <a:stretch/>
        </p:blipFill>
        <p:spPr>
          <a:xfrm>
            <a:off x="9802086" y="5121266"/>
            <a:ext cx="5780813" cy="232271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7"/>
          <p:cNvSpPr txBox="1"/>
          <p:nvPr/>
        </p:nvSpPr>
        <p:spPr>
          <a:xfrm>
            <a:off x="487363" y="261676"/>
            <a:ext cx="16238537" cy="518283"/>
          </a:xfrm>
          <a:prstGeom prst="rect">
            <a:avLst/>
          </a:prstGeom>
          <a:solidFill>
            <a:srgbClr val="0F395B"/>
          </a:solidFill>
          <a:ln w="9525" cap="flat" cmpd="sng">
            <a:solidFill>
              <a:srgbClr val="103B5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400" b="1">
              <a:solidFill>
                <a:schemeClr val="lt1"/>
              </a:solidFill>
              <a:latin typeface="Calibri"/>
              <a:ea typeface="Calibri"/>
              <a:cs typeface="Calibri"/>
              <a:sym typeface="Calibri"/>
            </a:endParaRPr>
          </a:p>
        </p:txBody>
      </p:sp>
      <p:sp>
        <p:nvSpPr>
          <p:cNvPr id="188" name="Google Shape;188;p17"/>
          <p:cNvSpPr/>
          <p:nvPr/>
        </p:nvSpPr>
        <p:spPr>
          <a:xfrm>
            <a:off x="884238" y="1074978"/>
            <a:ext cx="7384190" cy="395925"/>
          </a:xfrm>
          <a:prstGeom prst="roundRect">
            <a:avLst>
              <a:gd name="adj" fmla="val 7143"/>
            </a:avLst>
          </a:prstGeom>
          <a:solidFill>
            <a:srgbClr val="D0CECE">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9" name="Google Shape;189;p17"/>
          <p:cNvGrpSpPr/>
          <p:nvPr/>
        </p:nvGrpSpPr>
        <p:grpSpPr>
          <a:xfrm>
            <a:off x="0" y="0"/>
            <a:ext cx="17610138" cy="9906004"/>
            <a:chOff x="-10796913" y="237463"/>
            <a:chExt cx="11867221" cy="6572030"/>
          </a:xfrm>
        </p:grpSpPr>
        <p:sp>
          <p:nvSpPr>
            <p:cNvPr id="190" name="Google Shape;190;p17"/>
            <p:cNvSpPr/>
            <p:nvPr/>
          </p:nvSpPr>
          <p:spPr>
            <a:xfrm rot="10800000" flipH="1">
              <a:off x="-10796913" y="237463"/>
              <a:ext cx="11087179" cy="1300855"/>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91" name="Google Shape;191;p17"/>
            <p:cNvSpPr/>
            <p:nvPr/>
          </p:nvSpPr>
          <p:spPr>
            <a:xfrm rot="10800000" flipH="1">
              <a:off x="-10796797" y="237464"/>
              <a:ext cx="5336657" cy="22192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92" name="Google Shape;192;p17"/>
            <p:cNvSpPr/>
            <p:nvPr/>
          </p:nvSpPr>
          <p:spPr>
            <a:xfrm flipH="1">
              <a:off x="-10796795" y="5771379"/>
              <a:ext cx="11867103" cy="10381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sp>
          <p:nvSpPr>
            <p:cNvPr id="193" name="Google Shape;193;p17"/>
            <p:cNvSpPr/>
            <p:nvPr/>
          </p:nvSpPr>
          <p:spPr>
            <a:xfrm flipH="1">
              <a:off x="-2539137" y="4856978"/>
              <a:ext cx="3609444" cy="1952514"/>
            </a:xfrm>
            <a:prstGeom prst="rtTriangle">
              <a:avLst/>
            </a:prstGeom>
            <a:solidFill>
              <a:srgbClr val="1C476E">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Malgun Gothic"/>
                <a:ea typeface="Malgun Gothic"/>
                <a:cs typeface="Malgun Gothic"/>
                <a:sym typeface="Malgun Gothic"/>
              </a:endParaRPr>
            </a:p>
          </p:txBody>
        </p:sp>
      </p:grpSp>
      <p:sp>
        <p:nvSpPr>
          <p:cNvPr id="194" name="Google Shape;194;p17"/>
          <p:cNvSpPr/>
          <p:nvPr/>
        </p:nvSpPr>
        <p:spPr>
          <a:xfrm>
            <a:off x="982853" y="1151647"/>
            <a:ext cx="7675372" cy="283487"/>
          </a:xfrm>
          <a:prstGeom prst="roundRect">
            <a:avLst>
              <a:gd name="adj" fmla="val 6011"/>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1100">
                <a:solidFill>
                  <a:schemeClr val="lt1"/>
                </a:solidFill>
                <a:latin typeface="Calibri"/>
                <a:ea typeface="Calibri"/>
                <a:cs typeface="Calibri"/>
                <a:sym typeface="Calibri"/>
              </a:rPr>
              <a:t>💡 </a:t>
            </a:r>
            <a:r>
              <a:rPr lang="ko-KR" sz="1100" b="1">
                <a:solidFill>
                  <a:schemeClr val="dk1"/>
                </a:solidFill>
                <a:latin typeface="Calibri"/>
                <a:ea typeface="Calibri"/>
                <a:cs typeface="Calibri"/>
                <a:sym typeface="Calibri"/>
              </a:rPr>
              <a:t>프로젝트 요약 : 데이터 기반 가설을 세워 재배작물과 재배환경에 적합화된 새로운 재배 레시피 개발 및 검증</a:t>
            </a:r>
            <a:endParaRPr sz="1100">
              <a:solidFill>
                <a:schemeClr val="dk1"/>
              </a:solidFill>
              <a:latin typeface="Calibri"/>
              <a:ea typeface="Calibri"/>
              <a:cs typeface="Calibri"/>
              <a:sym typeface="Calibri"/>
            </a:endParaRPr>
          </a:p>
        </p:txBody>
      </p:sp>
      <p:sp>
        <p:nvSpPr>
          <p:cNvPr id="195" name="Google Shape;195;p17"/>
          <p:cNvSpPr txBox="1"/>
          <p:nvPr/>
        </p:nvSpPr>
        <p:spPr>
          <a:xfrm>
            <a:off x="579844" y="261675"/>
            <a:ext cx="8644842" cy="5182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200" b="1">
                <a:solidFill>
                  <a:schemeClr val="lt1"/>
                </a:solidFill>
                <a:latin typeface="Calibri"/>
                <a:ea typeface="Calibri"/>
                <a:cs typeface="Calibri"/>
                <a:sym typeface="Calibri"/>
              </a:rPr>
              <a:t>프로젝트명</a:t>
            </a:r>
            <a:endParaRPr sz="1200" b="1">
              <a:solidFill>
                <a:schemeClr val="lt1"/>
              </a:solidFill>
              <a:latin typeface="Calibri"/>
              <a:ea typeface="Calibri"/>
              <a:cs typeface="Calibri"/>
              <a:sym typeface="Calibri"/>
            </a:endParaRPr>
          </a:p>
          <a:p>
            <a:pPr marL="285744" marR="0" lvl="0" indent="-285744" algn="l" rtl="0">
              <a:lnSpc>
                <a:spcPct val="150000"/>
              </a:lnSpc>
              <a:spcBef>
                <a:spcPts val="0"/>
              </a:spcBef>
              <a:spcAft>
                <a:spcPts val="0"/>
              </a:spcAft>
              <a:buClr>
                <a:schemeClr val="lt1"/>
              </a:buClr>
              <a:buSzPts val="1200"/>
              <a:buFont typeface="Noto Sans Symbols"/>
              <a:buChar char="❑"/>
            </a:pPr>
            <a:r>
              <a:rPr lang="ko-KR" sz="1200" b="1">
                <a:solidFill>
                  <a:schemeClr val="lt1"/>
                </a:solidFill>
                <a:latin typeface="Calibri"/>
                <a:ea typeface="Calibri"/>
                <a:cs typeface="Calibri"/>
                <a:sym typeface="Calibri"/>
              </a:rPr>
              <a:t>스마트팜 구현을 위한 재배 레시피 개발  </a:t>
            </a:r>
            <a:endParaRPr/>
          </a:p>
        </p:txBody>
      </p:sp>
      <p:sp>
        <p:nvSpPr>
          <p:cNvPr id="196" name="Google Shape;196;p17"/>
          <p:cNvSpPr txBox="1"/>
          <p:nvPr/>
        </p:nvSpPr>
        <p:spPr>
          <a:xfrm>
            <a:off x="9127310" y="4324840"/>
            <a:ext cx="7598590" cy="75507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10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생육데이터의 특징을 고려하여 로지스틱 회귀모형으로 생육모델을 수립하였습니다. 대수변환과 비동질 오차항을 고려하여 모델을 교정하였고 적합도 개선을 위해 R ‘nls2’ 패키지의 ‘gnls’  함수를 사용하였습니다. </a:t>
            </a:r>
            <a:endParaRPr sz="1000">
              <a:solidFill>
                <a:schemeClr val="dk1"/>
              </a:solidFill>
              <a:latin typeface="Calibri"/>
              <a:ea typeface="Calibri"/>
              <a:cs typeface="Calibri"/>
              <a:sym typeface="Calibri"/>
            </a:endParaRPr>
          </a:p>
        </p:txBody>
      </p:sp>
      <p:sp>
        <p:nvSpPr>
          <p:cNvPr id="197" name="Google Shape;197;p17"/>
          <p:cNvSpPr txBox="1"/>
          <p:nvPr/>
        </p:nvSpPr>
        <p:spPr>
          <a:xfrm>
            <a:off x="9127309" y="964767"/>
            <a:ext cx="7598590" cy="77149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ko-KR" sz="1051" b="1">
                <a:solidFill>
                  <a:schemeClr val="dk1"/>
                </a:solidFill>
                <a:latin typeface="Calibri"/>
                <a:ea typeface="Calibri"/>
                <a:cs typeface="Calibri"/>
                <a:sym typeface="Calibri"/>
              </a:rPr>
              <a:t>개발 관련 설명</a:t>
            </a:r>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 새싹채소 재배의 핵심 요소인 온도와 일조량 조절이 가능한 작물재배기를 제작하고, 2요인 3수준의 실험 계획을 수립하였습니다. 재배 조건과 생육기간에 따라 평균 길의 차이가 존재하다는 결과가 도출되었습니다.</a:t>
            </a:r>
            <a:endParaRPr sz="1000">
              <a:solidFill>
                <a:schemeClr val="dk1"/>
              </a:solidFill>
              <a:latin typeface="Calibri"/>
              <a:ea typeface="Calibri"/>
              <a:cs typeface="Calibri"/>
              <a:sym typeface="Calibri"/>
            </a:endParaRPr>
          </a:p>
        </p:txBody>
      </p:sp>
      <p:sp>
        <p:nvSpPr>
          <p:cNvPr id="198" name="Google Shape;198;p17"/>
          <p:cNvSpPr txBox="1"/>
          <p:nvPr/>
        </p:nvSpPr>
        <p:spPr>
          <a:xfrm>
            <a:off x="9325649" y="7685879"/>
            <a:ext cx="6495376" cy="114454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ko-KR" sz="1400" b="1">
                <a:solidFill>
                  <a:schemeClr val="dk1"/>
                </a:solidFill>
                <a:latin typeface="Malgun Gothic"/>
                <a:ea typeface="Malgun Gothic"/>
                <a:cs typeface="Malgun Gothic"/>
                <a:sym typeface="Malgun Gothic"/>
              </a:rPr>
              <a:t>주요 성과</a:t>
            </a:r>
            <a:endParaRPr sz="1400" b="1">
              <a:solidFill>
                <a:schemeClr val="dk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100" b="1">
                <a:solidFill>
                  <a:schemeClr val="dk1"/>
                </a:solidFill>
                <a:latin typeface="Malgun Gothic"/>
                <a:ea typeface="Malgun Gothic"/>
                <a:cs typeface="Malgun Gothic"/>
                <a:sym typeface="Malgun Gothic"/>
              </a:rPr>
              <a:t>수상</a:t>
            </a:r>
            <a:r>
              <a:rPr lang="ko-KR" sz="1100">
                <a:solidFill>
                  <a:schemeClr val="dk1"/>
                </a:solidFill>
                <a:latin typeface="Malgun Gothic"/>
                <a:ea typeface="Malgun Gothic"/>
                <a:cs typeface="Malgun Gothic"/>
                <a:sym typeface="Malgun Gothic"/>
              </a:rPr>
              <a:t>(2020.10) : 한국산업경영시스템학회 대학생 프로젝트 경진대회 장려상 </a:t>
            </a:r>
            <a:endParaRPr sz="1100">
              <a:solidFill>
                <a:schemeClr val="dk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100" b="1">
                <a:solidFill>
                  <a:schemeClr val="dk1"/>
                </a:solidFill>
                <a:latin typeface="Malgun Gothic"/>
                <a:ea typeface="Malgun Gothic"/>
                <a:cs typeface="Malgun Gothic"/>
                <a:sym typeface="Malgun Gothic"/>
              </a:rPr>
              <a:t>특허</a:t>
            </a:r>
            <a:r>
              <a:rPr lang="ko-KR" sz="1100">
                <a:solidFill>
                  <a:schemeClr val="dk1"/>
                </a:solidFill>
                <a:latin typeface="Malgun Gothic"/>
                <a:ea typeface="Malgun Gothic"/>
                <a:cs typeface="Malgun Gothic"/>
                <a:sym typeface="Malgun Gothic"/>
              </a:rPr>
              <a:t>(2021.01) : 스마트팜의 생산성을 높이는 최적의 작물 재배 레시피 개발 방법 (출원번호 : 1020210012530)</a:t>
            </a:r>
            <a:endParaRPr/>
          </a:p>
        </p:txBody>
      </p:sp>
      <p:pic>
        <p:nvPicPr>
          <p:cNvPr id="199" name="Google Shape;199;p17"/>
          <p:cNvPicPr preferRelativeResize="0"/>
          <p:nvPr/>
        </p:nvPicPr>
        <p:blipFill rotWithShape="1">
          <a:blip r:embed="rId3">
            <a:alphaModFix/>
          </a:blip>
          <a:srcRect t="1861"/>
          <a:stretch/>
        </p:blipFill>
        <p:spPr>
          <a:xfrm flipH="1">
            <a:off x="6349303" y="5724272"/>
            <a:ext cx="2114400" cy="1327430"/>
          </a:xfrm>
          <a:prstGeom prst="rect">
            <a:avLst/>
          </a:prstGeom>
          <a:noFill/>
          <a:ln>
            <a:noFill/>
          </a:ln>
        </p:spPr>
      </p:pic>
      <p:pic>
        <p:nvPicPr>
          <p:cNvPr id="200" name="Google Shape;200;p17"/>
          <p:cNvPicPr preferRelativeResize="0"/>
          <p:nvPr/>
        </p:nvPicPr>
        <p:blipFill rotWithShape="1">
          <a:blip r:embed="rId4">
            <a:alphaModFix/>
          </a:blip>
          <a:srcRect/>
          <a:stretch/>
        </p:blipFill>
        <p:spPr>
          <a:xfrm>
            <a:off x="783854" y="3939447"/>
            <a:ext cx="5245471" cy="3077262"/>
          </a:xfrm>
          <a:prstGeom prst="rect">
            <a:avLst/>
          </a:prstGeom>
          <a:noFill/>
          <a:ln>
            <a:noFill/>
          </a:ln>
        </p:spPr>
      </p:pic>
      <p:pic>
        <p:nvPicPr>
          <p:cNvPr id="201" name="Google Shape;201;p17"/>
          <p:cNvPicPr preferRelativeResize="0"/>
          <p:nvPr/>
        </p:nvPicPr>
        <p:blipFill rotWithShape="1">
          <a:blip r:embed="rId5">
            <a:alphaModFix/>
          </a:blip>
          <a:srcRect/>
          <a:stretch/>
        </p:blipFill>
        <p:spPr>
          <a:xfrm>
            <a:off x="6259706" y="3887763"/>
            <a:ext cx="2293594" cy="1617417"/>
          </a:xfrm>
          <a:prstGeom prst="rect">
            <a:avLst/>
          </a:prstGeom>
          <a:noFill/>
          <a:ln>
            <a:noFill/>
          </a:ln>
        </p:spPr>
      </p:pic>
      <p:sp>
        <p:nvSpPr>
          <p:cNvPr id="202" name="Google Shape;202;p17"/>
          <p:cNvSpPr txBox="1"/>
          <p:nvPr/>
        </p:nvSpPr>
        <p:spPr>
          <a:xfrm>
            <a:off x="4933937" y="1498518"/>
            <a:ext cx="3724288" cy="192565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Malgun Gothic"/>
                <a:ea typeface="Malgun Gothic"/>
                <a:cs typeface="Malgun Gothic"/>
                <a:sym typeface="Malgun Gothic"/>
              </a:rPr>
              <a:t>[프로젝트 세부 사항]</a:t>
            </a:r>
            <a:endParaRPr sz="1051" b="1">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프로젝트 기간 : </a:t>
            </a:r>
            <a:r>
              <a:rPr lang="ko-KR" sz="1000">
                <a:solidFill>
                  <a:schemeClr val="dk1"/>
                </a:solidFill>
                <a:latin typeface="Malgun Gothic"/>
                <a:ea typeface="Malgun Gothic"/>
                <a:cs typeface="Malgun Gothic"/>
                <a:sym typeface="Malgun Gothic"/>
              </a:rPr>
              <a:t>2020.06.20 ~ 2020.10.27 </a:t>
            </a:r>
            <a:endParaRPr sz="10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개발 인원 :</a:t>
            </a:r>
            <a:r>
              <a:rPr lang="ko-KR" sz="1000">
                <a:solidFill>
                  <a:schemeClr val="dk1"/>
                </a:solidFill>
                <a:latin typeface="Malgun Gothic"/>
                <a:ea typeface="Malgun Gothic"/>
                <a:cs typeface="Malgun Gothic"/>
                <a:sym typeface="Malgun Gothic"/>
              </a:rPr>
              <a:t> 4명</a:t>
            </a:r>
            <a:endParaRPr sz="10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연계/주관기업 : </a:t>
            </a:r>
            <a:r>
              <a:rPr lang="ko-KR" sz="1000">
                <a:solidFill>
                  <a:schemeClr val="dk1"/>
                </a:solidFill>
                <a:latin typeface="Malgun Gothic"/>
                <a:ea typeface="Malgun Gothic"/>
                <a:cs typeface="Malgun Gothic"/>
                <a:sym typeface="Malgun Gothic"/>
              </a:rPr>
              <a:t>통계 연구실</a:t>
            </a:r>
            <a:endParaRPr sz="10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담당 업무 : </a:t>
            </a:r>
            <a:r>
              <a:rPr lang="ko-KR" sz="1000">
                <a:solidFill>
                  <a:schemeClr val="dk1"/>
                </a:solidFill>
                <a:latin typeface="Malgun Gothic"/>
                <a:ea typeface="Malgun Gothic"/>
                <a:cs typeface="Malgun Gothic"/>
                <a:sym typeface="Malgun Gothic"/>
              </a:rPr>
              <a:t>실험 환경 구성, 실험 설계, 데이터 분석 및 코딩 최적화</a:t>
            </a:r>
            <a:endParaRPr sz="10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기술 스택 : </a:t>
            </a:r>
            <a:r>
              <a:rPr lang="ko-KR" sz="1000">
                <a:solidFill>
                  <a:schemeClr val="dk1"/>
                </a:solidFill>
                <a:latin typeface="Malgun Gothic"/>
                <a:ea typeface="Malgun Gothic"/>
                <a:cs typeface="Malgun Gothic"/>
                <a:sym typeface="Malgun Gothic"/>
              </a:rPr>
              <a:t>R studio, Python, 아두이노, 라즈베리파이</a:t>
            </a:r>
            <a:endParaRPr sz="10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오픈소스 &amp; 라이브러리 :</a:t>
            </a:r>
            <a:r>
              <a:rPr lang="ko-KR" sz="1000">
                <a:solidFill>
                  <a:srgbClr val="000000"/>
                </a:solidFill>
                <a:latin typeface="Malgun Gothic"/>
                <a:ea typeface="Malgun Gothic"/>
                <a:cs typeface="Malgun Gothic"/>
                <a:sym typeface="Malgun Gothic"/>
              </a:rPr>
              <a:t> </a:t>
            </a:r>
            <a:r>
              <a:rPr lang="ko-KR" sz="1000">
                <a:solidFill>
                  <a:schemeClr val="dk1"/>
                </a:solidFill>
                <a:latin typeface="Calibri"/>
                <a:ea typeface="Calibri"/>
                <a:cs typeface="Calibri"/>
                <a:sym typeface="Calibri"/>
              </a:rPr>
              <a:t>stats, nls2, car, matrixStats, MASS</a:t>
            </a:r>
            <a:endParaRPr sz="1000">
              <a:solidFill>
                <a:srgbClr val="000000"/>
              </a:solidFill>
              <a:latin typeface="Malgun Gothic"/>
              <a:ea typeface="Malgun Gothic"/>
              <a:cs typeface="Malgun Gothic"/>
              <a:sym typeface="Malgun Gothic"/>
            </a:endParaRPr>
          </a:p>
        </p:txBody>
      </p:sp>
      <p:sp>
        <p:nvSpPr>
          <p:cNvPr id="203" name="Google Shape;203;p17"/>
          <p:cNvSpPr txBox="1"/>
          <p:nvPr/>
        </p:nvSpPr>
        <p:spPr>
          <a:xfrm>
            <a:off x="796608" y="1490710"/>
            <a:ext cx="4341840" cy="227017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Malgun Gothic"/>
                <a:ea typeface="Malgun Gothic"/>
                <a:cs typeface="Malgun Gothic"/>
                <a:sym typeface="Malgun Gothic"/>
              </a:rPr>
              <a:t>[주요 업무]</a:t>
            </a:r>
            <a:endParaRPr sz="1051">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1. 요인 3수준의 실험 계획 수립</a:t>
            </a:r>
            <a:endParaRPr sz="1000" b="1">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a:solidFill>
                  <a:schemeClr val="dk1"/>
                </a:solidFill>
                <a:latin typeface="Malgun Gothic"/>
                <a:ea typeface="Malgun Gothic"/>
                <a:cs typeface="Malgun Gothic"/>
                <a:sym typeface="Malgun Gothic"/>
              </a:rPr>
              <a:t>    </a:t>
            </a:r>
            <a:r>
              <a:rPr lang="ko-KR" sz="900">
                <a:solidFill>
                  <a:schemeClr val="dk1"/>
                </a:solidFill>
                <a:latin typeface="Malgun Gothic"/>
                <a:ea typeface="Malgun Gothic"/>
                <a:cs typeface="Malgun Gothic"/>
                <a:sym typeface="Malgun Gothic"/>
              </a:rPr>
              <a:t>- </a:t>
            </a:r>
            <a:r>
              <a:rPr lang="ko-KR" sz="900">
                <a:solidFill>
                  <a:schemeClr val="dk1"/>
                </a:solidFill>
                <a:latin typeface="Calibri"/>
                <a:ea typeface="Calibri"/>
                <a:cs typeface="Calibri"/>
                <a:sym typeface="Calibri"/>
              </a:rPr>
              <a:t>온도와 일조량 </a:t>
            </a:r>
            <a:r>
              <a:rPr lang="ko-KR" sz="900">
                <a:solidFill>
                  <a:srgbClr val="000000"/>
                </a:solidFill>
                <a:latin typeface="Calibri"/>
                <a:ea typeface="Calibri"/>
                <a:cs typeface="Calibri"/>
                <a:sym typeface="Calibri"/>
              </a:rPr>
              <a:t>조절이 가능한 작물재배기를 제작 (아두이노, 라즈베리파이)</a:t>
            </a:r>
            <a:endParaRPr sz="9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2. 로지스틱 회귀모형을 통해 생육모델 수립</a:t>
            </a:r>
            <a:endParaRPr sz="1000" b="1">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900">
                <a:solidFill>
                  <a:schemeClr val="dk1"/>
                </a:solidFill>
                <a:latin typeface="Malgun Gothic"/>
                <a:ea typeface="Malgun Gothic"/>
                <a:cs typeface="Malgun Gothic"/>
                <a:sym typeface="Malgun Gothic"/>
              </a:rPr>
              <a:t>    - 생육데이터의 특징을 고려하여 길이에 대한 대수 변환과 비동질 오차항 반영</a:t>
            </a:r>
            <a:endParaRPr/>
          </a:p>
          <a:p>
            <a:pPr marL="0" marR="0" lvl="0" indent="0" algn="just" rtl="0">
              <a:lnSpc>
                <a:spcPct val="150000"/>
              </a:lnSpc>
              <a:spcBef>
                <a:spcPts val="0"/>
              </a:spcBef>
              <a:spcAft>
                <a:spcPts val="0"/>
              </a:spcAft>
              <a:buNone/>
            </a:pPr>
            <a:r>
              <a:rPr lang="ko-KR" sz="900">
                <a:solidFill>
                  <a:schemeClr val="dk1"/>
                </a:solidFill>
                <a:latin typeface="Malgun Gothic"/>
                <a:ea typeface="Malgun Gothic"/>
                <a:cs typeface="Malgun Gothic"/>
                <a:sym typeface="Malgun Gothic"/>
              </a:rPr>
              <a:t>    - 새싹채소 출하 기준에 따라 수율 함수 정의 후 생산성 비교</a:t>
            </a:r>
            <a:endParaRPr sz="9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1000" b="1">
                <a:solidFill>
                  <a:schemeClr val="dk1"/>
                </a:solidFill>
                <a:latin typeface="Malgun Gothic"/>
                <a:ea typeface="Malgun Gothic"/>
                <a:cs typeface="Malgun Gothic"/>
                <a:sym typeface="Malgun Gothic"/>
              </a:rPr>
              <a:t>3. 재배요인 효과 분석 및 최적의 재배레시피 수립</a:t>
            </a:r>
            <a:endParaRPr sz="1000" b="1">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900">
                <a:solidFill>
                  <a:schemeClr val="dk1"/>
                </a:solidFill>
                <a:latin typeface="Malgun Gothic"/>
                <a:ea typeface="Malgun Gothic"/>
                <a:cs typeface="Malgun Gothic"/>
                <a:sym typeface="Malgun Gothic"/>
              </a:rPr>
              <a:t>    - 평균길이가 생육기간의 재배조건에 따라서 교효작용이 존재하는 것을 발견</a:t>
            </a:r>
            <a:endParaRPr sz="9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900">
                <a:solidFill>
                  <a:schemeClr val="dk1"/>
                </a:solidFill>
                <a:latin typeface="Malgun Gothic"/>
                <a:ea typeface="Malgun Gothic"/>
                <a:cs typeface="Malgun Gothic"/>
                <a:sym typeface="Malgun Gothic"/>
              </a:rPr>
              <a:t>    - 왜도가 존재하여 대수 변환과 비동질 오차항을 고려하여 적합도 개선 후</a:t>
            </a:r>
            <a:endParaRPr sz="900">
              <a:solidFill>
                <a:schemeClr val="dk1"/>
              </a:solidFill>
              <a:latin typeface="Malgun Gothic"/>
              <a:ea typeface="Malgun Gothic"/>
              <a:cs typeface="Malgun Gothic"/>
              <a:sym typeface="Malgun Gothic"/>
            </a:endParaRPr>
          </a:p>
          <a:p>
            <a:pPr marL="0" marR="0" lvl="0" indent="0" algn="just" rtl="0">
              <a:lnSpc>
                <a:spcPct val="150000"/>
              </a:lnSpc>
              <a:spcBef>
                <a:spcPts val="0"/>
              </a:spcBef>
              <a:spcAft>
                <a:spcPts val="0"/>
              </a:spcAft>
              <a:buNone/>
            </a:pPr>
            <a:r>
              <a:rPr lang="ko-KR" sz="900">
                <a:solidFill>
                  <a:schemeClr val="dk1"/>
                </a:solidFill>
                <a:latin typeface="Malgun Gothic"/>
                <a:ea typeface="Malgun Gothic"/>
                <a:cs typeface="Malgun Gothic"/>
                <a:sym typeface="Malgun Gothic"/>
              </a:rPr>
              <a:t>      생육모델 수립. 생육모델의 특징을 바탕으로 재배 레시피 수립.</a:t>
            </a:r>
            <a:endParaRPr sz="900">
              <a:solidFill>
                <a:schemeClr val="dk1"/>
              </a:solidFill>
              <a:latin typeface="Malgun Gothic"/>
              <a:ea typeface="Malgun Gothic"/>
              <a:cs typeface="Malgun Gothic"/>
              <a:sym typeface="Malgun Gothic"/>
            </a:endParaRPr>
          </a:p>
        </p:txBody>
      </p:sp>
      <p:pic>
        <p:nvPicPr>
          <p:cNvPr id="204" name="Google Shape;204;p17"/>
          <p:cNvPicPr preferRelativeResize="0"/>
          <p:nvPr/>
        </p:nvPicPr>
        <p:blipFill rotWithShape="1">
          <a:blip r:embed="rId6">
            <a:alphaModFix/>
          </a:blip>
          <a:srcRect/>
          <a:stretch/>
        </p:blipFill>
        <p:spPr>
          <a:xfrm>
            <a:off x="9490891" y="1934710"/>
            <a:ext cx="6330133" cy="2390128"/>
          </a:xfrm>
          <a:prstGeom prst="rect">
            <a:avLst/>
          </a:prstGeom>
          <a:noFill/>
          <a:ln>
            <a:noFill/>
          </a:ln>
        </p:spPr>
      </p:pic>
      <p:grpSp>
        <p:nvGrpSpPr>
          <p:cNvPr id="205" name="Google Shape;205;p17"/>
          <p:cNvGrpSpPr/>
          <p:nvPr/>
        </p:nvGrpSpPr>
        <p:grpSpPr>
          <a:xfrm>
            <a:off x="9490890" y="5091916"/>
            <a:ext cx="6034859" cy="2274084"/>
            <a:chOff x="3484383" y="7819200"/>
            <a:chExt cx="3035152" cy="1128144"/>
          </a:xfrm>
        </p:grpSpPr>
        <p:pic>
          <p:nvPicPr>
            <p:cNvPr id="206" name="Google Shape;206;p17"/>
            <p:cNvPicPr preferRelativeResize="0"/>
            <p:nvPr/>
          </p:nvPicPr>
          <p:blipFill rotWithShape="1">
            <a:blip r:embed="rId7">
              <a:alphaModFix/>
            </a:blip>
            <a:srcRect/>
            <a:stretch/>
          </p:blipFill>
          <p:spPr>
            <a:xfrm>
              <a:off x="3484383" y="7835313"/>
              <a:ext cx="1507169" cy="1112031"/>
            </a:xfrm>
            <a:prstGeom prst="rect">
              <a:avLst/>
            </a:prstGeom>
            <a:noFill/>
            <a:ln>
              <a:noFill/>
            </a:ln>
          </p:spPr>
        </p:pic>
        <p:pic>
          <p:nvPicPr>
            <p:cNvPr id="207" name="Google Shape;207;p17"/>
            <p:cNvPicPr preferRelativeResize="0"/>
            <p:nvPr/>
          </p:nvPicPr>
          <p:blipFill rotWithShape="1">
            <a:blip r:embed="rId8">
              <a:alphaModFix/>
            </a:blip>
            <a:srcRect/>
            <a:stretch/>
          </p:blipFill>
          <p:spPr>
            <a:xfrm>
              <a:off x="4995217" y="7819200"/>
              <a:ext cx="1524318" cy="1105398"/>
            </a:xfrm>
            <a:prstGeom prst="rect">
              <a:avLst/>
            </a:prstGeom>
            <a:noFill/>
            <a:ln>
              <a:noFill/>
            </a:ln>
          </p:spPr>
        </p:pic>
      </p:grpSp>
      <p:sp>
        <p:nvSpPr>
          <p:cNvPr id="208" name="Google Shape;208;p17"/>
          <p:cNvSpPr txBox="1"/>
          <p:nvPr/>
        </p:nvSpPr>
        <p:spPr>
          <a:xfrm>
            <a:off x="812800" y="7432574"/>
            <a:ext cx="7812088" cy="123315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ko-KR" sz="1051" b="1">
                <a:solidFill>
                  <a:schemeClr val="dk1"/>
                </a:solidFill>
                <a:latin typeface="Calibri"/>
                <a:ea typeface="Calibri"/>
                <a:cs typeface="Calibri"/>
                <a:sym typeface="Calibri"/>
              </a:rPr>
              <a:t>프로젝트 설명</a:t>
            </a:r>
            <a:endParaRPr sz="1051" b="1">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ko-KR" sz="1000">
                <a:solidFill>
                  <a:schemeClr val="dk1"/>
                </a:solidFill>
                <a:latin typeface="Calibri"/>
                <a:ea typeface="Calibri"/>
                <a:cs typeface="Calibri"/>
                <a:sym typeface="Calibri"/>
              </a:rPr>
              <a:t>스마트팜의 구현 기술은 전세계적으로 연구개발 단계에 있으며 일반적인 작물 재배 방식은 단일 최적 조건을 기반으로 합니다. 이에, 본 프로젝트에서는 생육 시기별로 우수한 재배 조건이 다를 것이라는 새로운 접근을 시도 및 검증하였습니다. 즉 생물의 생육시기에 따라서 최적의 생육조건에 차이가 있다는 것을 발견하였습니다. 이에 망소특징과 망대특징을 복합적으로 가진 재배 레시피를 수립하게 되었습니다. 즉, 재배레시피를 사용함으로 생산성이 최대 27% 향상시킬 수 있습니다.</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948</TotalTime>
  <Words>3605</Words>
  <Application>Microsoft Office PowerPoint</Application>
  <PresentationFormat>사용자 지정</PresentationFormat>
  <Paragraphs>256</Paragraphs>
  <Slides>8</Slides>
  <Notes>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8</vt:i4>
      </vt:variant>
    </vt:vector>
  </HeadingPairs>
  <TitlesOfParts>
    <vt:vector size="13" baseType="lpstr">
      <vt:lpstr>Noto Sans Symbols</vt:lpstr>
      <vt:lpstr>Malgun Gothic</vt:lpstr>
      <vt:lpstr>Arial</vt:lpstr>
      <vt:lpstr>Calibri</vt:lpstr>
      <vt:lpstr>Office 2013 - 2022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Happy</dc:creator>
  <cp:lastModifiedBy>기정 조</cp:lastModifiedBy>
  <cp:revision>54</cp:revision>
  <dcterms:modified xsi:type="dcterms:W3CDTF">2026-08-11T06:56:01Z</dcterms:modified>
</cp:coreProperties>
</file>